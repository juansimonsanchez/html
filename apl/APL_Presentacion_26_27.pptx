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6858000" cx="12192000"/>
  <p:notesSz cx="6858000" cy="9144000"/>
  <p:embeddedFontLst>
    <p:embeddedFont>
      <p:font typeface="Lato"/>
      <p:regular r:id="rId23"/>
      <p:bold r:id="rId24"/>
      <p:italic r:id="rId25"/>
      <p:boldItalic r:id="rId26"/>
    </p:embeddedFont>
    <p:embeddedFont>
      <p:font typeface="Poppins"/>
      <p:regular r:id="rId27"/>
      <p:bold r:id="rId28"/>
      <p:italic r:id="rId29"/>
      <p:boldItalic r:id="rId30"/>
    </p:embeddedFont>
    <p:embeddedFont>
      <p:font typeface="Google Sans"/>
      <p:regular r:id="rId31"/>
      <p:bold r:id="rId32"/>
      <p:italic r:id="rId33"/>
      <p:boldItalic r:id="rId34"/>
    </p:embeddedFont>
    <p:embeddedFont>
      <p:font typeface="Poppins SemiBold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619DE4-48C2-42D2-8DEE-6CD80CDE45EE}">
  <a:tblStyle styleId="{ED619DE4-48C2-42D2-8DEE-6CD80CDE45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28" Type="http://schemas.openxmlformats.org/officeDocument/2006/relationships/font" Target="fonts/Poppins-bold.fntdata"/><Relationship Id="rId27" Type="http://schemas.openxmlformats.org/officeDocument/2006/relationships/font" Target="fonts/Poppins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GoogleSans-regular.fntdata"/><Relationship Id="rId30" Type="http://schemas.openxmlformats.org/officeDocument/2006/relationships/font" Target="fonts/Poppins-boldItalic.fntdata"/><Relationship Id="rId11" Type="http://schemas.openxmlformats.org/officeDocument/2006/relationships/slide" Target="slides/slide5.xml"/><Relationship Id="rId33" Type="http://schemas.openxmlformats.org/officeDocument/2006/relationships/font" Target="fonts/GoogleSans-italic.fntdata"/><Relationship Id="rId10" Type="http://schemas.openxmlformats.org/officeDocument/2006/relationships/slide" Target="slides/slide4.xml"/><Relationship Id="rId32" Type="http://schemas.openxmlformats.org/officeDocument/2006/relationships/font" Target="fonts/GoogleSans-bold.fntdata"/><Relationship Id="rId13" Type="http://schemas.openxmlformats.org/officeDocument/2006/relationships/slide" Target="slides/slide7.xml"/><Relationship Id="rId35" Type="http://schemas.openxmlformats.org/officeDocument/2006/relationships/font" Target="fonts/PoppinsSemiBold-regular.fntdata"/><Relationship Id="rId12" Type="http://schemas.openxmlformats.org/officeDocument/2006/relationships/slide" Target="slides/slide6.xml"/><Relationship Id="rId34" Type="http://schemas.openxmlformats.org/officeDocument/2006/relationships/font" Target="fonts/GoogleSans-boldItalic.fntdata"/><Relationship Id="rId15" Type="http://schemas.openxmlformats.org/officeDocument/2006/relationships/slide" Target="slides/slide9.xml"/><Relationship Id="rId37" Type="http://schemas.openxmlformats.org/officeDocument/2006/relationships/font" Target="fonts/PoppinsSemiBold-italic.fntdata"/><Relationship Id="rId14" Type="http://schemas.openxmlformats.org/officeDocument/2006/relationships/slide" Target="slides/slide8.xml"/><Relationship Id="rId36" Type="http://schemas.openxmlformats.org/officeDocument/2006/relationships/font" Target="fonts/PoppinsSemiBold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38" Type="http://schemas.openxmlformats.org/officeDocument/2006/relationships/font" Target="fonts/PoppinsSemiBold-bold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ac59aa477_0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eac59aa47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eac59aa477_0_6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eac59aa477_0_6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eac59aa477_0_2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eac59aa477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ac59aa477_0_48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eac59aa477_0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/>
        </p:nvSpPr>
        <p:spPr>
          <a:xfrm>
            <a:off x="1266825" y="600075"/>
            <a:ext cx="2904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IES Celia Viñas | Dpto. Informática (Almería)</a:t>
            </a:r>
            <a:endParaRPr/>
          </a:p>
        </p:txBody>
      </p:sp>
      <p:pic>
        <p:nvPicPr>
          <p:cNvPr id="13" name="Google Shape;13;p2" title="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9150" y="257800"/>
            <a:ext cx="757625" cy="100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" name="Google Shape;1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" name="Google Shape;1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/>
          <p:nvPr/>
        </p:nvSpPr>
        <p:spPr>
          <a:xfrm>
            <a:off x="581025" y="6296025"/>
            <a:ext cx="260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Aplicaciones Web </a:t>
            </a:r>
            <a:r>
              <a:rPr b="0" i="0" lang="en-US" sz="9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• Curso Académico 2026/2027</a:t>
            </a: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11245850" y="6248400"/>
            <a:ext cx="355800" cy="219000"/>
          </a:xfrm>
          <a:prstGeom prst="ellipse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buNone/>
              <a:defRPr sz="1100">
                <a:solidFill>
                  <a:schemeClr val="dk1"/>
                </a:solidFill>
              </a:defRPr>
            </a:lvl1pPr>
            <a:lvl2pPr lvl="1" algn="ctr">
              <a:buNone/>
              <a:defRPr sz="1100">
                <a:solidFill>
                  <a:schemeClr val="dk1"/>
                </a:solidFill>
              </a:defRPr>
            </a:lvl2pPr>
            <a:lvl3pPr lvl="2" algn="ctr">
              <a:buNone/>
              <a:defRPr sz="1100">
                <a:solidFill>
                  <a:schemeClr val="dk1"/>
                </a:solidFill>
              </a:defRPr>
            </a:lvl3pPr>
            <a:lvl4pPr lvl="3" algn="ctr">
              <a:buNone/>
              <a:defRPr sz="1100">
                <a:solidFill>
                  <a:schemeClr val="dk1"/>
                </a:solidFill>
              </a:defRPr>
            </a:lvl4pPr>
            <a:lvl5pPr lvl="4" algn="ctr">
              <a:buNone/>
              <a:defRPr sz="1100">
                <a:solidFill>
                  <a:schemeClr val="dk1"/>
                </a:solidFill>
              </a:defRPr>
            </a:lvl5pPr>
            <a:lvl6pPr lvl="5" algn="ctr">
              <a:buNone/>
              <a:defRPr sz="1100">
                <a:solidFill>
                  <a:schemeClr val="dk1"/>
                </a:solidFill>
              </a:defRPr>
            </a:lvl6pPr>
            <a:lvl7pPr lvl="6" algn="ctr">
              <a:buNone/>
              <a:defRPr sz="1100">
                <a:solidFill>
                  <a:schemeClr val="dk1"/>
                </a:solidFill>
              </a:defRPr>
            </a:lvl7pPr>
            <a:lvl8pPr lvl="7" algn="ctr">
              <a:buNone/>
              <a:defRPr sz="1100">
                <a:solidFill>
                  <a:schemeClr val="dk1"/>
                </a:solidFill>
              </a:defRPr>
            </a:lvl8pPr>
            <a:lvl9pPr lvl="8" algn="ctr">
              <a:buNone/>
              <a:defRPr sz="1100">
                <a:solidFill>
                  <a:schemeClr val="dk1"/>
                </a:solidFill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10" Type="http://schemas.openxmlformats.org/officeDocument/2006/relationships/image" Target="../media/image11.png"/><Relationship Id="rId9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image" Target="../media/image20.png"/><Relationship Id="rId6" Type="http://schemas.openxmlformats.org/officeDocument/2006/relationships/image" Target="../media/image24.png"/><Relationship Id="rId7" Type="http://schemas.openxmlformats.org/officeDocument/2006/relationships/image" Target="../media/image2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8.png"/><Relationship Id="rId8" Type="http://schemas.openxmlformats.org/officeDocument/2006/relationships/image" Target="../media/image2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image" Target="../media/image32.png"/><Relationship Id="rId7" Type="http://schemas.openxmlformats.org/officeDocument/2006/relationships/image" Target="../media/image29.png"/><Relationship Id="rId8" Type="http://schemas.openxmlformats.org/officeDocument/2006/relationships/image" Target="../media/image3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9.png"/><Relationship Id="rId7" Type="http://schemas.openxmlformats.org/officeDocument/2006/relationships/image" Target="../media/image4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Relationship Id="rId4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2.png"/><Relationship Id="rId4" Type="http://schemas.openxmlformats.org/officeDocument/2006/relationships/image" Target="../media/image46.png"/><Relationship Id="rId9" Type="http://schemas.openxmlformats.org/officeDocument/2006/relationships/image" Target="../media/image3.png"/><Relationship Id="rId5" Type="http://schemas.openxmlformats.org/officeDocument/2006/relationships/image" Target="../media/image41.png"/><Relationship Id="rId6" Type="http://schemas.openxmlformats.org/officeDocument/2006/relationships/image" Target="../media/image45.png"/><Relationship Id="rId7" Type="http://schemas.openxmlformats.org/officeDocument/2006/relationships/image" Target="../media/image36.png"/><Relationship Id="rId8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8" name="Google Shape;8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3817610"/>
            <a:ext cx="11049000" cy="114642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1295400" y="2087909"/>
            <a:ext cx="9601200" cy="58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Presentación de </a:t>
            </a: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Aplicaciones Web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2286000" y="2817465"/>
            <a:ext cx="762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Guía docente, secuenciación didáctica y alternancia dual del módulo profesional para el alumnado de 2º curso de Sistemas Microinformáticos y Redes.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455797" y="4065250"/>
            <a:ext cx="164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Ciclo Profesional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2º C.F.G.M. SMR</a:t>
            </a:r>
            <a:endParaRPr sz="1600"/>
          </a:p>
        </p:txBody>
      </p:sp>
      <p:sp>
        <p:nvSpPr>
          <p:cNvPr id="92" name="Google Shape;92;p13"/>
          <p:cNvSpPr txBox="1"/>
          <p:nvPr/>
        </p:nvSpPr>
        <p:spPr>
          <a:xfrm>
            <a:off x="3748042" y="4065250"/>
            <a:ext cx="164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Curso Lectivo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2026 / 2027</a:t>
            </a:r>
            <a:endParaRPr sz="1600"/>
          </a:p>
        </p:txBody>
      </p:sp>
      <p:sp>
        <p:nvSpPr>
          <p:cNvPr id="93" name="Google Shape;93;p13"/>
          <p:cNvSpPr txBox="1"/>
          <p:nvPr/>
        </p:nvSpPr>
        <p:spPr>
          <a:xfrm>
            <a:off x="5927046" y="4065250"/>
            <a:ext cx="2654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Docente Responsable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Juan Simón Sánchez Sánchez</a:t>
            </a:r>
            <a:endParaRPr sz="1600"/>
          </a:p>
        </p:txBody>
      </p:sp>
      <p:sp>
        <p:nvSpPr>
          <p:cNvPr id="94" name="Google Shape;94;p13"/>
          <p:cNvSpPr txBox="1"/>
          <p:nvPr/>
        </p:nvSpPr>
        <p:spPr>
          <a:xfrm>
            <a:off x="9291895" y="4065250"/>
            <a:ext cx="2328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Centro Educativo</a:t>
            </a:r>
            <a:r>
              <a:rPr b="0" i="0" lang="en-US" u="none" cap="none" strike="noStrike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u="none" cap="none" strike="noStrike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IES Celia Viñas (Almería)</a:t>
            </a:r>
            <a:endParaRPr sz="1600"/>
          </a:p>
        </p:txBody>
      </p:sp>
      <p:sp>
        <p:nvSpPr>
          <p:cNvPr id="95" name="Google Shape;95;p13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0" name="Google Shape;10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185224"/>
            <a:ext cx="5381625" cy="2487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83150" y="2185236"/>
            <a:ext cx="5381625" cy="2487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4095750" y="476250"/>
            <a:ext cx="807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Contextualización Normativa SMR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866775" y="2506405"/>
            <a:ext cx="503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Legislación de Aplicación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66775" y="2971805"/>
            <a:ext cx="4791000" cy="12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módulo está regulado por la Ley Orgánica 3/2022 de Formación Profesional e integrado bajo el Decreto 165/2024 de la Junta de Andalucía. Se asocia directamente a la administración y despliegue de infraestructuras web.</a:t>
            </a:r>
            <a:endParaRPr sz="1700"/>
          </a:p>
        </p:txBody>
      </p:sp>
      <p:sp>
        <p:nvSpPr>
          <p:cNvPr id="106" name="Google Shape;106;p14"/>
          <p:cNvSpPr txBox="1"/>
          <p:nvPr/>
        </p:nvSpPr>
        <p:spPr>
          <a:xfrm>
            <a:off x="6414375" y="2476293"/>
            <a:ext cx="503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Objetivos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6478450" y="2996243"/>
            <a:ext cx="4791000" cy="12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Orientado firmemente a capacitar al técnico en microinformática en la instalación de CMS, LMS, servidores LAMP/WAMP locales y ofimática en la nube. Un perfil altamente polivalente y demandado por PYMEs locales.</a:t>
            </a:r>
            <a:endParaRPr sz="1700"/>
          </a:p>
        </p:txBody>
      </p:sp>
      <p:sp>
        <p:nvSpPr>
          <p:cNvPr id="108" name="Google Shape;108;p14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96476"/>
            <a:ext cx="3492400" cy="2574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49650" y="2696476"/>
            <a:ext cx="3492550" cy="2574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7950" y="2696476"/>
            <a:ext cx="3492400" cy="2574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Marco de Carga Horaria y Sesiones</a:t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771525" y="3086992"/>
            <a:ext cx="309235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771525" y="3944242"/>
            <a:ext cx="3092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Horas Semanales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771525" y="4229992"/>
            <a:ext cx="3092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Distribuidas en sesiones prácticas intensivas de desarrollo en taller.</a:t>
            </a:r>
            <a:endParaRPr sz="1700"/>
          </a:p>
        </p:txBody>
      </p:sp>
      <p:sp>
        <p:nvSpPr>
          <p:cNvPr id="121" name="Google Shape;121;p15"/>
          <p:cNvSpPr txBox="1"/>
          <p:nvPr/>
        </p:nvSpPr>
        <p:spPr>
          <a:xfrm>
            <a:off x="4549675" y="3086992"/>
            <a:ext cx="3092499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84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4549675" y="3944242"/>
            <a:ext cx="309249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Horas Totales Centro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549675" y="4229992"/>
            <a:ext cx="30924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Concentradas estrictamente durante los trimestres 1º y 2º en el aula.</a:t>
            </a:r>
            <a:endParaRPr sz="1800"/>
          </a:p>
        </p:txBody>
      </p:sp>
      <p:sp>
        <p:nvSpPr>
          <p:cNvPr id="124" name="Google Shape;124;p15"/>
          <p:cNvSpPr txBox="1"/>
          <p:nvPr/>
        </p:nvSpPr>
        <p:spPr>
          <a:xfrm>
            <a:off x="8201675" y="3087000"/>
            <a:ext cx="32964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9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40</a:t>
            </a:r>
            <a:r>
              <a:rPr b="1" lang="en-US" sz="590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2/538</a:t>
            </a:r>
            <a:endParaRPr sz="1300"/>
          </a:p>
        </p:txBody>
      </p:sp>
      <p:sp>
        <p:nvSpPr>
          <p:cNvPr id="125" name="Google Shape;125;p15"/>
          <p:cNvSpPr txBox="1"/>
          <p:nvPr/>
        </p:nvSpPr>
        <p:spPr>
          <a:xfrm>
            <a:off x="8327975" y="3944242"/>
            <a:ext cx="3092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Horas Dual Empresa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327975" y="4229992"/>
            <a:ext cx="30924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Fase de alternancia dual completa realizada durante el tercer trimestre.</a:t>
            </a:r>
            <a:endParaRPr sz="1800"/>
          </a:p>
        </p:txBody>
      </p:sp>
      <p:sp>
        <p:nvSpPr>
          <p:cNvPr id="127" name="Google Shape;127;p15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6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33" name="Google Shape;133;p16"/>
          <p:cNvGrpSpPr/>
          <p:nvPr/>
        </p:nvGrpSpPr>
        <p:grpSpPr>
          <a:xfrm>
            <a:off x="571500" y="476250"/>
            <a:ext cx="11601450" cy="543075"/>
            <a:chOff x="571500" y="476250"/>
            <a:chExt cx="11601450" cy="543075"/>
          </a:xfrm>
        </p:grpSpPr>
        <p:sp>
          <p:nvSpPr>
            <p:cNvPr id="134" name="Google Shape;134;p16"/>
            <p:cNvSpPr txBox="1"/>
            <p:nvPr/>
          </p:nvSpPr>
          <p:spPr>
            <a:xfrm>
              <a:off x="4095750" y="476250"/>
              <a:ext cx="8077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700">
                  <a:solidFill>
                    <a:srgbClr val="0F172A"/>
                  </a:solidFill>
                  <a:latin typeface="Poppins"/>
                  <a:ea typeface="Poppins"/>
                  <a:cs typeface="Poppins"/>
                  <a:sym typeface="Poppins"/>
                </a:rPr>
                <a:t>Ponderación de Resultados de Aprendizaje</a:t>
              </a:r>
              <a:endParaRPr b="1" sz="27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35" name="Google Shape;135;p16"/>
            <p:cNvSpPr/>
            <p:nvPr/>
          </p:nvSpPr>
          <p:spPr>
            <a:xfrm>
              <a:off x="571500" y="1000125"/>
              <a:ext cx="11049000" cy="192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6" name="Google Shape;136;p16"/>
          <p:cNvSpPr/>
          <p:nvPr/>
        </p:nvSpPr>
        <p:spPr>
          <a:xfrm>
            <a:off x="571500" y="1428750"/>
            <a:ext cx="11049000" cy="3619500"/>
          </a:xfrm>
          <a:prstGeom prst="roundRect">
            <a:avLst>
              <a:gd fmla="val 315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37" name="Google Shape;137;p16"/>
          <p:cNvGraphicFramePr/>
          <p:nvPr/>
        </p:nvGraphicFramePr>
        <p:xfrm>
          <a:off x="571500" y="142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{ED619DE4-48C2-42D2-8DEE-6CD80CDE45EE}</a:tableStyleId>
              </a:tblPr>
              <a:tblGrid>
                <a:gridCol w="3683000"/>
                <a:gridCol w="3683000"/>
                <a:gridCol w="3683000"/>
              </a:tblGrid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3A8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Ref.</a:t>
                      </a:r>
                      <a:endParaRPr b="1" sz="1400">
                        <a:solidFill>
                          <a:srgbClr val="1E3A8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90500" marB="190500" marR="190500" marL="1905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3A8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Resultado de Aprendizaje (RA)</a:t>
                      </a:r>
                      <a:endParaRPr b="1" sz="1400">
                        <a:solidFill>
                          <a:srgbClr val="1E3A8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90500" marB="190500" marR="190500" marL="1905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3A8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Peso</a:t>
                      </a:r>
                      <a:endParaRPr b="1" sz="1400">
                        <a:solidFill>
                          <a:srgbClr val="1E3A8A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90500" marB="190500" marR="190500" marL="190500">
                    <a:lnB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RA1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gestores de contenidos, identificando sus aplicaciones y configurándolos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RA2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sistemas de gestión de aprendizaje a distancia (LMS)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RA3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servicios de gestión de archivos web y verifica su integridad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RA4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aplicaciones de ofimática web en entornos locales y cloud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RA5</a:t>
                      </a:r>
                      <a:endParaRPr b="1"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>
                          <a:solidFill>
                            <a:srgbClr val="1E293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Instala aplicaciones web de escritorio (Webmail, Agendas)</a:t>
                      </a:r>
                      <a:endParaRPr sz="1400">
                        <a:solidFill>
                          <a:srgbClr val="1E293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r>
                        <a:rPr b="1" lang="en-US" sz="1400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%</a:t>
                      </a:r>
                      <a:endParaRPr b="1" sz="1400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142875" marB="142875" marR="190500" marL="190500">
                    <a:lnT cap="flat" cmpd="sng" w="9525">
                      <a:solidFill>
                        <a:srgbClr val="F1F5F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43" name="Google Shape;143;p17"/>
          <p:cNvGrpSpPr/>
          <p:nvPr/>
        </p:nvGrpSpPr>
        <p:grpSpPr>
          <a:xfrm>
            <a:off x="571500" y="476250"/>
            <a:ext cx="11601450" cy="543075"/>
            <a:chOff x="571500" y="476250"/>
            <a:chExt cx="11601450" cy="543075"/>
          </a:xfrm>
        </p:grpSpPr>
        <p:sp>
          <p:nvSpPr>
            <p:cNvPr id="144" name="Google Shape;144;p17"/>
            <p:cNvSpPr txBox="1"/>
            <p:nvPr/>
          </p:nvSpPr>
          <p:spPr>
            <a:xfrm>
              <a:off x="4095750" y="476250"/>
              <a:ext cx="8077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700">
                  <a:solidFill>
                    <a:srgbClr val="0F172A"/>
                  </a:solidFill>
                  <a:latin typeface="Poppins"/>
                  <a:ea typeface="Poppins"/>
                  <a:cs typeface="Poppins"/>
                  <a:sym typeface="Poppins"/>
                </a:rPr>
                <a:t>Secuenciación de Unidades de Trabajo</a:t>
              </a:r>
              <a:endParaRPr b="1" sz="27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45" name="Google Shape;145;p17"/>
            <p:cNvSpPr/>
            <p:nvPr/>
          </p:nvSpPr>
          <p:spPr>
            <a:xfrm>
              <a:off x="571500" y="1000125"/>
              <a:ext cx="11049000" cy="192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" name="Google Shape;146;p17"/>
          <p:cNvSpPr/>
          <p:nvPr/>
        </p:nvSpPr>
        <p:spPr>
          <a:xfrm>
            <a:off x="571500" y="1428750"/>
            <a:ext cx="11049000" cy="400050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7" name="Google Shape;147;p17"/>
          <p:cNvGrpSpPr/>
          <p:nvPr/>
        </p:nvGrpSpPr>
        <p:grpSpPr>
          <a:xfrm>
            <a:off x="571500" y="1428750"/>
            <a:ext cx="11049000" cy="485850"/>
            <a:chOff x="571500" y="1428750"/>
            <a:chExt cx="11049000" cy="485850"/>
          </a:xfrm>
        </p:grpSpPr>
        <p:sp>
          <p:nvSpPr>
            <p:cNvPr id="148" name="Google Shape;148;p17"/>
            <p:cNvSpPr/>
            <p:nvPr/>
          </p:nvSpPr>
          <p:spPr>
            <a:xfrm>
              <a:off x="571500" y="1428750"/>
              <a:ext cx="11049000" cy="476400"/>
            </a:xfrm>
            <a:prstGeom prst="roundRect">
              <a:avLst>
                <a:gd fmla="val 24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571500" y="1666875"/>
              <a:ext cx="11049000" cy="2382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571500" y="1428750"/>
              <a:ext cx="571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>
                  <a:solidFill>
                    <a:srgbClr val="1E3A8A"/>
                  </a:solidFill>
                  <a:latin typeface="Poppins"/>
                  <a:ea typeface="Poppins"/>
                  <a:cs typeface="Poppins"/>
                  <a:sym typeface="Poppins"/>
                </a:rPr>
                <a:t>Unidad de Trabajo (RA Asociado)</a:t>
              </a:r>
              <a:endParaRPr b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" name="Google Shape;151;p17"/>
            <p:cNvSpPr txBox="1"/>
            <p:nvPr/>
          </p:nvSpPr>
          <p:spPr>
            <a:xfrm>
              <a:off x="6286500" y="1428750"/>
              <a:ext cx="190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>
                  <a:solidFill>
                    <a:srgbClr val="1E3A8A"/>
                  </a:solidFill>
                  <a:latin typeface="Poppins"/>
                  <a:ea typeface="Poppins"/>
                  <a:cs typeface="Poppins"/>
                  <a:sym typeface="Poppins"/>
                </a:rPr>
                <a:t>Horas</a:t>
              </a:r>
              <a:endParaRPr b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" name="Google Shape;152;p17"/>
            <p:cNvSpPr txBox="1"/>
            <p:nvPr/>
          </p:nvSpPr>
          <p:spPr>
            <a:xfrm>
              <a:off x="8191500" y="1428750"/>
              <a:ext cx="3429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>
                  <a:solidFill>
                    <a:srgbClr val="1E3A8A"/>
                  </a:solidFill>
                  <a:latin typeface="Poppins"/>
                  <a:ea typeface="Poppins"/>
                  <a:cs typeface="Poppins"/>
                  <a:sym typeface="Poppins"/>
                </a:rPr>
                <a:t>Periodo Estimado</a:t>
              </a:r>
              <a:endParaRPr b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3" name="Google Shape;153;p17"/>
            <p:cNvSpPr/>
            <p:nvPr/>
          </p:nvSpPr>
          <p:spPr>
            <a:xfrm>
              <a:off x="571500" y="1905000"/>
              <a:ext cx="11049000" cy="96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54" name="Google Shape;154;p17"/>
          <p:cNvGrpSpPr/>
          <p:nvPr/>
        </p:nvGrpSpPr>
        <p:grpSpPr>
          <a:xfrm>
            <a:off x="571500" y="1914525"/>
            <a:ext cx="11049000" cy="581100"/>
            <a:chOff x="571500" y="1914525"/>
            <a:chExt cx="11049000" cy="581100"/>
          </a:xfrm>
        </p:grpSpPr>
        <p:sp>
          <p:nvSpPr>
            <p:cNvPr id="155" name="Google Shape;155;p17"/>
            <p:cNvSpPr txBox="1"/>
            <p:nvPr/>
          </p:nvSpPr>
          <p:spPr>
            <a:xfrm>
              <a:off x="571500" y="1914525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UT1: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Introducción y entorno servidor (RA1)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6286500" y="1914525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20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7" name="Google Shape;157;p17"/>
            <p:cNvSpPr txBox="1"/>
            <p:nvPr/>
          </p:nvSpPr>
          <p:spPr>
            <a:xfrm>
              <a:off x="8191500" y="1914525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15 Sep - 15 Oct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857250" y="2486025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59" name="Google Shape;159;p17"/>
          <p:cNvGrpSpPr/>
          <p:nvPr/>
        </p:nvGrpSpPr>
        <p:grpSpPr>
          <a:xfrm>
            <a:off x="571500" y="2495550"/>
            <a:ext cx="11049000" cy="581100"/>
            <a:chOff x="571500" y="2495550"/>
            <a:chExt cx="11049000" cy="581100"/>
          </a:xfrm>
        </p:grpSpPr>
        <p:sp>
          <p:nvSpPr>
            <p:cNvPr id="160" name="Google Shape;160;p17"/>
            <p:cNvSpPr txBox="1"/>
            <p:nvPr/>
          </p:nvSpPr>
          <p:spPr>
            <a:xfrm>
              <a:off x="571500" y="2495550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UT2: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Gestores de contenidos - WordPress (RA1)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1" name="Google Shape;161;p17"/>
            <p:cNvSpPr txBox="1"/>
            <p:nvPr/>
          </p:nvSpPr>
          <p:spPr>
            <a:xfrm>
              <a:off x="6286500" y="249555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18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8191500" y="24955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16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Oct - 15 Nov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3" name="Google Shape;163;p17"/>
            <p:cNvSpPr/>
            <p:nvPr/>
          </p:nvSpPr>
          <p:spPr>
            <a:xfrm>
              <a:off x="857250" y="3067050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64" name="Google Shape;164;p17"/>
          <p:cNvGrpSpPr/>
          <p:nvPr/>
        </p:nvGrpSpPr>
        <p:grpSpPr>
          <a:xfrm>
            <a:off x="571500" y="3076575"/>
            <a:ext cx="11049000" cy="581100"/>
            <a:chOff x="571500" y="3076575"/>
            <a:chExt cx="11049000" cy="581100"/>
          </a:xfrm>
        </p:grpSpPr>
        <p:sp>
          <p:nvSpPr>
            <p:cNvPr id="165" name="Google Shape;165;p17"/>
            <p:cNvSpPr txBox="1"/>
            <p:nvPr/>
          </p:nvSpPr>
          <p:spPr>
            <a:xfrm>
              <a:off x="571500" y="3076575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UT3: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Plataformas de formación LMS (RA2)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6" name="Google Shape;166;p17"/>
            <p:cNvSpPr txBox="1"/>
            <p:nvPr/>
          </p:nvSpPr>
          <p:spPr>
            <a:xfrm>
              <a:off x="6286500" y="3076575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18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8191500" y="3076575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16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Nov - 22 Dic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68" name="Google Shape;168;p17"/>
            <p:cNvSpPr/>
            <p:nvPr/>
          </p:nvSpPr>
          <p:spPr>
            <a:xfrm>
              <a:off x="857250" y="3648075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69" name="Google Shape;169;p17"/>
          <p:cNvGrpSpPr/>
          <p:nvPr/>
        </p:nvGrpSpPr>
        <p:grpSpPr>
          <a:xfrm>
            <a:off x="571500" y="3657600"/>
            <a:ext cx="11049000" cy="581100"/>
            <a:chOff x="571500" y="3657600"/>
            <a:chExt cx="11049000" cy="581100"/>
          </a:xfrm>
        </p:grpSpPr>
        <p:sp>
          <p:nvSpPr>
            <p:cNvPr id="170" name="Google Shape;170;p17"/>
            <p:cNvSpPr txBox="1"/>
            <p:nvPr/>
          </p:nvSpPr>
          <p:spPr>
            <a:xfrm>
              <a:off x="571500" y="3657600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UT4: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Almacenamiento y archivos web (RA3)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6286500" y="365760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8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2" name="Google Shape;172;p17"/>
            <p:cNvSpPr txBox="1"/>
            <p:nvPr/>
          </p:nvSpPr>
          <p:spPr>
            <a:xfrm>
              <a:off x="8191500" y="365760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07 Ene - 31 Ene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3" name="Google Shape;173;p17"/>
            <p:cNvSpPr/>
            <p:nvPr/>
          </p:nvSpPr>
          <p:spPr>
            <a:xfrm>
              <a:off x="857250" y="4229100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74" name="Google Shape;174;p17"/>
          <p:cNvGrpSpPr/>
          <p:nvPr/>
        </p:nvGrpSpPr>
        <p:grpSpPr>
          <a:xfrm>
            <a:off x="571500" y="4238625"/>
            <a:ext cx="11049000" cy="581100"/>
            <a:chOff x="571500" y="4238625"/>
            <a:chExt cx="11049000" cy="581100"/>
          </a:xfrm>
        </p:grpSpPr>
        <p:sp>
          <p:nvSpPr>
            <p:cNvPr id="175" name="Google Shape;175;p17"/>
            <p:cNvSpPr txBox="1"/>
            <p:nvPr/>
          </p:nvSpPr>
          <p:spPr>
            <a:xfrm>
              <a:off x="571500" y="4238625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UT5: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Ofimática web y productividad (RA4)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6" name="Google Shape;176;p17"/>
            <p:cNvSpPr txBox="1"/>
            <p:nvPr/>
          </p:nvSpPr>
          <p:spPr>
            <a:xfrm>
              <a:off x="6286500" y="4238625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5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8191500" y="4238625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Feb - 15 Mar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8" name="Google Shape;178;p17"/>
            <p:cNvSpPr/>
            <p:nvPr/>
          </p:nvSpPr>
          <p:spPr>
            <a:xfrm>
              <a:off x="857250" y="4810125"/>
              <a:ext cx="10477500" cy="9600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</p:grpSp>
      <p:grpSp>
        <p:nvGrpSpPr>
          <p:cNvPr id="179" name="Google Shape;179;p17"/>
          <p:cNvGrpSpPr/>
          <p:nvPr/>
        </p:nvGrpSpPr>
        <p:grpSpPr>
          <a:xfrm>
            <a:off x="571500" y="4819650"/>
            <a:ext cx="11049000" cy="571500"/>
            <a:chOff x="571500" y="4819650"/>
            <a:chExt cx="11049000" cy="571500"/>
          </a:xfrm>
        </p:grpSpPr>
        <p:sp>
          <p:nvSpPr>
            <p:cNvPr id="180" name="Google Shape;180;p17"/>
            <p:cNvSpPr txBox="1"/>
            <p:nvPr/>
          </p:nvSpPr>
          <p:spPr>
            <a:xfrm>
              <a:off x="571500" y="4819650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857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UT6:</a:t>
              </a:r>
              <a:r>
                <a:rPr lang="en-US" sz="13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 Webmail y agendas compartidas (RA5)</a:t>
              </a:r>
              <a:endParaRPr sz="13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6286500" y="481965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5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h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82" name="Google Shape;182;p17"/>
            <p:cNvSpPr txBox="1"/>
            <p:nvPr/>
          </p:nvSpPr>
          <p:spPr>
            <a:xfrm>
              <a:off x="8191500" y="48196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16</a:t>
              </a:r>
              <a:r>
                <a:rPr lang="en-US" sz="1350">
                  <a:solidFill>
                    <a:srgbClr val="64748B"/>
                  </a:solidFill>
                  <a:latin typeface="Lato"/>
                  <a:ea typeface="Lato"/>
                  <a:cs typeface="Lato"/>
                  <a:sym typeface="Lato"/>
                </a:rPr>
                <a:t> Feb - 28 Feb</a:t>
              </a:r>
              <a:endParaRPr sz="135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pic>
        <p:nvPicPr>
          <p:cNvPr id="183" name="Google Shape;183;p17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9" name="Google Shape;189;p18"/>
          <p:cNvGrpSpPr/>
          <p:nvPr/>
        </p:nvGrpSpPr>
        <p:grpSpPr>
          <a:xfrm>
            <a:off x="571500" y="476250"/>
            <a:ext cx="11601450" cy="543075"/>
            <a:chOff x="571500" y="476250"/>
            <a:chExt cx="11601450" cy="543075"/>
          </a:xfrm>
        </p:grpSpPr>
        <p:sp>
          <p:nvSpPr>
            <p:cNvPr id="190" name="Google Shape;190;p18"/>
            <p:cNvSpPr txBox="1"/>
            <p:nvPr/>
          </p:nvSpPr>
          <p:spPr>
            <a:xfrm>
              <a:off x="4095750" y="476250"/>
              <a:ext cx="8077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Font typeface="Arial"/>
                <a:buNone/>
              </a:pPr>
              <a:r>
                <a:rPr lang="en-US" sz="2850">
                  <a:solidFill>
                    <a:srgbClr val="0F172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Estrategia de Calificación e </a:t>
              </a:r>
              <a:r>
                <a:rPr lang="en-US" sz="285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Instrumentos</a:t>
              </a:r>
              <a:endParaRPr b="1" sz="27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91" name="Google Shape;191;p18"/>
            <p:cNvSpPr/>
            <p:nvPr/>
          </p:nvSpPr>
          <p:spPr>
            <a:xfrm>
              <a:off x="571500" y="1000125"/>
              <a:ext cx="11049000" cy="192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92" name="Google Shape;192;p18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505075"/>
            <a:ext cx="3517850" cy="2762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37000" y="2505075"/>
            <a:ext cx="3517850" cy="2762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92975" y="2505075"/>
            <a:ext cx="351785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8"/>
          <p:cNvSpPr txBox="1"/>
          <p:nvPr/>
        </p:nvSpPr>
        <p:spPr>
          <a:xfrm>
            <a:off x="828675" y="3295650"/>
            <a:ext cx="3173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Pruebas </a:t>
            </a:r>
            <a:r>
              <a:rPr lang="en-US" sz="16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teórico/prácticas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828675" y="3638550"/>
            <a:ext cx="3022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60%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828675" y="4133850"/>
            <a:ext cx="30225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Controles </a:t>
            </a:r>
            <a:r>
              <a:rPr lang="en-US" sz="14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 actividades</a:t>
            </a:r>
            <a:r>
              <a:rPr b="0" i="0" lang="en-US" sz="14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individuales realizados directamente en los equipos del taller.</a:t>
            </a:r>
            <a:endParaRPr sz="1500"/>
          </a:p>
        </p:txBody>
      </p:sp>
      <p:sp>
        <p:nvSpPr>
          <p:cNvPr id="199" name="Google Shape;199;p18"/>
          <p:cNvSpPr txBox="1"/>
          <p:nvPr/>
        </p:nvSpPr>
        <p:spPr>
          <a:xfrm>
            <a:off x="4584650" y="3295650"/>
            <a:ext cx="3173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Tareas en Moodle</a:t>
            </a: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4584650" y="3638550"/>
            <a:ext cx="3022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59669"/>
                </a:solidFill>
                <a:latin typeface="Lato"/>
                <a:ea typeface="Lato"/>
                <a:cs typeface="Lato"/>
                <a:sym typeface="Lato"/>
              </a:rPr>
              <a:t>30%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4584650" y="4133850"/>
            <a:ext cx="30225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Actividades </a:t>
            </a: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obligatori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 entregadas 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en la plataforma, en tiempo y forma</a:t>
            </a:r>
            <a:endParaRPr sz="1600"/>
          </a:p>
        </p:txBody>
      </p:sp>
      <p:sp>
        <p:nvSpPr>
          <p:cNvPr id="202" name="Google Shape;202;p18"/>
          <p:cNvSpPr txBox="1"/>
          <p:nvPr/>
        </p:nvSpPr>
        <p:spPr>
          <a:xfrm>
            <a:off x="8340625" y="3295650"/>
            <a:ext cx="3173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Foros y Actitud</a:t>
            </a:r>
            <a:endParaRPr/>
          </a:p>
        </p:txBody>
      </p:sp>
      <p:sp>
        <p:nvSpPr>
          <p:cNvPr id="203" name="Google Shape;203;p18"/>
          <p:cNvSpPr txBox="1"/>
          <p:nvPr/>
        </p:nvSpPr>
        <p:spPr>
          <a:xfrm>
            <a:off x="8340625" y="3638550"/>
            <a:ext cx="3022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10%</a:t>
            </a:r>
            <a:endParaRPr/>
          </a:p>
        </p:txBody>
      </p:sp>
      <p:sp>
        <p:nvSpPr>
          <p:cNvPr id="204" name="Google Shape;204;p18"/>
          <p:cNvSpPr txBox="1"/>
          <p:nvPr/>
        </p:nvSpPr>
        <p:spPr>
          <a:xfrm>
            <a:off x="8340625" y="4133850"/>
            <a:ext cx="30225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Participación, 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trabajo de forma </a:t>
            </a:r>
            <a:r>
              <a:rPr b="0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colaborativa </a:t>
            </a:r>
            <a:r>
              <a:rPr lang="en-US" sz="15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 ejercicios prácticos de clase.</a:t>
            </a:r>
            <a:endParaRPr sz="1600"/>
          </a:p>
        </p:txBody>
      </p:sp>
      <p:pic>
        <p:nvPicPr>
          <p:cNvPr descr="image.png" id="205" name="Google Shape;205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867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84650" y="2771775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34062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9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13" name="Google Shape;213;p19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4" name="Google Shape;214;p19"/>
          <p:cNvGrpSpPr/>
          <p:nvPr/>
        </p:nvGrpSpPr>
        <p:grpSpPr>
          <a:xfrm>
            <a:off x="581025" y="1714500"/>
            <a:ext cx="5705246" cy="2095425"/>
            <a:chOff x="0" y="0"/>
            <a:chExt cx="5334000" cy="2095425"/>
          </a:xfrm>
        </p:grpSpPr>
        <p:sp>
          <p:nvSpPr>
            <p:cNvPr id="215" name="Google Shape;215;p19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19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Calificación Trimestral (1ºT / 2ºT)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17" name="Google Shape;217;p19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Media ponderada de los Resultados de Aprendizaje (RA) impartidos en el periodo según los instrumentos.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18" name="Google Shape;218;p19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19"/>
            <p:cNvSpPr txBox="1"/>
            <p:nvPr/>
          </p:nvSpPr>
          <p:spPr>
            <a:xfrm>
              <a:off x="78225" y="1190625"/>
              <a:ext cx="5154000" cy="9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i="1" lang="en-US" sz="13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( (Nota RA1 x 40) + (Nota RA2 x 10) ) / 50</a:t>
              </a:r>
              <a:endParaRPr i="1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  <a:p>
              <a:pPr indent="0" lvl="0" marL="0" rtl="0" algn="ctr">
                <a:lnSpc>
                  <a:spcPct val="115000"/>
                </a:lnSpc>
                <a:spcBef>
                  <a:spcPts val="1000"/>
                </a:spcBef>
                <a:spcAft>
                  <a:spcPts val="100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i="1" lang="en-US" sz="10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 </a:t>
              </a:r>
              <a:r>
                <a:rPr i="1" lang="en-US" sz="10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(</a:t>
              </a:r>
              <a:r>
                <a:rPr i="1" lang="en-US" sz="13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 (Nota RA2 x 15) + (Nota RA3 x 15) + (Nota RA4 x 10) + (Nota RA x 10) ) / 50</a:t>
              </a:r>
              <a:endParaRPr i="1" sz="16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</p:txBody>
        </p:sp>
      </p:grpSp>
      <p:grpSp>
        <p:nvGrpSpPr>
          <p:cNvPr id="220" name="Google Shape;220;p19"/>
          <p:cNvGrpSpPr/>
          <p:nvPr/>
        </p:nvGrpSpPr>
        <p:grpSpPr>
          <a:xfrm>
            <a:off x="6286500" y="1714500"/>
            <a:ext cx="5334000" cy="1905000"/>
            <a:chOff x="0" y="0"/>
            <a:chExt cx="5334000" cy="1905000"/>
          </a:xfrm>
        </p:grpSpPr>
        <p:sp>
          <p:nvSpPr>
            <p:cNvPr id="221" name="Google Shape;221;p19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9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</a:t>
              </a:r>
              <a:r>
                <a:rPr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Primera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23" name="Google Shape;223;p19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Integración de la formación en centro con el 20% de la valoración Dual en los RAs seleccionados (RA5).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24" name="Google Shape;224;p19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ECFDF5"/>
            </a:solidFill>
            <a:ln cap="flat" cmpd="sng" w="9525">
              <a:solidFill>
                <a:srgbClr val="10B98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238125" y="1190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Final_Ord = Σ (RA_Centro × 0.8 + Dual × 0.2)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581025" y="3810000"/>
            <a:ext cx="11039400" cy="2095500"/>
            <a:chOff x="0" y="0"/>
            <a:chExt cx="11039400" cy="2095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11039400" cy="2095500"/>
            </a:xfrm>
            <a:prstGeom prst="roundRect">
              <a:avLst>
                <a:gd fmla="val 5454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19"/>
            <p:cNvSpPr txBox="1"/>
            <p:nvPr/>
          </p:nvSpPr>
          <p:spPr>
            <a:xfrm>
              <a:off x="238125" y="190500"/>
              <a:ext cx="10477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Segunda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29" name="Google Shape;229;p19"/>
            <p:cNvSpPr txBox="1"/>
            <p:nvPr/>
          </p:nvSpPr>
          <p:spPr>
            <a:xfrm>
              <a:off x="238125" y="571500"/>
              <a:ext cx="5143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Para el alumnado con RAs suspensos (&lt; 5) o pérdida de evaluación continua.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1. Prueba global de RAs suspensos.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2. Entrega y defensa de prácticas Moodle.</a:t>
              </a:r>
              <a:endParaRPr b="0" sz="13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30" name="Google Shape;230;p19"/>
            <p:cNvSpPr/>
            <p:nvPr/>
          </p:nvSpPr>
          <p:spPr>
            <a:xfrm>
              <a:off x="5619750" y="666750"/>
              <a:ext cx="5143500" cy="1143000"/>
            </a:xfrm>
            <a:prstGeom prst="roundRect">
              <a:avLst>
                <a:gd fmla="val 5000" name="adj"/>
              </a:avLst>
            </a:prstGeom>
            <a:solidFill>
              <a:srgbClr val="FFF7ED"/>
            </a:solidFill>
            <a:ln cap="flat" cmpd="sng" w="9525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19"/>
            <p:cNvSpPr txBox="1"/>
            <p:nvPr/>
          </p:nvSpPr>
          <p:spPr>
            <a:xfrm>
              <a:off x="5619750" y="666750"/>
              <a:ext cx="5143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-US" sz="1300">
                  <a:solidFill>
                    <a:srgbClr val="1F1F1F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RA1 x 0.4 + RA2 x 0.25 + RA3 x 0.15 + RA4 x 0.1 + RA5 x 0.1</a:t>
              </a:r>
              <a:endParaRPr b="1" sz="17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32" name="Google Shape;232;p19"/>
          <p:cNvSpPr txBox="1"/>
          <p:nvPr/>
        </p:nvSpPr>
        <p:spPr>
          <a:xfrm>
            <a:off x="4137000" y="509588"/>
            <a:ext cx="7483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Calificaciones y </a:t>
            </a:r>
            <a:r>
              <a:rPr b="0" lang="en-US" sz="2850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Fórmulas Finales</a:t>
            </a:r>
            <a:endParaRPr b="0" sz="2850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"/>
          <p:cNvSpPr txBox="1"/>
          <p:nvPr/>
        </p:nvSpPr>
        <p:spPr>
          <a:xfrm>
            <a:off x="4116925" y="476250"/>
            <a:ext cx="8055900" cy="8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8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Requisitos para Superar el </a:t>
            </a:r>
            <a:r>
              <a:rPr lang="en-US" sz="2850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Módulo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571500" y="1001910"/>
            <a:ext cx="110490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40" name="Google Shape;240;p20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0"/>
          <p:cNvSpPr txBox="1"/>
          <p:nvPr/>
        </p:nvSpPr>
        <p:spPr>
          <a:xfrm>
            <a:off x="914400" y="2571750"/>
            <a:ext cx="10696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Nota Mínima por Bloque: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 requiere obtener obligatoriamente una calificación </a:t>
            </a: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&gt;= 5.0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tanto en las pruebas como en las prácticas de Moodle.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914400" y="3228975"/>
            <a:ext cx="10696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Recuperaciones Parciales: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Mientras no se pierda la evaluación continua, después de cada trimestre y antes del periódo DUAL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914400" y="3886200"/>
            <a:ext cx="106965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Pérdida de Evaluación Continua: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Superar el </a:t>
            </a: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15% de faltas sin justificar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(1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horas lectivas) invalida el derecho a entregas y obliga a realizar una prueba global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las evaluación finales.</a:t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914400" y="4757725"/>
            <a:ext cx="106965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Suficiencia (Final Segunda):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caso de suspenso, se irá a examen global defendiendo de manera oral ante el profesorado todas las prácticas 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establecidas por el profesor</a:t>
            </a:r>
            <a:r>
              <a:rPr b="0" i="0" lang="en-US" sz="13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pic>
        <p:nvPicPr>
          <p:cNvPr descr="image.png" id="245" name="Google Shape;24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" y="260508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" y="326231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" y="391953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8" name="Google Shape;248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" y="4757737"/>
            <a:ext cx="1714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29800"/>
            <a:ext cx="3524250" cy="3074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3875" y="2629802"/>
            <a:ext cx="3524250" cy="3074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2629802"/>
            <a:ext cx="3524250" cy="307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1"/>
          <p:cNvSpPr txBox="1"/>
          <p:nvPr/>
        </p:nvSpPr>
        <p:spPr>
          <a:xfrm>
            <a:off x="4095750" y="476250"/>
            <a:ext cx="807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Unidad 1 y 2: Entorno y Gestores</a:t>
            </a:r>
            <a:endParaRPr/>
          </a:p>
        </p:txBody>
      </p:sp>
      <p:sp>
        <p:nvSpPr>
          <p:cNvPr id="257" name="Google Shape;257;p21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86677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Arquitectura Servidor</a:t>
            </a:r>
            <a:endParaRPr/>
          </a:p>
        </p:txBody>
      </p:sp>
      <p:sp>
        <p:nvSpPr>
          <p:cNvPr id="259" name="Google Shape;259;p21"/>
          <p:cNvSpPr txBox="1"/>
          <p:nvPr/>
        </p:nvSpPr>
        <p:spPr>
          <a:xfrm>
            <a:off x="866775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Instalación y configuración inicial de servicios Apache, bases de datos MariaDB y entorno de ejecución PHP sobre sistemas Windows/Linux de manera local.</a:t>
            </a:r>
            <a:endParaRPr sz="1600"/>
          </a:p>
        </p:txBody>
      </p:sp>
      <p:sp>
        <p:nvSpPr>
          <p:cNvPr id="260" name="Google Shape;260;p21"/>
          <p:cNvSpPr txBox="1"/>
          <p:nvPr/>
        </p:nvSpPr>
        <p:spPr>
          <a:xfrm>
            <a:off x="4629150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Maquetación Web</a:t>
            </a:r>
            <a:endParaRPr/>
          </a:p>
        </p:txBody>
      </p:sp>
      <p:sp>
        <p:nvSpPr>
          <p:cNvPr id="261" name="Google Shape;261;p21"/>
          <p:cNvSpPr txBox="1"/>
          <p:nvPr/>
        </p:nvSpPr>
        <p:spPr>
          <a:xfrm>
            <a:off x="4629150" y="3915667"/>
            <a:ext cx="2933700" cy="14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Comprensión del lenguaje de marcas estructurado HTML5 y hojas de estilo CSS3 para personalizar temas, widgets y cabeceras dentro de los entornos corporativos.</a:t>
            </a:r>
            <a:endParaRPr sz="1700"/>
          </a:p>
        </p:txBody>
      </p:sp>
      <p:sp>
        <p:nvSpPr>
          <p:cNvPr id="262" name="Google Shape;262;p21"/>
          <p:cNvSpPr txBox="1"/>
          <p:nvPr/>
        </p:nvSpPr>
        <p:spPr>
          <a:xfrm>
            <a:off x="839152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Gestión de Contenidos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8391525" y="3915667"/>
            <a:ext cx="2933700" cy="13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Despliegue ágil de WordPress: creación de entradas, estructuración de menús, gestión de permisos para editores e instalación y securización de plugins esenciales.</a:t>
            </a:r>
            <a:endParaRPr sz="1600"/>
          </a:p>
        </p:txBody>
      </p:sp>
      <p:pic>
        <p:nvPicPr>
          <p:cNvPr descr="image.png" id="264" name="Google Shape;264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97269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29150" y="2972692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91525" y="2972692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1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29801"/>
            <a:ext cx="3524250" cy="269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3875" y="2629801"/>
            <a:ext cx="3524250" cy="269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2629801"/>
            <a:ext cx="3524250" cy="26973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2"/>
          <p:cNvSpPr txBox="1"/>
          <p:nvPr/>
        </p:nvSpPr>
        <p:spPr>
          <a:xfrm>
            <a:off x="4095750" y="476250"/>
            <a:ext cx="8077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Unidad 3 y 4: Nube, LMS y Ofimática</a:t>
            </a:r>
            <a:endParaRPr/>
          </a:p>
        </p:txBody>
      </p:sp>
      <p:sp>
        <p:nvSpPr>
          <p:cNvPr id="276" name="Google Shape;276;p22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 txBox="1"/>
          <p:nvPr/>
        </p:nvSpPr>
        <p:spPr>
          <a:xfrm>
            <a:off x="86677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Sistemas E-Learning</a:t>
            </a:r>
            <a:endParaRPr/>
          </a:p>
        </p:txBody>
      </p:sp>
      <p:sp>
        <p:nvSpPr>
          <p:cNvPr id="278" name="Google Shape;278;p22"/>
          <p:cNvSpPr txBox="1"/>
          <p:nvPr/>
        </p:nvSpPr>
        <p:spPr>
          <a:xfrm>
            <a:off x="866775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Implantación guiada de Moodle. Matriculación de alumnos, asignación de roles técnicos, backup de cursos y configuración de calificaciones.</a:t>
            </a:r>
            <a:endParaRPr sz="1600"/>
          </a:p>
        </p:txBody>
      </p:sp>
      <p:sp>
        <p:nvSpPr>
          <p:cNvPr id="279" name="Google Shape;279;p22"/>
          <p:cNvSpPr txBox="1"/>
          <p:nvPr/>
        </p:nvSpPr>
        <p:spPr>
          <a:xfrm>
            <a:off x="4629150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Archivos en la Nube</a:t>
            </a:r>
            <a:endParaRPr/>
          </a:p>
        </p:txBody>
      </p:sp>
      <p:sp>
        <p:nvSpPr>
          <p:cNvPr id="280" name="Google Shape;280;p22"/>
          <p:cNvSpPr txBox="1"/>
          <p:nvPr/>
        </p:nvSpPr>
        <p:spPr>
          <a:xfrm>
            <a:off x="4629150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Despliegue autónomo de Nextcloud. Administración del almacenamiento, asignación de cuotas estrictas a usuarios y compartición segura de recursos.</a:t>
            </a:r>
            <a:endParaRPr sz="1600"/>
          </a:p>
        </p:txBody>
      </p:sp>
      <p:sp>
        <p:nvSpPr>
          <p:cNvPr id="281" name="Google Shape;281;p22"/>
          <p:cNvSpPr txBox="1"/>
          <p:nvPr/>
        </p:nvSpPr>
        <p:spPr>
          <a:xfrm>
            <a:off x="8391525" y="3534667"/>
            <a:ext cx="308038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Ofimática Colaborativa</a:t>
            </a:r>
            <a:endParaRPr/>
          </a:p>
        </p:txBody>
      </p:sp>
      <p:sp>
        <p:nvSpPr>
          <p:cNvPr id="282" name="Google Shape;282;p22"/>
          <p:cNvSpPr txBox="1"/>
          <p:nvPr/>
        </p:nvSpPr>
        <p:spPr>
          <a:xfrm>
            <a:off x="8391525" y="3915667"/>
            <a:ext cx="2933700" cy="10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Integración y uso productivo de suites ofimáticas integradas en la nube (Google Workspace / Microsoft 365) analizando sus ventajas de productividad.</a:t>
            </a:r>
            <a:endParaRPr sz="1600"/>
          </a:p>
        </p:txBody>
      </p:sp>
      <p:pic>
        <p:nvPicPr>
          <p:cNvPr descr="image.png" id="283" name="Google Shape;283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972692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29150" y="2972692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91525" y="2972692"/>
            <a:ext cx="2571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2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1" name="Google Shape;29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259085"/>
            <a:ext cx="11049000" cy="5122664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3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Estrategia de Evaluación del Módulo</a:t>
            </a:r>
            <a:endParaRPr/>
          </a:p>
        </p:txBody>
      </p:sp>
      <p:sp>
        <p:nvSpPr>
          <p:cNvPr id="293" name="Google Shape;293;p23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 txBox="1"/>
          <p:nvPr/>
        </p:nvSpPr>
        <p:spPr>
          <a:xfrm>
            <a:off x="571500" y="4525267"/>
            <a:ext cx="1104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El calificador oficial de Moodle Centros está parametrizado por criterios de evaluación específicos para un seguimiento transparente y continuo.</a:t>
            </a:r>
            <a:endParaRPr sz="1700"/>
          </a:p>
        </p:txBody>
      </p:sp>
      <p:sp>
        <p:nvSpPr>
          <p:cNvPr id="295" name="Google Shape;295;p23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0" name="Google Shape;30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620267"/>
            <a:ext cx="11049000" cy="704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1" name="Google Shape;30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3467992"/>
            <a:ext cx="11049000" cy="704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2" name="Google Shape;30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315717"/>
            <a:ext cx="11049000" cy="7048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4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Requisitos para Superar el Módulo</a:t>
            </a:r>
            <a:endParaRPr/>
          </a:p>
        </p:txBody>
      </p:sp>
      <p:sp>
        <p:nvSpPr>
          <p:cNvPr id="304" name="Google Shape;304;p24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5" name="Google Shape;305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2829817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4"/>
          <p:cNvSpPr txBox="1"/>
          <p:nvPr/>
        </p:nvSpPr>
        <p:spPr>
          <a:xfrm>
            <a:off x="1104900" y="2772675"/>
            <a:ext cx="2546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Nota Mínima Exigida (&gt;= 5.0):</a:t>
            </a:r>
            <a:endParaRPr/>
          </a:p>
        </p:txBody>
      </p:sp>
      <p:sp>
        <p:nvSpPr>
          <p:cNvPr id="307" name="Google Shape;307;p24"/>
          <p:cNvSpPr txBox="1"/>
          <p:nvPr/>
        </p:nvSpPr>
        <p:spPr>
          <a:xfrm>
            <a:off x="1104900" y="2972700"/>
            <a:ext cx="10239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 indispensable obtener una calificación igual o superior a 5.0 de forma independiente tanto en las pruebas de control como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práctic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s.</a:t>
            </a:r>
            <a:endParaRPr sz="1600"/>
          </a:p>
        </p:txBody>
      </p:sp>
      <p:pic>
        <p:nvPicPr>
          <p:cNvPr descr="image.png" id="308" name="Google Shape;308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77542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4"/>
          <p:cNvSpPr txBox="1"/>
          <p:nvPr/>
        </p:nvSpPr>
        <p:spPr>
          <a:xfrm>
            <a:off x="1104900" y="3620400"/>
            <a:ext cx="2715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Control de Asistencia Riguroso:</a:t>
            </a:r>
            <a:endParaRPr/>
          </a:p>
        </p:txBody>
      </p:sp>
      <p:sp>
        <p:nvSpPr>
          <p:cNvPr id="310" name="Google Shape;310;p24"/>
          <p:cNvSpPr txBox="1"/>
          <p:nvPr/>
        </p:nvSpPr>
        <p:spPr>
          <a:xfrm>
            <a:off x="1104900" y="3820425"/>
            <a:ext cx="10029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La superación del 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20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% de faltas de asistencia (1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7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horas lectivas) conlleva la pérdida del derecho a la evaluación continua en el centro educativo.</a:t>
            </a:r>
            <a:endParaRPr sz="1600"/>
          </a:p>
        </p:txBody>
      </p:sp>
      <p:pic>
        <p:nvPicPr>
          <p:cNvPr descr="image.png" id="311" name="Google Shape;311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525267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4"/>
          <p:cNvSpPr txBox="1"/>
          <p:nvPr/>
        </p:nvSpPr>
        <p:spPr>
          <a:xfrm>
            <a:off x="1104900" y="4468125"/>
            <a:ext cx="3096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Convocatoria Extraordinaria (Junio):</a:t>
            </a:r>
            <a:endParaRPr/>
          </a:p>
        </p:txBody>
      </p:sp>
      <p:sp>
        <p:nvSpPr>
          <p:cNvPr id="313" name="Google Shape;313;p24"/>
          <p:cNvSpPr txBox="1"/>
          <p:nvPr/>
        </p:nvSpPr>
        <p:spPr>
          <a:xfrm>
            <a:off x="1104900" y="4668150"/>
            <a:ext cx="10155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recuperaran los RA no superados. 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Ante la pérdida de evaluaci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ón 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continua, se irá a prueba global de los </a:t>
            </a:r>
            <a:r>
              <a:rPr lang="en-US" sz="12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RA </a:t>
            </a:r>
            <a:r>
              <a:rPr b="0" i="0" lang="en-US" sz="12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y defensa oral de las tareas pendientes.</a:t>
            </a:r>
            <a:endParaRPr sz="1600"/>
          </a:p>
        </p:txBody>
      </p:sp>
      <p:sp>
        <p:nvSpPr>
          <p:cNvPr id="314" name="Google Shape;314;p24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296417"/>
            <a:ext cx="30480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5"/>
          <p:cNvSpPr txBox="1"/>
          <p:nvPr/>
        </p:nvSpPr>
        <p:spPr>
          <a:xfrm>
            <a:off x="4106325" y="476250"/>
            <a:ext cx="806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Estancia de Alternancia Dual (3º Trimestre)</a:t>
            </a:r>
            <a:endParaRPr/>
          </a:p>
        </p:txBody>
      </p:sp>
      <p:sp>
        <p:nvSpPr>
          <p:cNvPr id="321" name="Google Shape;321;p25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22" name="Google Shape;322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" y="2334517"/>
            <a:ext cx="297180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5"/>
          <p:cNvSpPr txBox="1"/>
          <p:nvPr/>
        </p:nvSpPr>
        <p:spPr>
          <a:xfrm>
            <a:off x="4286175" y="1808729"/>
            <a:ext cx="7701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Fase de Formación Dual en Empresa</a:t>
            </a:r>
            <a:endParaRPr/>
          </a:p>
        </p:txBody>
      </p:sp>
      <p:sp>
        <p:nvSpPr>
          <p:cNvPr id="324" name="Google Shape;324;p25"/>
          <p:cNvSpPr txBox="1"/>
          <p:nvPr/>
        </p:nvSpPr>
        <p:spPr>
          <a:xfrm>
            <a:off x="4286250" y="2296429"/>
            <a:ext cx="7334400" cy="5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alumnado completará su formación en las empresas colaboradoras del sector TIC de la provincia de Almería durante el tercer trimestre de las enseñanzas.</a:t>
            </a:r>
            <a:endParaRPr sz="1600"/>
          </a:p>
        </p:txBody>
      </p:sp>
      <p:sp>
        <p:nvSpPr>
          <p:cNvPr id="325" name="Google Shape;325;p25"/>
          <p:cNvSpPr txBox="1"/>
          <p:nvPr/>
        </p:nvSpPr>
        <p:spPr>
          <a:xfrm>
            <a:off x="4286175" y="3067315"/>
            <a:ext cx="73344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ha seleccionado </a:t>
            </a:r>
            <a:r>
              <a:rPr lang="en-US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para la evaluación e integración con la calificación final en un 20%.</a:t>
            </a:r>
            <a:r>
              <a:rPr lang="en-US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endParaRPr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RA1 - Criterio de Evaluación j):</a:t>
            </a:r>
            <a:r>
              <a:rPr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i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Se han realizado copias de seguridad de los contenidos del gestor.</a:t>
            </a:r>
            <a:endParaRPr i="1" sz="1300">
              <a:solidFill>
                <a:srgbClr val="1F1F1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RA2 - Criterio de Evaluación f):</a:t>
            </a:r>
            <a:r>
              <a:rPr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i="1" lang="en-US" sz="1300">
                <a:solidFill>
                  <a:srgbClr val="1F1F1F"/>
                </a:solidFill>
                <a:latin typeface="Google Sans"/>
                <a:ea typeface="Google Sans"/>
                <a:cs typeface="Google Sans"/>
                <a:sym typeface="Google Sans"/>
              </a:rPr>
              <a:t>Se han importado y exportado contenidos en distintos formatos.</a:t>
            </a:r>
            <a:endParaRPr i="1" sz="1300">
              <a:solidFill>
                <a:srgbClr val="1F1F1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26" name="Google Shape;326;p25"/>
          <p:cNvSpPr txBox="1"/>
          <p:nvPr/>
        </p:nvSpPr>
        <p:spPr>
          <a:xfrm>
            <a:off x="4286175" y="4298814"/>
            <a:ext cx="7334400" cy="5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asume el control estricto de asistencia y se requiere excelente actitud y compromiso profesional diario.</a:t>
            </a:r>
            <a:endParaRPr sz="1600"/>
          </a:p>
        </p:txBody>
      </p:sp>
      <p:sp>
        <p:nvSpPr>
          <p:cNvPr id="327" name="Google Shape;327;p25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6"/>
          <p:cNvSpPr txBox="1"/>
          <p:nvPr/>
        </p:nvSpPr>
        <p:spPr>
          <a:xfrm>
            <a:off x="4122425" y="476250"/>
            <a:ext cx="8050500" cy="8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636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Normas en el </a:t>
            </a:r>
            <a:r>
              <a:rPr lang="en-US" sz="2636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aula</a:t>
            </a:r>
            <a:endParaRPr sz="2636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3" name="Google Shape;333;p26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6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35" name="Google Shape;335;p26"/>
          <p:cNvGrpSpPr/>
          <p:nvPr/>
        </p:nvGrpSpPr>
        <p:grpSpPr>
          <a:xfrm>
            <a:off x="581025" y="1714500"/>
            <a:ext cx="11030100" cy="3333900"/>
            <a:chOff x="581025" y="1714500"/>
            <a:chExt cx="11030100" cy="3333900"/>
          </a:xfrm>
        </p:grpSpPr>
        <p:sp>
          <p:nvSpPr>
            <p:cNvPr id="336" name="Google Shape;336;p26"/>
            <p:cNvSpPr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26"/>
            <p:cNvSpPr txBox="1"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-3429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Puestos fijos: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Mantener siempre el mismo lugar asignado.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responsable: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Cuidar el equipamiento y los recursos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Incidencias: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Avisar inmediatamente de cualquier fallo o anomalía.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Copias de seguridad: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Responsabilidad del alumno sobre sus máquinas virtuales.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portátiles: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Permitido únicamente para fines académicos bajo supervisión.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móviles: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b="1" lang="en-US" sz="1800">
                  <a:solidFill>
                    <a:srgbClr val="DC2626"/>
                  </a:solidFill>
                  <a:latin typeface="Poppins"/>
                  <a:ea typeface="Poppins"/>
                  <a:cs typeface="Poppins"/>
                  <a:sym typeface="Poppins"/>
                </a:rPr>
                <a:t>PROHIBIDO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durante toda la sesión lectiva.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Entrada / Salida: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Respetar los turnos y el orden al entrar o salir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pic>
        <p:nvPicPr>
          <p:cNvPr descr="utiliza iconos en la lista" id="338" name="Google Shape;338;p26"/>
          <p:cNvPicPr preferRelativeResize="0"/>
          <p:nvPr/>
        </p:nvPicPr>
        <p:blipFill rotWithShape="1">
          <a:blip r:embed="rId3">
            <a:alphaModFix/>
          </a:blip>
          <a:srcRect b="21559" l="2065" r="92103" t="25196"/>
          <a:stretch/>
        </p:blipFill>
        <p:spPr>
          <a:xfrm>
            <a:off x="314625" y="1816050"/>
            <a:ext cx="592000" cy="3016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7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Filosofía de Trabajo del Módulo</a:t>
            </a:r>
            <a:endParaRPr/>
          </a:p>
        </p:txBody>
      </p:sp>
      <p:sp>
        <p:nvSpPr>
          <p:cNvPr id="344" name="Google Shape;344;p27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7"/>
          <p:cNvSpPr txBox="1"/>
          <p:nvPr/>
        </p:nvSpPr>
        <p:spPr>
          <a:xfrm>
            <a:off x="1809750" y="2676525"/>
            <a:ext cx="8572500" cy="19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La informática no se aprende memorizando comandos o viendo capturas; se aprende instalando los servicios, configurando sus parámetros, analizando los logs de error y resolviendo los fallos por uno mismo.</a:t>
            </a:r>
            <a:endParaRPr/>
          </a:p>
        </p:txBody>
      </p:sp>
      <p:sp>
        <p:nvSpPr>
          <p:cNvPr id="346" name="Google Shape;346;p27"/>
          <p:cNvSpPr txBox="1"/>
          <p:nvPr/>
        </p:nvSpPr>
        <p:spPr>
          <a:xfrm>
            <a:off x="3652837" y="4754760"/>
            <a:ext cx="48863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563EB"/>
                </a:solidFill>
                <a:latin typeface="Lato"/>
                <a:ea typeface="Lato"/>
                <a:cs typeface="Lato"/>
                <a:sym typeface="Lato"/>
              </a:rPr>
              <a:t>— Acuerdo Pedagógico de Aula, Dpto. Informática IES Celia Viñas</a:t>
            </a:r>
            <a:endParaRPr/>
          </a:p>
        </p:txBody>
      </p:sp>
      <p:sp>
        <p:nvSpPr>
          <p:cNvPr id="347" name="Google Shape;347;p27"/>
          <p:cNvSpPr txBox="1"/>
          <p:nvPr/>
        </p:nvSpPr>
        <p:spPr>
          <a:xfrm>
            <a:off x="1428750" y="2390775"/>
            <a:ext cx="2857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“</a:t>
            </a:r>
            <a:endParaRPr/>
          </a:p>
        </p:txBody>
      </p:sp>
      <p:sp>
        <p:nvSpPr>
          <p:cNvPr id="348" name="Google Shape;348;p27"/>
          <p:cNvSpPr txBox="1"/>
          <p:nvPr/>
        </p:nvSpPr>
        <p:spPr>
          <a:xfrm>
            <a:off x="10477500" y="4192790"/>
            <a:ext cx="2857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”</a:t>
            </a:r>
            <a:endParaRPr/>
          </a:p>
        </p:txBody>
      </p:sp>
      <p:sp>
        <p:nvSpPr>
          <p:cNvPr id="349" name="Google Shape;349;p27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4" name="Google Shape;35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0" y="3996630"/>
            <a:ext cx="238125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Google Shape;355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05375" y="3996630"/>
            <a:ext cx="238125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6" name="Google Shape;356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24750" y="3996630"/>
            <a:ext cx="2381250" cy="131445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8"/>
          <p:cNvSpPr txBox="1"/>
          <p:nvPr/>
        </p:nvSpPr>
        <p:spPr>
          <a:xfrm>
            <a:off x="4116925" y="476250"/>
            <a:ext cx="8055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Dudas y Canales de Comunicación</a:t>
            </a:r>
            <a:endParaRPr/>
          </a:p>
        </p:txBody>
      </p:sp>
      <p:sp>
        <p:nvSpPr>
          <p:cNvPr id="358" name="Google Shape;358;p28"/>
          <p:cNvSpPr/>
          <p:nvPr/>
        </p:nvSpPr>
        <p:spPr>
          <a:xfrm>
            <a:off x="571500" y="1001910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8"/>
          <p:cNvSpPr txBox="1"/>
          <p:nvPr/>
        </p:nvSpPr>
        <p:spPr>
          <a:xfrm>
            <a:off x="295275" y="2329755"/>
            <a:ext cx="116014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¿Alguna Pregunta?</a:t>
            </a:r>
            <a:endParaRPr/>
          </a:p>
        </p:txBody>
      </p:sp>
      <p:sp>
        <p:nvSpPr>
          <p:cNvPr id="360" name="Google Shape;360;p28"/>
          <p:cNvSpPr txBox="1"/>
          <p:nvPr/>
        </p:nvSpPr>
        <p:spPr>
          <a:xfrm>
            <a:off x="571500" y="337750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¡Bienvenidos al curso académico 2026/2027! Toda la información de aula está disponible en Moodle.</a:t>
            </a:r>
            <a:endParaRPr/>
          </a:p>
        </p:txBody>
      </p:sp>
      <p:pic>
        <p:nvPicPr>
          <p:cNvPr descr="image.png" id="361" name="Google Shape;361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62325" y="424428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8"/>
          <p:cNvSpPr txBox="1"/>
          <p:nvPr/>
        </p:nvSpPr>
        <p:spPr>
          <a:xfrm>
            <a:off x="2486501" y="4587180"/>
            <a:ext cx="198024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CORREO ELECTRÓNICO</a:t>
            </a:r>
            <a:endParaRPr/>
          </a:p>
        </p:txBody>
      </p:sp>
      <p:sp>
        <p:nvSpPr>
          <p:cNvPr id="363" name="Google Shape;363;p28"/>
          <p:cNvSpPr txBox="1"/>
          <p:nvPr/>
        </p:nvSpPr>
        <p:spPr>
          <a:xfrm>
            <a:off x="2533650" y="4834830"/>
            <a:ext cx="18859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jsansan766@g.educaand.es</a:t>
            </a:r>
            <a:endParaRPr/>
          </a:p>
        </p:txBody>
      </p:sp>
      <p:pic>
        <p:nvPicPr>
          <p:cNvPr descr="image.png" id="364" name="Google Shape;364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53125" y="4244280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28"/>
          <p:cNvSpPr txBox="1"/>
          <p:nvPr/>
        </p:nvSpPr>
        <p:spPr>
          <a:xfrm>
            <a:off x="5105876" y="4587180"/>
            <a:ext cx="198024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AULA VIRTUAL</a:t>
            </a:r>
            <a:endParaRPr/>
          </a:p>
        </p:txBody>
      </p:sp>
      <p:sp>
        <p:nvSpPr>
          <p:cNvPr id="366" name="Google Shape;366;p28"/>
          <p:cNvSpPr txBox="1"/>
          <p:nvPr/>
        </p:nvSpPr>
        <p:spPr>
          <a:xfrm>
            <a:off x="5153025" y="4834830"/>
            <a:ext cx="18859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Moodle Centros Almería</a:t>
            </a:r>
            <a:endParaRPr/>
          </a:p>
        </p:txBody>
      </p:sp>
      <p:pic>
        <p:nvPicPr>
          <p:cNvPr descr="image.png" id="367" name="Google Shape;367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29650" y="4244280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28"/>
          <p:cNvSpPr txBox="1"/>
          <p:nvPr/>
        </p:nvSpPr>
        <p:spPr>
          <a:xfrm>
            <a:off x="7725251" y="4587180"/>
            <a:ext cx="198024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UBICACIÓN FÍSICA</a:t>
            </a:r>
            <a:endParaRPr/>
          </a:p>
        </p:txBody>
      </p:sp>
      <p:sp>
        <p:nvSpPr>
          <p:cNvPr id="369" name="Google Shape;369;p28"/>
          <p:cNvSpPr txBox="1"/>
          <p:nvPr/>
        </p:nvSpPr>
        <p:spPr>
          <a:xfrm>
            <a:off x="7772400" y="4834830"/>
            <a:ext cx="1886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Aula XXX </a:t>
            </a: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• IES Celia Viñas</a:t>
            </a:r>
            <a:endParaRPr/>
          </a:p>
        </p:txBody>
      </p:sp>
      <p:sp>
        <p:nvSpPr>
          <p:cNvPr id="370" name="Google Shape;370;p28"/>
          <p:cNvSpPr txBox="1"/>
          <p:nvPr>
            <p:ph idx="12" type="sldNum"/>
          </p:nvPr>
        </p:nvSpPr>
        <p:spPr>
          <a:xfrm>
            <a:off x="11194750" y="6243825"/>
            <a:ext cx="499800" cy="243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71" name="Google Shape;371;p28" title="logo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54000" y="266475"/>
            <a:ext cx="723779" cy="96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