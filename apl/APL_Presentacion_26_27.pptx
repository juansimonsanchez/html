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Google Sa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boldItalic r:id="rId29"/>
    </p:embeddedFont>
    <p:embeddedFont>
      <p:font typeface="Poppins"/>
      <p:regular r:id="rId27"/>
      <p:bold r:id="rId28"/>
      <p:italic r:id="rId30"/>
      <p:boldItalic r:id="rId29"/>
    </p:embeddedFont>
    <p:embeddedFont>
      <p:font typeface="NSimSun"/>
      <p:regular r:id="rId31"/>
    </p:embeddedFont>
    <p:embeddedFont>
      <p:font typeface="Mangal"/>
      <p:regular r:id="rId3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_1_Lato_Regular.fntdata"/><Relationship Id="rId20" Type="http://schemas.openxmlformats.org/officeDocument/2006/relationships/font" Target="fonts/Font_2_Lato_Bold.fntdata"/><Relationship Id="rId21" Type="http://schemas.openxmlformats.org/officeDocument/2006/relationships/font" Target="fonts/Font_3_Lato_Italic.fntdata"/><Relationship Id="rId22" Type="http://schemas.openxmlformats.org/officeDocument/2006/relationships/font" Target="fonts/Font_4_Lato_BoldItalic.fntdata"/><Relationship Id="rId23" Type="http://schemas.openxmlformats.org/officeDocument/2006/relationships/font" Target="fonts/Font_5_Google_Sans_Regular.fntdata"/><Relationship Id="rId24" Type="http://schemas.openxmlformats.org/officeDocument/2006/relationships/font" Target="fonts/Font_6_Google_Sans_Bold.fntdata"/><Relationship Id="rId25" Type="http://schemas.openxmlformats.org/officeDocument/2006/relationships/font" Target="fonts/Font_7_Google_Sans_Italic.fntdata"/><Relationship Id="rId26" Type="http://schemas.openxmlformats.org/officeDocument/2006/relationships/font" Target="fonts/Font_8_Google_Sans_BoldItalic.fntdata"/><Relationship Id="rId27" Type="http://schemas.openxmlformats.org/officeDocument/2006/relationships/font" Target="fonts/Font_9_Poppins_SemiBold_Regular.fntdata"/><Relationship Id="rId28" Type="http://schemas.openxmlformats.org/officeDocument/2006/relationships/font" Target="fonts/Font_10_Poppins_SemiBold_Bold.fntdata"/><Relationship Id="rId29" Type="http://schemas.openxmlformats.org/officeDocument/2006/relationships/font" Target="fonts/Font_11_Poppins_SemiBold_BoldItalic.fntdata"/><Relationship Id="rId30" Type="http://schemas.openxmlformats.org/officeDocument/2006/relationships/font" Target="fonts/Font_12_Poppins_Italic.fntdata"/><Relationship Id="rId31" Type="http://schemas.openxmlformats.org/officeDocument/2006/relationships/font" Target="fonts/Font_13_NSimSun_Regular.fntdata"/><Relationship Id="rId32" Type="http://schemas.openxmlformats.org/officeDocument/2006/relationships/font" Target="fonts/Font_14_Mangal_Regular.fntdata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"/>
          <p:cNvSpPr/>
          <p:nvPr/>
        </p:nvSpPr>
        <p:spPr>
          <a:xfrm>
            <a:off x="1266840" y="600120"/>
            <a:ext cx="2904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3a8a"/>
                </a:solidFill>
                <a:effectLst/>
                <a:uFillTx/>
                <a:latin typeface="Poppins SemiBold"/>
                <a:ea typeface="Poppins SemiBold"/>
              </a:rPr>
              <a:t>IES Celia Viñas | Dpto. Informática (Almería)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Google Shape;13;p2"/>
          <p:cNvPicPr/>
          <p:nvPr/>
        </p:nvPicPr>
        <p:blipFill>
          <a:blip r:embed="rId2"/>
          <a:stretch/>
        </p:blipFill>
        <p:spPr>
          <a:xfrm>
            <a:off x="229320" y="257760"/>
            <a:ext cx="757440" cy="100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4;p2" descr="image.png"/>
          <p:cNvPicPr/>
          <p:nvPr/>
        </p:nvPicPr>
        <p:blipFill>
          <a:blip r:embed="rId3"/>
          <a:stretch/>
        </p:blipFill>
        <p:spPr>
          <a:xfrm>
            <a:off x="11255040" y="6257880"/>
            <a:ext cx="35532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5;p2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Google Shape;16;p2"/>
          <p:cNvSpPr/>
          <p:nvPr/>
        </p:nvSpPr>
        <p:spPr>
          <a:xfrm>
            <a:off x="581040" y="6296040"/>
            <a:ext cx="2606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Aplicaciones Web • Curso Académico 2026/2027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7;p2"/>
          <p:cNvSpPr/>
          <p:nvPr/>
        </p:nvSpPr>
        <p:spPr>
          <a:xfrm>
            <a:off x="11245680" y="6248520"/>
            <a:ext cx="355320" cy="218520"/>
          </a:xfrm>
          <a:prstGeom prst="ellipse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7040" bIns="77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942D82-EA6F-4AAE-BD6B-A802663F0AAE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36B705-87C1-4CEB-B1E4-ACB94B7E8CF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30C64D-7BF7-4FB5-9CF7-7E32EEBB3DF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B5053-9F2A-4586-8A0F-57E43CF710D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D2C723-DF33-4B0E-8C8B-20F1F5DD001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lang="es-E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61CB7E-D323-41E0-BCA2-DA4CE0EDC6F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FC527D-1C60-4B1C-AB2A-565BBDEE13D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2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041A8F-570B-481B-86EF-972E73F3639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6723A5-FA3D-4038-A986-E1F64A86C3D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2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DCCDCE-870D-4E8C-8E9E-59AB077D524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67106-F1D8-4CBB-AFD0-406731FC5B0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88;p13" descr="image.png"/>
          <p:cNvPicPr/>
          <p:nvPr/>
        </p:nvPicPr>
        <p:blipFill>
          <a:blip r:embed="rId1"/>
          <a:stretch/>
        </p:blipFill>
        <p:spPr>
          <a:xfrm>
            <a:off x="571680" y="3817440"/>
            <a:ext cx="11048760" cy="11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89;p13"/>
          <p:cNvSpPr/>
          <p:nvPr/>
        </p:nvSpPr>
        <p:spPr>
          <a:xfrm>
            <a:off x="1295280" y="2088000"/>
            <a:ext cx="960084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Presentación de </a:t>
            </a:r>
            <a:r>
              <a:rPr lang="en-US" sz="42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Aplicaciones Web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13"/>
          <p:cNvSpPr/>
          <p:nvPr/>
        </p:nvSpPr>
        <p:spPr>
          <a:xfrm>
            <a:off x="2286000" y="2817360"/>
            <a:ext cx="7619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Guía docente, secuenciación didáctica y alternancia dual del módulo profesional para el alumnado de 2º curso de Sistemas Microinformáticos y Redes.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3"/>
          <p:cNvSpPr/>
          <p:nvPr/>
        </p:nvSpPr>
        <p:spPr>
          <a:xfrm>
            <a:off x="1455840" y="4065120"/>
            <a:ext cx="16477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Ciclo Profesional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2º C.F.G.M. SMR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3"/>
          <p:cNvSpPr/>
          <p:nvPr/>
        </p:nvSpPr>
        <p:spPr>
          <a:xfrm>
            <a:off x="3747960" y="4065120"/>
            <a:ext cx="16477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Curso Lectivo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2026 / 2027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3"/>
          <p:cNvSpPr/>
          <p:nvPr/>
        </p:nvSpPr>
        <p:spPr>
          <a:xfrm>
            <a:off x="5927040" y="4065120"/>
            <a:ext cx="2653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Docente Responsable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Juan Simón Sánchez Sánchez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3"/>
          <p:cNvSpPr/>
          <p:nvPr/>
        </p:nvSpPr>
        <p:spPr>
          <a:xfrm>
            <a:off x="9291960" y="4065120"/>
            <a:ext cx="23281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Centro Educativo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IES Celia Viñas (Almería)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sldNum" idx="32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F2D3DB5-1611-4C9A-AD88-A225ED8DA4D9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00;p14" descr="image.png"/>
          <p:cNvPicPr/>
          <p:nvPr/>
        </p:nvPicPr>
        <p:blipFill>
          <a:blip r:embed="rId1"/>
          <a:stretch/>
        </p:blipFill>
        <p:spPr>
          <a:xfrm>
            <a:off x="571680" y="2185200"/>
            <a:ext cx="5381280" cy="248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1;p14" descr="image.png"/>
          <p:cNvPicPr/>
          <p:nvPr/>
        </p:nvPicPr>
        <p:blipFill>
          <a:blip r:embed="rId2"/>
          <a:stretch/>
        </p:blipFill>
        <p:spPr>
          <a:xfrm>
            <a:off x="6183000" y="2185200"/>
            <a:ext cx="5381280" cy="248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102;p14"/>
          <p:cNvSpPr/>
          <p:nvPr/>
        </p:nvSpPr>
        <p:spPr>
          <a:xfrm>
            <a:off x="4320000" y="360000"/>
            <a:ext cx="807696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Contextualización Normativa SMR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14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4;p14"/>
          <p:cNvSpPr/>
          <p:nvPr/>
        </p:nvSpPr>
        <p:spPr>
          <a:xfrm>
            <a:off x="866880" y="2506320"/>
            <a:ext cx="5030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Legislación de Aplicación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14"/>
          <p:cNvSpPr/>
          <p:nvPr/>
        </p:nvSpPr>
        <p:spPr>
          <a:xfrm>
            <a:off x="866880" y="2971800"/>
            <a:ext cx="479052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El módulo está regulado por la Ley Orgánica 3/2022 de Formación Profesional e integrado bajo el Decreto 165/2024 de la Junta de Andalucía. Se asocia directamente a la administración y despliegue de infraestructuras web.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14"/>
          <p:cNvSpPr/>
          <p:nvPr/>
        </p:nvSpPr>
        <p:spPr>
          <a:xfrm>
            <a:off x="6414480" y="2476440"/>
            <a:ext cx="5030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Objetivos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7;p14"/>
          <p:cNvSpPr/>
          <p:nvPr/>
        </p:nvSpPr>
        <p:spPr>
          <a:xfrm>
            <a:off x="6478560" y="2996280"/>
            <a:ext cx="479052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Orientado firmemente a capacitar al técnico en microinformática en la instalación de CMS, LMS, servidores LAMP/WAMP locales y ofimática en la nube. Un perfil altamente polivalente y demandado por PYMEs locales.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33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ABD5341-58A1-4FC6-8B44-BD18C946F5CB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13;p15" descr="image.png"/>
          <p:cNvPicPr/>
          <p:nvPr/>
        </p:nvPicPr>
        <p:blipFill>
          <a:blip r:embed="rId1"/>
          <a:stretch/>
        </p:blipFill>
        <p:spPr>
          <a:xfrm>
            <a:off x="571680" y="2696400"/>
            <a:ext cx="3492000" cy="257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14;p15" descr="image.png"/>
          <p:cNvPicPr/>
          <p:nvPr/>
        </p:nvPicPr>
        <p:blipFill>
          <a:blip r:embed="rId2"/>
          <a:stretch/>
        </p:blipFill>
        <p:spPr>
          <a:xfrm>
            <a:off x="4349520" y="2696400"/>
            <a:ext cx="3492360" cy="257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15;p15" descr="image.png"/>
          <p:cNvPicPr/>
          <p:nvPr/>
        </p:nvPicPr>
        <p:blipFill>
          <a:blip r:embed="rId3"/>
          <a:stretch/>
        </p:blipFill>
        <p:spPr>
          <a:xfrm>
            <a:off x="8128080" y="2696400"/>
            <a:ext cx="3492000" cy="25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16;p15"/>
          <p:cNvSpPr/>
          <p:nvPr/>
        </p:nvSpPr>
        <p:spPr>
          <a:xfrm>
            <a:off x="4320000" y="360000"/>
            <a:ext cx="80557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Marco de Carga Horaria y Sesiones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7;p15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8;p15"/>
          <p:cNvSpPr/>
          <p:nvPr/>
        </p:nvSpPr>
        <p:spPr>
          <a:xfrm>
            <a:off x="771480" y="3087000"/>
            <a:ext cx="30920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4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9;p15"/>
          <p:cNvSpPr/>
          <p:nvPr/>
        </p:nvSpPr>
        <p:spPr>
          <a:xfrm>
            <a:off x="771480" y="3944160"/>
            <a:ext cx="309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Horas Semanales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0;p15"/>
          <p:cNvSpPr/>
          <p:nvPr/>
        </p:nvSpPr>
        <p:spPr>
          <a:xfrm>
            <a:off x="771480" y="4230000"/>
            <a:ext cx="30920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Distribuidas en sesiones prácticas intensivas de desarrollo en taller.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1;p15"/>
          <p:cNvSpPr/>
          <p:nvPr/>
        </p:nvSpPr>
        <p:spPr>
          <a:xfrm>
            <a:off x="4549680" y="3087000"/>
            <a:ext cx="30920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84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2;p15"/>
          <p:cNvSpPr/>
          <p:nvPr/>
        </p:nvSpPr>
        <p:spPr>
          <a:xfrm>
            <a:off x="4549680" y="3944160"/>
            <a:ext cx="309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Horas Totales Centro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3;p15"/>
          <p:cNvSpPr/>
          <p:nvPr/>
        </p:nvSpPr>
        <p:spPr>
          <a:xfrm>
            <a:off x="4549680" y="4230000"/>
            <a:ext cx="309204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Concentradas estrictamente durante los trimestres 1º y 2º en el aula.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4;p15"/>
          <p:cNvSpPr/>
          <p:nvPr/>
        </p:nvSpPr>
        <p:spPr>
          <a:xfrm>
            <a:off x="8201520" y="3087000"/>
            <a:ext cx="3296160" cy="90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59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402/538</a:t>
            </a:r>
            <a:endParaRPr lang="es-ES" sz="5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5;p15"/>
          <p:cNvSpPr/>
          <p:nvPr/>
        </p:nvSpPr>
        <p:spPr>
          <a:xfrm>
            <a:off x="8327880" y="3944160"/>
            <a:ext cx="309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Horas Dual Empresa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6;p15"/>
          <p:cNvSpPr/>
          <p:nvPr/>
        </p:nvSpPr>
        <p:spPr>
          <a:xfrm>
            <a:off x="8327880" y="4230000"/>
            <a:ext cx="309204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Fase de alternancia dual completa realizada durante el tercer trimestre.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34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B2DF092-C3C2-41EA-8142-12B91710FC89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35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3D104B-A99E-4B22-A58C-5D4E8E36660B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8" name="Google Shape;133;p16"/>
          <p:cNvGrpSpPr/>
          <p:nvPr/>
        </p:nvGrpSpPr>
        <p:grpSpPr>
          <a:xfrm>
            <a:off x="720000" y="457560"/>
            <a:ext cx="11601000" cy="542520"/>
            <a:chOff x="720000" y="457560"/>
            <a:chExt cx="11601000" cy="542520"/>
          </a:xfrm>
        </p:grpSpPr>
        <p:sp>
          <p:nvSpPr>
            <p:cNvPr id="99" name="Google Shape;134;p16"/>
            <p:cNvSpPr/>
            <p:nvPr/>
          </p:nvSpPr>
          <p:spPr>
            <a:xfrm>
              <a:off x="4244040" y="457560"/>
              <a:ext cx="807696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2700" b="1" u="none" strike="noStrike">
                  <a:solidFill>
                    <a:srgbClr val="0f172a"/>
                  </a:solidFill>
                  <a:effectLst/>
                  <a:uFillTx/>
                  <a:latin typeface="Poppins"/>
                  <a:ea typeface="Poppins"/>
                </a:rPr>
                <a:t>Ponderación de Resultados de Aprendizaje</a:t>
              </a:r>
              <a:endParaRPr lang="es-ES" sz="2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35;p16"/>
            <p:cNvSpPr/>
            <p:nvPr/>
          </p:nvSpPr>
          <p:spPr>
            <a:xfrm>
              <a:off x="720000" y="981360"/>
              <a:ext cx="11048760" cy="18720"/>
            </a:xfrm>
            <a:prstGeom prst="rect">
              <a:avLst/>
            </a:pr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Google Shape;136;p16"/>
          <p:cNvSpPr/>
          <p:nvPr/>
        </p:nvSpPr>
        <p:spPr>
          <a:xfrm>
            <a:off x="571680" y="1428840"/>
            <a:ext cx="11048760" cy="361908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Google Shape;137;p16"/>
          <p:cNvGraphicFramePr/>
          <p:nvPr/>
        </p:nvGraphicFramePr>
        <p:xfrm>
          <a:off x="571680" y="1428840"/>
          <a:ext cx="11048760" cy="4378680"/>
        </p:xfrm>
        <a:graphic>
          <a:graphicData uri="http://schemas.openxmlformats.org/drawingml/2006/table">
            <a:tbl>
              <a:tblPr/>
              <a:tblGrid>
                <a:gridCol w="3682800"/>
                <a:gridCol w="3682800"/>
                <a:gridCol w="3682800"/>
              </a:tblGrid>
              <a:tr h="603000">
                <a:tc>
                  <a:txBody>
                    <a:bodyPr lIns="190440" rIns="190440" tIns="190440" bIns="19044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3a8a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Ref.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3a8a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Resultado de Aprendizaje (RA)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3a8a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Peso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603000"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RA1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Instala gestores de contenidos, identificando sus aplicaciones y configurándolos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40%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</a:tr>
              <a:tr h="603000"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RA2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Instala sistemas de gestión de aprendizaje a distancia (LMS)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25%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</a:tr>
              <a:tr h="603000"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RA3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Instala servicios de gestión de archivos web y verifica su integridad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15%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</a:tr>
              <a:tr h="603000"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RA4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Instala aplicaciones de ofimática web en entornos locales y cloud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10%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 w="9360">
                      <a:solidFill>
                        <a:srgbClr val="f1f5f9"/>
                      </a:solidFill>
                      <a:prstDash val="solid"/>
                    </a:lnB>
                    <a:noFill/>
                  </a:tcPr>
                </a:tc>
              </a:tr>
              <a:tr h="603000"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RA5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Instala aplicaciones web de escritorio (Webmail, Agendas)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90440" rIns="190440" tIns="142560" bIns="1425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10%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42560" marB="1425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1f5f9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36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A9D2A0C-ECB3-4206-835A-16E5ABC7C1B0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" name="Google Shape;143;p17"/>
          <p:cNvGrpSpPr/>
          <p:nvPr/>
        </p:nvGrpSpPr>
        <p:grpSpPr>
          <a:xfrm>
            <a:off x="670320" y="449640"/>
            <a:ext cx="11601000" cy="542520"/>
            <a:chOff x="670320" y="449640"/>
            <a:chExt cx="11601000" cy="542520"/>
          </a:xfrm>
        </p:grpSpPr>
        <p:sp>
          <p:nvSpPr>
            <p:cNvPr id="105" name="Google Shape;144;p17"/>
            <p:cNvSpPr/>
            <p:nvPr/>
          </p:nvSpPr>
          <p:spPr>
            <a:xfrm>
              <a:off x="4194360" y="449640"/>
              <a:ext cx="807696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2700" b="1" u="none" strike="noStrike">
                  <a:solidFill>
                    <a:srgbClr val="0f172a"/>
                  </a:solidFill>
                  <a:effectLst/>
                  <a:uFillTx/>
                  <a:latin typeface="Poppins"/>
                  <a:ea typeface="Poppins"/>
                </a:rPr>
                <a:t>Secuenciación de Unidades de Trabajo</a:t>
              </a:r>
              <a:endParaRPr lang="es-ES" sz="2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Google Shape;145;p17"/>
            <p:cNvSpPr/>
            <p:nvPr/>
          </p:nvSpPr>
          <p:spPr>
            <a:xfrm>
              <a:off x="670320" y="973440"/>
              <a:ext cx="11048760" cy="18720"/>
            </a:xfrm>
            <a:prstGeom prst="rect">
              <a:avLst/>
            </a:pr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Google Shape;147;p17"/>
          <p:cNvGrpSpPr/>
          <p:nvPr/>
        </p:nvGrpSpPr>
        <p:grpSpPr>
          <a:xfrm>
            <a:off x="571680" y="1428840"/>
            <a:ext cx="11048760" cy="485640"/>
            <a:chOff x="571680" y="1428840"/>
            <a:chExt cx="11048760" cy="485640"/>
          </a:xfrm>
        </p:grpSpPr>
        <p:sp>
          <p:nvSpPr>
            <p:cNvPr id="108" name="Google Shape;148;p17"/>
            <p:cNvSpPr/>
            <p:nvPr/>
          </p:nvSpPr>
          <p:spPr>
            <a:xfrm>
              <a:off x="571680" y="1428840"/>
              <a:ext cx="11048760" cy="475920"/>
            </a:xfrm>
            <a:prstGeom prst="roundRect">
              <a:avLst>
                <a:gd name="adj" fmla="val 24000"/>
              </a:avLst>
            </a:prstGeom>
            <a:solidFill>
              <a:srgbClr val="f8fa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Google Shape;149;p17"/>
            <p:cNvSpPr/>
            <p:nvPr/>
          </p:nvSpPr>
          <p:spPr>
            <a:xfrm>
              <a:off x="571680" y="1666800"/>
              <a:ext cx="11048760" cy="23796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Google Shape;150;p17"/>
            <p:cNvSpPr/>
            <p:nvPr/>
          </p:nvSpPr>
          <p:spPr>
            <a:xfrm>
              <a:off x="571680" y="1428840"/>
              <a:ext cx="571464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e3a8a"/>
                  </a:solidFill>
                  <a:effectLst/>
                  <a:uFillTx/>
                  <a:latin typeface="Poppins"/>
                  <a:ea typeface="Poppins"/>
                </a:rPr>
                <a:t>Unidad de Trabajo (RA Asociado)</a:t>
              </a: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Google Shape;151;p17"/>
            <p:cNvSpPr/>
            <p:nvPr/>
          </p:nvSpPr>
          <p:spPr>
            <a:xfrm>
              <a:off x="6286680" y="1428840"/>
              <a:ext cx="190476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e3a8a"/>
                  </a:solidFill>
                  <a:effectLst/>
                  <a:uFillTx/>
                  <a:latin typeface="Poppins"/>
                  <a:ea typeface="Poppins"/>
                </a:rPr>
                <a:t>Horas</a:t>
              </a: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Google Shape;152;p17"/>
            <p:cNvSpPr/>
            <p:nvPr/>
          </p:nvSpPr>
          <p:spPr>
            <a:xfrm>
              <a:off x="8191440" y="1428840"/>
              <a:ext cx="342864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e3a8a"/>
                  </a:solidFill>
                  <a:effectLst/>
                  <a:uFillTx/>
                  <a:latin typeface="Poppins"/>
                  <a:ea typeface="Poppins"/>
                </a:rPr>
                <a:t>Periodo Estimado</a:t>
              </a: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153;p17"/>
            <p:cNvSpPr/>
            <p:nvPr/>
          </p:nvSpPr>
          <p:spPr>
            <a:xfrm>
              <a:off x="571680" y="1905120"/>
              <a:ext cx="11048760" cy="9360"/>
            </a:xfrm>
            <a:prstGeom prst="rect">
              <a:avLst/>
            </a:pr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" name="Google Shape;154;p17"/>
          <p:cNvGrpSpPr/>
          <p:nvPr/>
        </p:nvGrpSpPr>
        <p:grpSpPr>
          <a:xfrm>
            <a:off x="571680" y="1914480"/>
            <a:ext cx="11048400" cy="581040"/>
            <a:chOff x="571680" y="1914480"/>
            <a:chExt cx="11048400" cy="581040"/>
          </a:xfrm>
        </p:grpSpPr>
        <p:sp>
          <p:nvSpPr>
            <p:cNvPr id="115" name="Google Shape;155;p17"/>
            <p:cNvSpPr/>
            <p:nvPr/>
          </p:nvSpPr>
          <p:spPr>
            <a:xfrm>
              <a:off x="571680" y="191448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UT1: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Introducción y entorno servidor (RA1)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Google Shape;156;p17"/>
            <p:cNvSpPr/>
            <p:nvPr/>
          </p:nvSpPr>
          <p:spPr>
            <a:xfrm>
              <a:off x="6286680" y="191448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20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Google Shape;157;p17"/>
            <p:cNvSpPr/>
            <p:nvPr/>
          </p:nvSpPr>
          <p:spPr>
            <a:xfrm>
              <a:off x="8191440" y="191448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15 Sep - 15 Oct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Google Shape;158;p17"/>
            <p:cNvSpPr/>
            <p:nvPr/>
          </p:nvSpPr>
          <p:spPr>
            <a:xfrm>
              <a:off x="857160" y="2486160"/>
              <a:ext cx="10477080" cy="9360"/>
            </a:xfrm>
            <a:prstGeom prst="rect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oogle Shape;159;p17"/>
          <p:cNvGrpSpPr/>
          <p:nvPr/>
        </p:nvGrpSpPr>
        <p:grpSpPr>
          <a:xfrm>
            <a:off x="571680" y="2495520"/>
            <a:ext cx="11048400" cy="581040"/>
            <a:chOff x="571680" y="2495520"/>
            <a:chExt cx="11048400" cy="581040"/>
          </a:xfrm>
        </p:grpSpPr>
        <p:sp>
          <p:nvSpPr>
            <p:cNvPr id="120" name="Google Shape;160;p17"/>
            <p:cNvSpPr/>
            <p:nvPr/>
          </p:nvSpPr>
          <p:spPr>
            <a:xfrm>
              <a:off x="571680" y="249552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UT2: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Gestores de contenidos - WordPress (RA1)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Google Shape;161;p17"/>
            <p:cNvSpPr/>
            <p:nvPr/>
          </p:nvSpPr>
          <p:spPr>
            <a:xfrm>
              <a:off x="6286680" y="249552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18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Google Shape;162;p17"/>
            <p:cNvSpPr/>
            <p:nvPr/>
          </p:nvSpPr>
          <p:spPr>
            <a:xfrm>
              <a:off x="8191440" y="249552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16 Oct - 15 Nov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163;p17"/>
            <p:cNvSpPr/>
            <p:nvPr/>
          </p:nvSpPr>
          <p:spPr>
            <a:xfrm>
              <a:off x="857160" y="3067200"/>
              <a:ext cx="10477080" cy="9360"/>
            </a:xfrm>
            <a:prstGeom prst="rect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oogle Shape;164;p17"/>
          <p:cNvGrpSpPr/>
          <p:nvPr/>
        </p:nvGrpSpPr>
        <p:grpSpPr>
          <a:xfrm>
            <a:off x="571680" y="3076560"/>
            <a:ext cx="11048400" cy="581040"/>
            <a:chOff x="571680" y="3076560"/>
            <a:chExt cx="11048400" cy="581040"/>
          </a:xfrm>
        </p:grpSpPr>
        <p:sp>
          <p:nvSpPr>
            <p:cNvPr id="125" name="Google Shape;165;p17"/>
            <p:cNvSpPr/>
            <p:nvPr/>
          </p:nvSpPr>
          <p:spPr>
            <a:xfrm>
              <a:off x="571680" y="307656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UT3: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Plataformas de formación LMS (RA2)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Google Shape;166;p17"/>
            <p:cNvSpPr/>
            <p:nvPr/>
          </p:nvSpPr>
          <p:spPr>
            <a:xfrm>
              <a:off x="6286680" y="307656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18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Google Shape;167;p17"/>
            <p:cNvSpPr/>
            <p:nvPr/>
          </p:nvSpPr>
          <p:spPr>
            <a:xfrm>
              <a:off x="8191440" y="307656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16 Nov - 22 Dic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Google Shape;168;p17"/>
            <p:cNvSpPr/>
            <p:nvPr/>
          </p:nvSpPr>
          <p:spPr>
            <a:xfrm>
              <a:off x="857160" y="3648240"/>
              <a:ext cx="10477080" cy="9360"/>
            </a:xfrm>
            <a:prstGeom prst="rect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oogle Shape;169;p17"/>
          <p:cNvGrpSpPr/>
          <p:nvPr/>
        </p:nvGrpSpPr>
        <p:grpSpPr>
          <a:xfrm>
            <a:off x="571680" y="3657600"/>
            <a:ext cx="11048400" cy="581040"/>
            <a:chOff x="571680" y="3657600"/>
            <a:chExt cx="11048400" cy="581040"/>
          </a:xfrm>
        </p:grpSpPr>
        <p:sp>
          <p:nvSpPr>
            <p:cNvPr id="130" name="Google Shape;170;p17"/>
            <p:cNvSpPr/>
            <p:nvPr/>
          </p:nvSpPr>
          <p:spPr>
            <a:xfrm>
              <a:off x="571680" y="365760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UT4: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Almacenamiento y archivos web (RA3)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Google Shape;171;p17"/>
            <p:cNvSpPr/>
            <p:nvPr/>
          </p:nvSpPr>
          <p:spPr>
            <a:xfrm>
              <a:off x="6286680" y="365760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8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172;p17"/>
            <p:cNvSpPr/>
            <p:nvPr/>
          </p:nvSpPr>
          <p:spPr>
            <a:xfrm>
              <a:off x="8191440" y="365760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07 Ene - 31 Ene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173;p17"/>
            <p:cNvSpPr/>
            <p:nvPr/>
          </p:nvSpPr>
          <p:spPr>
            <a:xfrm>
              <a:off x="857160" y="4229280"/>
              <a:ext cx="10477080" cy="9360"/>
            </a:xfrm>
            <a:prstGeom prst="rect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" name="Google Shape;174;p17"/>
          <p:cNvGrpSpPr/>
          <p:nvPr/>
        </p:nvGrpSpPr>
        <p:grpSpPr>
          <a:xfrm>
            <a:off x="571680" y="4238640"/>
            <a:ext cx="11048400" cy="580680"/>
            <a:chOff x="571680" y="4238640"/>
            <a:chExt cx="11048400" cy="580680"/>
          </a:xfrm>
        </p:grpSpPr>
        <p:sp>
          <p:nvSpPr>
            <p:cNvPr id="135" name="Google Shape;175;p17"/>
            <p:cNvSpPr/>
            <p:nvPr/>
          </p:nvSpPr>
          <p:spPr>
            <a:xfrm>
              <a:off x="571680" y="423864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UT5: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Aplicaciones de ofimática web (RA4)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Google Shape;176;p17"/>
            <p:cNvSpPr/>
            <p:nvPr/>
          </p:nvSpPr>
          <p:spPr>
            <a:xfrm>
              <a:off x="6286680" y="423864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5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Google Shape;177;p17"/>
            <p:cNvSpPr/>
            <p:nvPr/>
          </p:nvSpPr>
          <p:spPr>
            <a:xfrm>
              <a:off x="8191440" y="423864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 Feb - 12 Feb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Google Shape;178;p17"/>
            <p:cNvSpPr/>
            <p:nvPr/>
          </p:nvSpPr>
          <p:spPr>
            <a:xfrm>
              <a:off x="857160" y="4809960"/>
              <a:ext cx="10477080" cy="9360"/>
            </a:xfrm>
            <a:prstGeom prst="rect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oogle Shape;179;p17"/>
          <p:cNvGrpSpPr/>
          <p:nvPr/>
        </p:nvGrpSpPr>
        <p:grpSpPr>
          <a:xfrm>
            <a:off x="571680" y="4819680"/>
            <a:ext cx="11048400" cy="571320"/>
            <a:chOff x="571680" y="4819680"/>
            <a:chExt cx="11048400" cy="571320"/>
          </a:xfrm>
        </p:grpSpPr>
        <p:sp>
          <p:nvSpPr>
            <p:cNvPr id="140" name="Google Shape;180;p17"/>
            <p:cNvSpPr/>
            <p:nvPr/>
          </p:nvSpPr>
          <p:spPr>
            <a:xfrm>
              <a:off x="571680" y="4819680"/>
              <a:ext cx="5714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584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1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UT6:</a:t>
              </a:r>
              <a:r>
                <a:rPr lang="en-US" sz="1350" b="0" u="none" strike="noStrike">
                  <a:solidFill>
                    <a:srgbClr val="0f172a"/>
                  </a:solidFill>
                  <a:effectLst/>
                  <a:uFillTx/>
                  <a:latin typeface="Lato"/>
                  <a:ea typeface="Lato"/>
                </a:rPr>
                <a:t> Aplicaciones web de escritorio (RA5)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181;p17"/>
            <p:cNvSpPr/>
            <p:nvPr/>
          </p:nvSpPr>
          <p:spPr>
            <a:xfrm>
              <a:off x="6286680" y="4819680"/>
              <a:ext cx="190476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5 h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Google Shape;182;p17"/>
            <p:cNvSpPr/>
            <p:nvPr/>
          </p:nvSpPr>
          <p:spPr>
            <a:xfrm>
              <a:off x="8191440" y="4819680"/>
              <a:ext cx="3428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50" b="0" u="none" strike="noStrike">
                  <a:solidFill>
                    <a:srgbClr val="64748b"/>
                  </a:solidFill>
                  <a:effectLst/>
                  <a:uFillTx/>
                  <a:latin typeface="Lato"/>
                  <a:ea typeface="Lato"/>
                </a:rPr>
                <a:t>15 Feb - 26 Feb</a:t>
              </a:r>
              <a:endParaRPr lang="es-E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3" name="Google Shape;183;p17"/>
          <p:cNvPicPr/>
          <p:nvPr/>
        </p:nvPicPr>
        <p:blipFill>
          <a:blip r:embed="rId2"/>
          <a:stretch/>
        </p:blipFill>
        <p:spPr>
          <a:xfrm>
            <a:off x="254160" y="266400"/>
            <a:ext cx="723240" cy="96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Num" idx="37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84FF2B1-D6D9-42BD-B2C1-A4D657ADD429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5" name="Google Shape;189;p18"/>
          <p:cNvGrpSpPr/>
          <p:nvPr/>
        </p:nvGrpSpPr>
        <p:grpSpPr>
          <a:xfrm>
            <a:off x="720000" y="434160"/>
            <a:ext cx="11601000" cy="542520"/>
            <a:chOff x="720000" y="434160"/>
            <a:chExt cx="11601000" cy="542520"/>
          </a:xfrm>
        </p:grpSpPr>
        <p:sp>
          <p:nvSpPr>
            <p:cNvPr id="146" name="Google Shape;190;p18"/>
            <p:cNvSpPr/>
            <p:nvPr/>
          </p:nvSpPr>
          <p:spPr>
            <a:xfrm>
              <a:off x="4244040" y="434160"/>
              <a:ext cx="807696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2850" b="0" u="none" strike="noStrike">
                  <a:solidFill>
                    <a:srgbClr val="0f172a"/>
                  </a:solidFill>
                  <a:effectLst/>
                  <a:uFillTx/>
                  <a:latin typeface="Poppins SemiBold"/>
                  <a:ea typeface="Poppins SemiBold"/>
                </a:rPr>
                <a:t>Estrategia de Calificación e </a:t>
              </a:r>
              <a:r>
                <a:rPr lang="en-US" sz="285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Instrumentos</a:t>
              </a:r>
              <a:endParaRPr lang="es-ES" sz="28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191;p18"/>
            <p:cNvSpPr/>
            <p:nvPr/>
          </p:nvSpPr>
          <p:spPr>
            <a:xfrm>
              <a:off x="720000" y="957960"/>
              <a:ext cx="11048760" cy="18720"/>
            </a:xfrm>
            <a:prstGeom prst="rect">
              <a:avLst/>
            </a:pr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8" name="Google Shape;192;p18"/>
          <p:cNvPicPr/>
          <p:nvPr/>
        </p:nvPicPr>
        <p:blipFill>
          <a:blip r:embed="rId2"/>
          <a:stretch/>
        </p:blipFill>
        <p:spPr>
          <a:xfrm>
            <a:off x="254160" y="266400"/>
            <a:ext cx="723240" cy="96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193;p18" descr="image.png"/>
          <p:cNvPicPr/>
          <p:nvPr/>
        </p:nvPicPr>
        <p:blipFill>
          <a:blip r:embed="rId3"/>
          <a:stretch/>
        </p:blipFill>
        <p:spPr>
          <a:xfrm>
            <a:off x="581040" y="2505240"/>
            <a:ext cx="3517560" cy="276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194;p18" descr="image.png"/>
          <p:cNvPicPr/>
          <p:nvPr/>
        </p:nvPicPr>
        <p:blipFill>
          <a:blip r:embed="rId4"/>
          <a:stretch/>
        </p:blipFill>
        <p:spPr>
          <a:xfrm>
            <a:off x="4336920" y="2505240"/>
            <a:ext cx="3517560" cy="276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195;p18" descr="image.png"/>
          <p:cNvPicPr/>
          <p:nvPr/>
        </p:nvPicPr>
        <p:blipFill>
          <a:blip r:embed="rId5"/>
          <a:stretch/>
        </p:blipFill>
        <p:spPr>
          <a:xfrm>
            <a:off x="8092800" y="2505240"/>
            <a:ext cx="3517560" cy="27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196;p18"/>
          <p:cNvSpPr/>
          <p:nvPr/>
        </p:nvSpPr>
        <p:spPr>
          <a:xfrm>
            <a:off x="828720" y="3295800"/>
            <a:ext cx="31734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Pruebas teórico/prácticas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97;p18"/>
          <p:cNvSpPr/>
          <p:nvPr/>
        </p:nvSpPr>
        <p:spPr>
          <a:xfrm>
            <a:off x="828720" y="3638520"/>
            <a:ext cx="302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1e3a8a"/>
                </a:solidFill>
                <a:effectLst/>
                <a:uFillTx/>
                <a:latin typeface="Lato"/>
                <a:ea typeface="Lato"/>
              </a:rPr>
              <a:t>60%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8;p18"/>
          <p:cNvSpPr/>
          <p:nvPr/>
        </p:nvSpPr>
        <p:spPr>
          <a:xfrm>
            <a:off x="828720" y="4133880"/>
            <a:ext cx="302220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4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Controles y actividades individuales realizados directamente en los equipos del taller.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9;p18"/>
          <p:cNvSpPr/>
          <p:nvPr/>
        </p:nvSpPr>
        <p:spPr>
          <a:xfrm>
            <a:off x="4584600" y="3295800"/>
            <a:ext cx="31734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Tareas en Moodle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00;p18"/>
          <p:cNvSpPr/>
          <p:nvPr/>
        </p:nvSpPr>
        <p:spPr>
          <a:xfrm>
            <a:off x="4584600" y="3638520"/>
            <a:ext cx="302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059669"/>
                </a:solidFill>
                <a:effectLst/>
                <a:uFillTx/>
                <a:latin typeface="Lato"/>
                <a:ea typeface="Lato"/>
              </a:rPr>
              <a:t>30%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01;p18"/>
          <p:cNvSpPr/>
          <p:nvPr/>
        </p:nvSpPr>
        <p:spPr>
          <a:xfrm>
            <a:off x="4584600" y="4133880"/>
            <a:ext cx="30222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Actividades obligatorias entregadas en la plataforma, en tiempo y forma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02;p18"/>
          <p:cNvSpPr/>
          <p:nvPr/>
        </p:nvSpPr>
        <p:spPr>
          <a:xfrm>
            <a:off x="8340480" y="3295800"/>
            <a:ext cx="31734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Foros y Actitud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03;p18"/>
          <p:cNvSpPr/>
          <p:nvPr/>
        </p:nvSpPr>
        <p:spPr>
          <a:xfrm>
            <a:off x="8340480" y="3638520"/>
            <a:ext cx="302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0284c7"/>
                </a:solidFill>
                <a:effectLst/>
                <a:uFillTx/>
                <a:latin typeface="Lato"/>
                <a:ea typeface="Lato"/>
              </a:rPr>
              <a:t>10%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04;p18"/>
          <p:cNvSpPr/>
          <p:nvPr/>
        </p:nvSpPr>
        <p:spPr>
          <a:xfrm>
            <a:off x="8340480" y="4133880"/>
            <a:ext cx="30222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Participación, trabajo de forma  colaborativa y ejercicios prácticos de clase.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Google Shape;205;p18" descr="image.png"/>
          <p:cNvPicPr/>
          <p:nvPr/>
        </p:nvPicPr>
        <p:blipFill>
          <a:blip r:embed="rId6"/>
          <a:stretch/>
        </p:blipFill>
        <p:spPr>
          <a:xfrm>
            <a:off x="828720" y="277164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206;p18" descr="image.png"/>
          <p:cNvPicPr/>
          <p:nvPr/>
        </p:nvPicPr>
        <p:blipFill>
          <a:blip r:embed="rId7"/>
          <a:stretch/>
        </p:blipFill>
        <p:spPr>
          <a:xfrm>
            <a:off x="4584600" y="2771640"/>
            <a:ext cx="3902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Google Shape;207;p18" descr="image.png"/>
          <p:cNvPicPr/>
          <p:nvPr/>
        </p:nvPicPr>
        <p:blipFill>
          <a:blip r:embed="rId8"/>
          <a:stretch/>
        </p:blipFill>
        <p:spPr>
          <a:xfrm>
            <a:off x="8340480" y="2771640"/>
            <a:ext cx="42840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38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865B478-B508-48D2-9A11-99AED4508B69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Google Shape;213;p19"/>
          <p:cNvPicPr/>
          <p:nvPr/>
        </p:nvPicPr>
        <p:blipFill>
          <a:blip r:embed="rId1"/>
          <a:stretch/>
        </p:blipFill>
        <p:spPr>
          <a:xfrm>
            <a:off x="254160" y="266400"/>
            <a:ext cx="723240" cy="962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6" name="Google Shape;214;p19"/>
          <p:cNvGrpSpPr/>
          <p:nvPr/>
        </p:nvGrpSpPr>
        <p:grpSpPr>
          <a:xfrm>
            <a:off x="581040" y="1714680"/>
            <a:ext cx="5704920" cy="2094840"/>
            <a:chOff x="581040" y="1714680"/>
            <a:chExt cx="5704920" cy="2094840"/>
          </a:xfrm>
        </p:grpSpPr>
        <p:sp>
          <p:nvSpPr>
            <p:cNvPr id="167" name="Google Shape;215;p19"/>
            <p:cNvSpPr/>
            <p:nvPr/>
          </p:nvSpPr>
          <p:spPr>
            <a:xfrm>
              <a:off x="581040" y="1714680"/>
              <a:ext cx="5704920" cy="19047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f1f5f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Google Shape;216;p19"/>
            <p:cNvSpPr/>
            <p:nvPr/>
          </p:nvSpPr>
          <p:spPr>
            <a:xfrm>
              <a:off x="835560" y="1905120"/>
              <a:ext cx="519552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50" b="0" u="none" strike="noStrike">
                  <a:solidFill>
                    <a:srgbClr val="1e3a8a"/>
                  </a:solidFill>
                  <a:effectLst/>
                  <a:uFillTx/>
                  <a:latin typeface="Poppins SemiBold"/>
                  <a:ea typeface="Poppins SemiBold"/>
                </a:rPr>
                <a:t>Calificación Trimestral (1ºT / 2ºT)</a:t>
              </a:r>
              <a:endParaRPr lang="es-E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Google Shape;217;p19"/>
            <p:cNvSpPr/>
            <p:nvPr/>
          </p:nvSpPr>
          <p:spPr>
            <a:xfrm>
              <a:off x="835560" y="2286000"/>
              <a:ext cx="519552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334155"/>
                  </a:solidFill>
                  <a:effectLst/>
                  <a:uFillTx/>
                  <a:latin typeface="Lato"/>
                  <a:ea typeface="Lato"/>
                </a:rPr>
                <a:t>Media ponderada de los Resultados de Aprendizaje (RA) impartidos en el periodo según los instrumentos.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Google Shape;218;p19"/>
            <p:cNvSpPr/>
            <p:nvPr/>
          </p:nvSpPr>
          <p:spPr>
            <a:xfrm>
              <a:off x="835560" y="2905200"/>
              <a:ext cx="5195520" cy="475920"/>
            </a:xfrm>
            <a:prstGeom prst="roundRect">
              <a:avLst>
                <a:gd name="adj" fmla="val 12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Google Shape;219;p19"/>
            <p:cNvSpPr/>
            <p:nvPr/>
          </p:nvSpPr>
          <p:spPr>
            <a:xfrm>
              <a:off x="664560" y="2905200"/>
              <a:ext cx="5512320" cy="90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15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lang="en-US" sz="1300" b="0" i="1" u="none" strike="noStrike">
                  <a:solidFill>
                    <a:srgbClr val="1f1f1f"/>
                  </a:solidFill>
                  <a:effectLst/>
                  <a:uFillTx/>
                  <a:latin typeface="Google Sans"/>
                  <a:ea typeface="Google Sans"/>
                </a:rPr>
                <a:t>( (Nota RA1 x 40) + (Nota RA2 x 10) ) / 50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15000"/>
                </a:lnSpc>
                <a:spcBef>
                  <a:spcPts val="1001"/>
                </a:spcBef>
                <a:spcAft>
                  <a:spcPts val="1001"/>
                </a:spcAft>
                <a:tabLst>
                  <a:tab algn="l" pos="0"/>
                </a:tabLst>
              </a:pPr>
              <a:r>
                <a:rPr lang="en-US" sz="1000" b="1" i="1" u="none" strike="noStrike">
                  <a:solidFill>
                    <a:srgbClr val="1f1f1f"/>
                  </a:solidFill>
                  <a:effectLst/>
                  <a:uFillTx/>
                  <a:latin typeface="Google Sans"/>
                  <a:ea typeface="Google Sans"/>
                </a:rPr>
                <a:t> </a:t>
              </a:r>
              <a:r>
                <a:rPr lang="en-US" sz="1000" b="0" i="1" u="none" strike="noStrike">
                  <a:solidFill>
                    <a:srgbClr val="1f1f1f"/>
                  </a:solidFill>
                  <a:effectLst/>
                  <a:uFillTx/>
                  <a:latin typeface="Google Sans"/>
                  <a:ea typeface="Google Sans"/>
                </a:rPr>
                <a:t>(</a:t>
              </a:r>
              <a:r>
                <a:rPr lang="en-US" sz="1300" b="0" i="1" u="none" strike="noStrike">
                  <a:solidFill>
                    <a:srgbClr val="1f1f1f"/>
                  </a:solidFill>
                  <a:effectLst/>
                  <a:uFillTx/>
                  <a:latin typeface="Google Sans"/>
                  <a:ea typeface="Google Sans"/>
                </a:rPr>
                <a:t> (Nota RA2 x 15) + (Nota RA3 x 15) + (Nota RA4 x 10) + (Nota RA x 10) ) / 50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" name="Google Shape;220;p19"/>
          <p:cNvGrpSpPr/>
          <p:nvPr/>
        </p:nvGrpSpPr>
        <p:grpSpPr>
          <a:xfrm>
            <a:off x="6286680" y="1714680"/>
            <a:ext cx="5333760" cy="1904760"/>
            <a:chOff x="6286680" y="1714680"/>
            <a:chExt cx="5333760" cy="1904760"/>
          </a:xfrm>
        </p:grpSpPr>
        <p:sp>
          <p:nvSpPr>
            <p:cNvPr id="173" name="Google Shape;221;p19"/>
            <p:cNvSpPr/>
            <p:nvPr/>
          </p:nvSpPr>
          <p:spPr>
            <a:xfrm>
              <a:off x="6286680" y="1714680"/>
              <a:ext cx="5333760" cy="19047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f1f5f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Google Shape;222;p19"/>
            <p:cNvSpPr/>
            <p:nvPr/>
          </p:nvSpPr>
          <p:spPr>
            <a:xfrm>
              <a:off x="6524640" y="1905120"/>
              <a:ext cx="48574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50" b="0" u="none" strike="noStrike">
                  <a:solidFill>
                    <a:srgbClr val="1e3a8a"/>
                  </a:solidFill>
                  <a:effectLst/>
                  <a:uFillTx/>
                  <a:latin typeface="Poppins SemiBold"/>
                  <a:ea typeface="Poppins SemiBold"/>
                </a:rPr>
                <a:t>Evaluación Final Primera</a:t>
              </a:r>
              <a:endParaRPr lang="es-E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Google Shape;223;p19"/>
            <p:cNvSpPr/>
            <p:nvPr/>
          </p:nvSpPr>
          <p:spPr>
            <a:xfrm>
              <a:off x="6524640" y="2286000"/>
              <a:ext cx="485748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334155"/>
                  </a:solidFill>
                  <a:effectLst/>
                  <a:uFillTx/>
                  <a:latin typeface="Lato"/>
                  <a:ea typeface="Lato"/>
                </a:rPr>
                <a:t>Integración de la formación en centro con el 20% de la valoración Dual en los RAs seleccionados (RA5).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Google Shape;224;p19"/>
            <p:cNvSpPr/>
            <p:nvPr/>
          </p:nvSpPr>
          <p:spPr>
            <a:xfrm>
              <a:off x="6524640" y="2905200"/>
              <a:ext cx="4857480" cy="475920"/>
            </a:xfrm>
            <a:prstGeom prst="roundRect">
              <a:avLst>
                <a:gd name="adj" fmla="val 12000"/>
              </a:avLst>
            </a:prstGeom>
            <a:solidFill>
              <a:srgbClr val="ecfdf5"/>
            </a:solidFill>
            <a:ln w="9525">
              <a:solidFill>
                <a:srgbClr val="10b98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225;p19"/>
            <p:cNvSpPr/>
            <p:nvPr/>
          </p:nvSpPr>
          <p:spPr>
            <a:xfrm>
              <a:off x="6524640" y="2905200"/>
              <a:ext cx="485748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80" b="1" u="none" strike="noStrike">
                  <a:solidFill>
                    <a:srgbClr val="0f172a"/>
                  </a:solidFill>
                  <a:effectLst/>
                  <a:uFillTx/>
                  <a:latin typeface="Courier New"/>
                  <a:ea typeface="Courier New"/>
                </a:rPr>
                <a:t>Final_Ord = Σ (RA_Centro × 0.8 + Dual × 0.2)</a:t>
              </a:r>
              <a:endParaRPr lang="es-ES" sz="14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Google Shape;226;p19"/>
          <p:cNvGrpSpPr/>
          <p:nvPr/>
        </p:nvGrpSpPr>
        <p:grpSpPr>
          <a:xfrm>
            <a:off x="581040" y="3809880"/>
            <a:ext cx="11039040" cy="2095200"/>
            <a:chOff x="581040" y="3809880"/>
            <a:chExt cx="11039040" cy="2095200"/>
          </a:xfrm>
        </p:grpSpPr>
        <p:sp>
          <p:nvSpPr>
            <p:cNvPr id="179" name="Google Shape;227;p19"/>
            <p:cNvSpPr/>
            <p:nvPr/>
          </p:nvSpPr>
          <p:spPr>
            <a:xfrm>
              <a:off x="581040" y="3809880"/>
              <a:ext cx="11039040" cy="2095200"/>
            </a:xfrm>
            <a:prstGeom prst="roundRect">
              <a:avLst>
                <a:gd name="adj" fmla="val 5454"/>
              </a:avLst>
            </a:prstGeom>
            <a:solidFill>
              <a:srgbClr val="ffffff"/>
            </a:solidFill>
            <a:ln w="9525">
              <a:solidFill>
                <a:srgbClr val="f1f5f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228;p19"/>
            <p:cNvSpPr/>
            <p:nvPr/>
          </p:nvSpPr>
          <p:spPr>
            <a:xfrm>
              <a:off x="819000" y="4000680"/>
              <a:ext cx="104770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50" b="0" u="none" strike="noStrike">
                  <a:solidFill>
                    <a:srgbClr val="1e3a8a"/>
                  </a:solidFill>
                  <a:effectLst/>
                  <a:uFillTx/>
                  <a:latin typeface="Poppins SemiBold"/>
                  <a:ea typeface="Poppins SemiBold"/>
                </a:rPr>
                <a:t>Evaluación Final Segunda</a:t>
              </a:r>
              <a:endParaRPr lang="es-E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29;p19"/>
            <p:cNvSpPr/>
            <p:nvPr/>
          </p:nvSpPr>
          <p:spPr>
            <a:xfrm>
              <a:off x="819000" y="4381560"/>
              <a:ext cx="5143320" cy="12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334155"/>
                  </a:solidFill>
                  <a:effectLst/>
                  <a:uFillTx/>
                  <a:latin typeface="Lato"/>
                  <a:ea typeface="Lato"/>
                </a:rPr>
                <a:t>Para el alumnado con RAs suspensos (&lt; 5) o pérdida de evaluación continua.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334155"/>
                  </a:solidFill>
                  <a:effectLst/>
                  <a:uFillTx/>
                  <a:latin typeface="Lato"/>
                  <a:ea typeface="Lato"/>
                </a:rPr>
                <a:t>1. Prueba global de RAs suspensos.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334155"/>
                  </a:solidFill>
                  <a:effectLst/>
                  <a:uFillTx/>
                  <a:latin typeface="Lato"/>
                  <a:ea typeface="Lato"/>
                </a:rPr>
                <a:t>2. Entrega y defensa de prácticas Moodle.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30;p19"/>
            <p:cNvSpPr/>
            <p:nvPr/>
          </p:nvSpPr>
          <p:spPr>
            <a:xfrm>
              <a:off x="6200640" y="4476600"/>
              <a:ext cx="5143320" cy="1142640"/>
            </a:xfrm>
            <a:prstGeom prst="roundRect">
              <a:avLst>
                <a:gd name="adj" fmla="val 5000"/>
              </a:avLst>
            </a:prstGeom>
            <a:solidFill>
              <a:srgbClr val="fff7ed"/>
            </a:solidFill>
            <a:ln w="9525">
              <a:solidFill>
                <a:srgbClr val="f9731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31;p19"/>
            <p:cNvSpPr/>
            <p:nvPr/>
          </p:nvSpPr>
          <p:spPr>
            <a:xfrm>
              <a:off x="6200640" y="4476600"/>
              <a:ext cx="514332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15000"/>
                </a:lnSpc>
                <a:tabLst>
                  <a:tab algn="l" pos="0"/>
                </a:tabLst>
              </a:pPr>
              <a:r>
                <a:rPr lang="en-US" sz="1300" b="0" i="1" u="none" strike="noStrike">
                  <a:solidFill>
                    <a:srgbClr val="1f1f1f"/>
                  </a:solidFill>
                  <a:effectLst/>
                  <a:uFillTx/>
                  <a:latin typeface="Google Sans"/>
                  <a:ea typeface="Google Sans"/>
                </a:rPr>
                <a:t>RA1 x 0.4 + RA2 x 0.25 + RA3 x 0.15 + RA4 x 0.1 + RA5 x 0.1</a:t>
              </a:r>
              <a:endPara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" name="Google Shape;232;p19"/>
          <p:cNvSpPr/>
          <p:nvPr/>
        </p:nvSpPr>
        <p:spPr>
          <a:xfrm>
            <a:off x="4320000" y="424080"/>
            <a:ext cx="7483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Calificaciones y </a:t>
            </a:r>
            <a:r>
              <a:rPr lang="en-US" sz="28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Fórmulas Finales</a:t>
            </a:r>
            <a:endParaRPr lang="es-E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237;p20"/>
          <p:cNvSpPr/>
          <p:nvPr/>
        </p:nvSpPr>
        <p:spPr>
          <a:xfrm>
            <a:off x="4320000" y="406080"/>
            <a:ext cx="8055720" cy="8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Requisitos para Superar el </a:t>
            </a:r>
            <a:r>
              <a:rPr lang="en-US" sz="28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Módulo</a:t>
            </a:r>
            <a:endParaRPr lang="es-E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8;p20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39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CF30A4-35B4-4FA0-AB1B-63957A9838B8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Google Shape;240;p20"/>
          <p:cNvPicPr/>
          <p:nvPr/>
        </p:nvPicPr>
        <p:blipFill>
          <a:blip r:embed="rId1"/>
          <a:stretch/>
        </p:blipFill>
        <p:spPr>
          <a:xfrm>
            <a:off x="254160" y="266400"/>
            <a:ext cx="723240" cy="96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Google Shape;241;p20"/>
          <p:cNvSpPr/>
          <p:nvPr/>
        </p:nvSpPr>
        <p:spPr>
          <a:xfrm>
            <a:off x="914400" y="2571840"/>
            <a:ext cx="106963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Nota Mínima por Bloque: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Se requiere obtener obligatoriamente una calificación </a:t>
            </a: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&gt;= 5.0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tanto en las pruebas como en las prácticas de Moodle.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42;p20"/>
          <p:cNvSpPr/>
          <p:nvPr/>
        </p:nvSpPr>
        <p:spPr>
          <a:xfrm>
            <a:off x="914400" y="3228840"/>
            <a:ext cx="106963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Recuperaciones Parciales: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Mientras no se pierda la evaluación continua, después de cada trimestre y antes del periódo DUAL.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43;p20"/>
          <p:cNvSpPr/>
          <p:nvPr/>
        </p:nvSpPr>
        <p:spPr>
          <a:xfrm>
            <a:off x="914400" y="3886200"/>
            <a:ext cx="106963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Pérdida de Evaluación Continua: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Superar el 20</a:t>
            </a: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% de faltas sin justificar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(17 horas lectivas) invalida el derecho a entregas y obliga a realizar una prueba global en las evaluación finales.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44;p20"/>
          <p:cNvSpPr/>
          <p:nvPr/>
        </p:nvSpPr>
        <p:spPr>
          <a:xfrm>
            <a:off x="914400" y="4757760"/>
            <a:ext cx="106963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Suficiencia (Final Segunda):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En caso de suspenso, se irá a examen global defendiendo de manera oral ante el profesorado todas las prácticas establecidas por el profesor.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45;p20" descr="image.png"/>
          <p:cNvPicPr/>
          <p:nvPr/>
        </p:nvPicPr>
        <p:blipFill>
          <a:blip r:embed="rId2"/>
          <a:stretch/>
        </p:blipFill>
        <p:spPr>
          <a:xfrm>
            <a:off x="628560" y="260496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oogle Shape;246;p20" descr="image.png"/>
          <p:cNvPicPr/>
          <p:nvPr/>
        </p:nvPicPr>
        <p:blipFill>
          <a:blip r:embed="rId3"/>
          <a:stretch/>
        </p:blipFill>
        <p:spPr>
          <a:xfrm>
            <a:off x="628560" y="326232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247;p20" descr="image.png"/>
          <p:cNvPicPr/>
          <p:nvPr/>
        </p:nvPicPr>
        <p:blipFill>
          <a:blip r:embed="rId4"/>
          <a:stretch/>
        </p:blipFill>
        <p:spPr>
          <a:xfrm>
            <a:off x="628560" y="391968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248;p20" descr="image.png"/>
          <p:cNvPicPr/>
          <p:nvPr/>
        </p:nvPicPr>
        <p:blipFill>
          <a:blip r:embed="rId5"/>
          <a:stretch/>
        </p:blipFill>
        <p:spPr>
          <a:xfrm>
            <a:off x="628560" y="4757760"/>
            <a:ext cx="171000" cy="18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253;p21" descr="image.png"/>
          <p:cNvPicPr/>
          <p:nvPr/>
        </p:nvPicPr>
        <p:blipFill>
          <a:blip r:embed="rId1"/>
          <a:stretch/>
        </p:blipFill>
        <p:spPr>
          <a:xfrm>
            <a:off x="571680" y="2629800"/>
            <a:ext cx="3524040" cy="307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254;p21" descr="image.png"/>
          <p:cNvPicPr/>
          <p:nvPr/>
        </p:nvPicPr>
        <p:blipFill>
          <a:blip r:embed="rId2"/>
          <a:stretch/>
        </p:blipFill>
        <p:spPr>
          <a:xfrm>
            <a:off x="4334040" y="2629800"/>
            <a:ext cx="3524040" cy="307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255;p21" descr="image.png"/>
          <p:cNvPicPr/>
          <p:nvPr/>
        </p:nvPicPr>
        <p:blipFill>
          <a:blip r:embed="rId3"/>
          <a:stretch/>
        </p:blipFill>
        <p:spPr>
          <a:xfrm>
            <a:off x="8096400" y="2629800"/>
            <a:ext cx="3524040" cy="30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Google Shape;256;p21"/>
          <p:cNvSpPr/>
          <p:nvPr/>
        </p:nvSpPr>
        <p:spPr>
          <a:xfrm>
            <a:off x="4320000" y="360000"/>
            <a:ext cx="807696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Unidad 1 y 2: Entorno y Gestores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57;p21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58;p21"/>
          <p:cNvSpPr/>
          <p:nvPr/>
        </p:nvSpPr>
        <p:spPr>
          <a:xfrm>
            <a:off x="86688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Arquitectura Servidor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59;p21"/>
          <p:cNvSpPr/>
          <p:nvPr/>
        </p:nvSpPr>
        <p:spPr>
          <a:xfrm>
            <a:off x="866880" y="3915720"/>
            <a:ext cx="2933280" cy="10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Instalación y configuración inicial de servicios Apache, bases de datos MariaDB y entorno de ejecución PHP sobre sistemas Windows/Linux de manera local.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60;p21"/>
          <p:cNvSpPr/>
          <p:nvPr/>
        </p:nvSpPr>
        <p:spPr>
          <a:xfrm>
            <a:off x="462924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Maquetación Web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61;p21"/>
          <p:cNvSpPr/>
          <p:nvPr/>
        </p:nvSpPr>
        <p:spPr>
          <a:xfrm>
            <a:off x="4629240" y="3915720"/>
            <a:ext cx="2933280" cy="14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Comprensión del lenguaje de marcas estructurado HTML5 y hojas de estilo CSS3 para personalizar temas, widgets y cabeceras dentro de los entornos corporativos.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62;p21"/>
          <p:cNvSpPr/>
          <p:nvPr/>
        </p:nvSpPr>
        <p:spPr>
          <a:xfrm>
            <a:off x="839160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Gestión de Contenidos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63;p21"/>
          <p:cNvSpPr/>
          <p:nvPr/>
        </p:nvSpPr>
        <p:spPr>
          <a:xfrm>
            <a:off x="8391600" y="3915720"/>
            <a:ext cx="2933280" cy="13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Despliegue ágil de WordPress: creación de entradas, estructuración de menús, gestión de permisos para editores e instalación y securización de plugins esenciales.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Google Shape;264;p21" descr="image.png"/>
          <p:cNvPicPr/>
          <p:nvPr/>
        </p:nvPicPr>
        <p:blipFill>
          <a:blip r:embed="rId4"/>
          <a:stretch/>
        </p:blipFill>
        <p:spPr>
          <a:xfrm>
            <a:off x="866880" y="29725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oogle Shape;265;p21" descr="image.png"/>
          <p:cNvPicPr/>
          <p:nvPr/>
        </p:nvPicPr>
        <p:blipFill>
          <a:blip r:embed="rId5"/>
          <a:stretch/>
        </p:blipFill>
        <p:spPr>
          <a:xfrm>
            <a:off x="4629240" y="297252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266;p21" descr="image.png"/>
          <p:cNvPicPr/>
          <p:nvPr/>
        </p:nvPicPr>
        <p:blipFill>
          <a:blip r:embed="rId6"/>
          <a:stretch/>
        </p:blipFill>
        <p:spPr>
          <a:xfrm>
            <a:off x="8391600" y="29725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PlaceHolder 1"/>
          <p:cNvSpPr>
            <a:spLocks noGrp="1"/>
          </p:cNvSpPr>
          <p:nvPr>
            <p:ph type="sldNum" idx="40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AC37F0E-BC76-45A4-A027-6470DC3EE0F0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72;p22" descr="image.png"/>
          <p:cNvPicPr/>
          <p:nvPr/>
        </p:nvPicPr>
        <p:blipFill>
          <a:blip r:embed="rId1"/>
          <a:stretch/>
        </p:blipFill>
        <p:spPr>
          <a:xfrm>
            <a:off x="571680" y="2629800"/>
            <a:ext cx="3524040" cy="269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oogle Shape;273;p22" descr="image.png"/>
          <p:cNvPicPr/>
          <p:nvPr/>
        </p:nvPicPr>
        <p:blipFill>
          <a:blip r:embed="rId2"/>
          <a:stretch/>
        </p:blipFill>
        <p:spPr>
          <a:xfrm>
            <a:off x="4334040" y="2629800"/>
            <a:ext cx="3524040" cy="269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Google Shape;274;p22" descr="image.png"/>
          <p:cNvPicPr/>
          <p:nvPr/>
        </p:nvPicPr>
        <p:blipFill>
          <a:blip r:embed="rId3"/>
          <a:stretch/>
        </p:blipFill>
        <p:spPr>
          <a:xfrm>
            <a:off x="8096400" y="2629800"/>
            <a:ext cx="3524040" cy="269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Google Shape;275;p22"/>
          <p:cNvSpPr/>
          <p:nvPr/>
        </p:nvSpPr>
        <p:spPr>
          <a:xfrm>
            <a:off x="4320000" y="360000"/>
            <a:ext cx="807696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Unidad 3 y 4: Nube, LMS y Ofimática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76;p22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77;p22"/>
          <p:cNvSpPr/>
          <p:nvPr/>
        </p:nvSpPr>
        <p:spPr>
          <a:xfrm>
            <a:off x="86688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Sistemas E-Learning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78;p22"/>
          <p:cNvSpPr/>
          <p:nvPr/>
        </p:nvSpPr>
        <p:spPr>
          <a:xfrm>
            <a:off x="866880" y="3915720"/>
            <a:ext cx="2933280" cy="10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Implantación guiada de Moodle. Matriculación de alumnos, asignación de roles técnicos, backup de cursos y configuración de calificaciones.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79;p22"/>
          <p:cNvSpPr/>
          <p:nvPr/>
        </p:nvSpPr>
        <p:spPr>
          <a:xfrm>
            <a:off x="462924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Archivos en la Nube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80;p22"/>
          <p:cNvSpPr/>
          <p:nvPr/>
        </p:nvSpPr>
        <p:spPr>
          <a:xfrm>
            <a:off x="4629240" y="3915720"/>
            <a:ext cx="2933280" cy="10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Despliegue autónomo de Nextcloud. Administración del almacenamiento, asignación de cuotas estrictas a usuarios y compartición segura de recursos.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81;p22"/>
          <p:cNvSpPr/>
          <p:nvPr/>
        </p:nvSpPr>
        <p:spPr>
          <a:xfrm>
            <a:off x="8391600" y="3534840"/>
            <a:ext cx="308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Ofimática Colaborativa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82;p22"/>
          <p:cNvSpPr/>
          <p:nvPr/>
        </p:nvSpPr>
        <p:spPr>
          <a:xfrm>
            <a:off x="8391600" y="3915720"/>
            <a:ext cx="2933280" cy="10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Integración y uso productivo de suites ofimáticas integradas en la nube (Google Workspace / Microsoft 365) analizando sus ventajas de productividad.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Google Shape;283;p22" descr="image.png"/>
          <p:cNvPicPr/>
          <p:nvPr/>
        </p:nvPicPr>
        <p:blipFill>
          <a:blip r:embed="rId4"/>
          <a:stretch/>
        </p:blipFill>
        <p:spPr>
          <a:xfrm>
            <a:off x="866880" y="297252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Google Shape;284;p22" descr="image.png"/>
          <p:cNvPicPr/>
          <p:nvPr/>
        </p:nvPicPr>
        <p:blipFill>
          <a:blip r:embed="rId5"/>
          <a:stretch/>
        </p:blipFill>
        <p:spPr>
          <a:xfrm>
            <a:off x="4629240" y="297252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oogle Shape;285;p22" descr="image.png"/>
          <p:cNvPicPr/>
          <p:nvPr/>
        </p:nvPicPr>
        <p:blipFill>
          <a:blip r:embed="rId6"/>
          <a:stretch/>
        </p:blipFill>
        <p:spPr>
          <a:xfrm>
            <a:off x="8391600" y="2972520"/>
            <a:ext cx="25668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sldNum" idx="41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74E893-9565-4551-9F37-36A2EDFFC05E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91;p23" descr="image.png"/>
          <p:cNvPicPr/>
          <p:nvPr/>
        </p:nvPicPr>
        <p:blipFill>
          <a:blip r:embed="rId1"/>
          <a:stretch/>
        </p:blipFill>
        <p:spPr>
          <a:xfrm>
            <a:off x="571680" y="1258920"/>
            <a:ext cx="11048760" cy="512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Google Shape;292;p23"/>
          <p:cNvSpPr/>
          <p:nvPr/>
        </p:nvSpPr>
        <p:spPr>
          <a:xfrm>
            <a:off x="4320000" y="360000"/>
            <a:ext cx="80557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Estrategia de Evaluación del Módulo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93;p23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94;p23"/>
          <p:cNvSpPr/>
          <p:nvPr/>
        </p:nvSpPr>
        <p:spPr>
          <a:xfrm>
            <a:off x="571680" y="4525200"/>
            <a:ext cx="11048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350" b="0" i="1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El calificador oficial de Moodle Centros está parametrizado por criterios de evaluación específicos para un seguimiento transparente y continuo.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sldNum" idx="42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134DFB5-8BA9-4201-8DCB-A6350829D4A4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300;p24" descr="image.png"/>
          <p:cNvPicPr/>
          <p:nvPr/>
        </p:nvPicPr>
        <p:blipFill>
          <a:blip r:embed="rId1"/>
          <a:stretch/>
        </p:blipFill>
        <p:spPr>
          <a:xfrm>
            <a:off x="571680" y="2620440"/>
            <a:ext cx="110487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301;p24" descr="image.png"/>
          <p:cNvPicPr/>
          <p:nvPr/>
        </p:nvPicPr>
        <p:blipFill>
          <a:blip r:embed="rId2"/>
          <a:stretch/>
        </p:blipFill>
        <p:spPr>
          <a:xfrm>
            <a:off x="571680" y="3467880"/>
            <a:ext cx="110487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302;p24" descr="image.png"/>
          <p:cNvPicPr/>
          <p:nvPr/>
        </p:nvPicPr>
        <p:blipFill>
          <a:blip r:embed="rId3"/>
          <a:stretch/>
        </p:blipFill>
        <p:spPr>
          <a:xfrm>
            <a:off x="571680" y="4315680"/>
            <a:ext cx="11048760" cy="7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Google Shape;303;p24"/>
          <p:cNvSpPr/>
          <p:nvPr/>
        </p:nvSpPr>
        <p:spPr>
          <a:xfrm>
            <a:off x="4364280" y="360000"/>
            <a:ext cx="80557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Requisitos para Superar el Módulo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04;p24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Google Shape;305;p24" descr="image.png"/>
          <p:cNvPicPr/>
          <p:nvPr/>
        </p:nvPicPr>
        <p:blipFill>
          <a:blip r:embed="rId4"/>
          <a:stretch/>
        </p:blipFill>
        <p:spPr>
          <a:xfrm>
            <a:off x="771480" y="282996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Google Shape;306;p24"/>
          <p:cNvSpPr/>
          <p:nvPr/>
        </p:nvSpPr>
        <p:spPr>
          <a:xfrm>
            <a:off x="1104840" y="2772720"/>
            <a:ext cx="25459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Nota Mínima Exigida (&gt;= 5.0):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07;p24"/>
          <p:cNvSpPr/>
          <p:nvPr/>
        </p:nvSpPr>
        <p:spPr>
          <a:xfrm>
            <a:off x="1104840" y="2972880"/>
            <a:ext cx="10239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Es indispensable obtener una calificación igual o superior a 5.0 de forma independiente tanto en las pruebas de control como prácticas.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Google Shape;308;p24" descr="image.png"/>
          <p:cNvPicPr/>
          <p:nvPr/>
        </p:nvPicPr>
        <p:blipFill>
          <a:blip r:embed="rId5"/>
          <a:stretch/>
        </p:blipFill>
        <p:spPr>
          <a:xfrm>
            <a:off x="771480" y="36774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Google Shape;309;p24"/>
          <p:cNvSpPr/>
          <p:nvPr/>
        </p:nvSpPr>
        <p:spPr>
          <a:xfrm>
            <a:off x="1104840" y="3620520"/>
            <a:ext cx="27151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Control de Asistencia Riguroso: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10;p24"/>
          <p:cNvSpPr/>
          <p:nvPr/>
        </p:nvSpPr>
        <p:spPr>
          <a:xfrm>
            <a:off x="1104840" y="3820320"/>
            <a:ext cx="100296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La superación del 20% de faltas de asistencia (17 horas lectivas) conlleva la pérdida del derecho a la evaluación continua en el centro educativo.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Google Shape;311;p24" descr="image.png"/>
          <p:cNvPicPr/>
          <p:nvPr/>
        </p:nvPicPr>
        <p:blipFill>
          <a:blip r:embed="rId6"/>
          <a:stretch/>
        </p:blipFill>
        <p:spPr>
          <a:xfrm>
            <a:off x="771480" y="45252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Google Shape;312;p24"/>
          <p:cNvSpPr/>
          <p:nvPr/>
        </p:nvSpPr>
        <p:spPr>
          <a:xfrm>
            <a:off x="1104840" y="4467960"/>
            <a:ext cx="309636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Convocatoria Extraordinaria (Junio):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13;p24"/>
          <p:cNvSpPr/>
          <p:nvPr/>
        </p:nvSpPr>
        <p:spPr>
          <a:xfrm>
            <a:off x="1104840" y="4668120"/>
            <a:ext cx="101552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Se recuperaran los RA no superados. Ante la pérdida de evaluación continua, se irá a prueba global de los RA y defensa oral de las tareas pendientes.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sldNum" idx="43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0DEDBEE-DB73-4620-A7AB-1D12F59CB54E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319;p25" descr="image.png"/>
          <p:cNvPicPr/>
          <p:nvPr/>
        </p:nvPicPr>
        <p:blipFill>
          <a:blip r:embed="rId1"/>
          <a:stretch/>
        </p:blipFill>
        <p:spPr>
          <a:xfrm>
            <a:off x="571680" y="2296440"/>
            <a:ext cx="304776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Google Shape;320;p25"/>
          <p:cNvSpPr/>
          <p:nvPr/>
        </p:nvSpPr>
        <p:spPr>
          <a:xfrm>
            <a:off x="4320000" y="360000"/>
            <a:ext cx="80665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Estancia de Alternancia Dual (3º Trimestre)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21;p25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Google Shape;322;p25" descr="image.png"/>
          <p:cNvPicPr/>
          <p:nvPr/>
        </p:nvPicPr>
        <p:blipFill>
          <a:blip r:embed="rId2"/>
          <a:stretch/>
        </p:blipFill>
        <p:spPr>
          <a:xfrm>
            <a:off x="609480" y="2334600"/>
            <a:ext cx="297144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Google Shape;323;p25"/>
          <p:cNvSpPr/>
          <p:nvPr/>
        </p:nvSpPr>
        <p:spPr>
          <a:xfrm>
            <a:off x="4286160" y="1808640"/>
            <a:ext cx="77007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Fase de Formación Dual en Empresa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24;p25"/>
          <p:cNvSpPr/>
          <p:nvPr/>
        </p:nvSpPr>
        <p:spPr>
          <a:xfrm>
            <a:off x="4286160" y="2296440"/>
            <a:ext cx="733392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El alumnado completará su formación en las empresas colaboradoras del sector TIC de la provincia de Almería durante el tercer trimestre de las enseñanzas.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25;p25"/>
          <p:cNvSpPr/>
          <p:nvPr/>
        </p:nvSpPr>
        <p:spPr>
          <a:xfrm>
            <a:off x="4286160" y="3067200"/>
            <a:ext cx="7333920" cy="12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Se ha seleccionado para la evaluación e integración con la calificación final en un 20%.: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RA1 - Criterio de Evaluación j):</a:t>
            </a: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 </a:t>
            </a:r>
            <a:r>
              <a:rPr lang="en-US" sz="1300" b="0" i="1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Se han realizado copias de seguridad de los contenidos del gestor.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RA2 - Criterio de Evaluación f):</a:t>
            </a: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 </a:t>
            </a:r>
            <a:r>
              <a:rPr lang="en-US" sz="1300" b="0" i="1" u="none" strike="noStrike">
                <a:solidFill>
                  <a:srgbClr val="1f1f1f"/>
                </a:solidFill>
                <a:effectLst/>
                <a:uFillTx/>
                <a:latin typeface="Google Sans"/>
                <a:ea typeface="Google Sans"/>
              </a:rPr>
              <a:t>Se han importado y exportado contenidos en distintos formatos.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26;p25"/>
          <p:cNvSpPr/>
          <p:nvPr/>
        </p:nvSpPr>
        <p:spPr>
          <a:xfrm>
            <a:off x="4286160" y="4298760"/>
            <a:ext cx="733392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Se asume el control estricto de asistencia y se requiere excelente actitud y compromiso profesional diario.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44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2F5004-5587-4984-9F7B-377F09FA283C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332;p26"/>
          <p:cNvSpPr/>
          <p:nvPr/>
        </p:nvSpPr>
        <p:spPr>
          <a:xfrm>
            <a:off x="4320000" y="476280"/>
            <a:ext cx="80503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64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Normas en el </a:t>
            </a:r>
            <a:r>
              <a:rPr lang="en-US" sz="264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aula</a:t>
            </a:r>
            <a:endParaRPr lang="es-E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33;p26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sldNum" idx="45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B38F3C2-E129-40A8-A73F-00044EE73836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59" name="Google Shape;335;p26"/>
          <p:cNvGrpSpPr/>
          <p:nvPr/>
        </p:nvGrpSpPr>
        <p:grpSpPr>
          <a:xfrm>
            <a:off x="581040" y="1714680"/>
            <a:ext cx="11029680" cy="3333600"/>
            <a:chOff x="581040" y="1714680"/>
            <a:chExt cx="11029680" cy="3333600"/>
          </a:xfrm>
        </p:grpSpPr>
        <p:sp>
          <p:nvSpPr>
            <p:cNvPr id="260" name="Google Shape;336;p26"/>
            <p:cNvSpPr/>
            <p:nvPr/>
          </p:nvSpPr>
          <p:spPr>
            <a:xfrm>
              <a:off x="581040" y="1714680"/>
              <a:ext cx="11029680" cy="333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s-E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Google Shape;337;p26"/>
            <p:cNvSpPr/>
            <p:nvPr/>
          </p:nvSpPr>
          <p:spPr>
            <a:xfrm>
              <a:off x="581040" y="1714680"/>
              <a:ext cx="11029680" cy="333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457200" indent="-343080">
                <a:lnSpc>
                  <a:spcPct val="100000"/>
                </a:lnSpc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Puestos fijos: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Mantener siempre el mismo lugar asignado.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Uso responsable: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Cuidar el equipamiento y los recursos del aula.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Incidencias: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Avisar inmediatamente de cualquier fallo o anomalía.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Copias de seguridad: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Responsabilidad del alumno sobre sus máquinas virtuales.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Uso de portátiles: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Permitido únicamente para fines académicos bajo supervisión.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Uso de móviles: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1800" b="1" u="none" strike="noStrike">
                  <a:solidFill>
                    <a:srgbClr val="dc2626"/>
                  </a:solidFill>
                  <a:effectLst/>
                  <a:uFillTx/>
                  <a:latin typeface="Poppins"/>
                  <a:ea typeface="Poppins"/>
                </a:rPr>
                <a:t>PROHIBIDO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durante toda la sesión lectiva.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43080">
                <a:lnSpc>
                  <a:spcPct val="100000"/>
                </a:lnSpc>
                <a:spcBef>
                  <a:spcPts val="901"/>
                </a:spcBef>
                <a:buClr>
                  <a:srgbClr val="334155"/>
                </a:buClr>
                <a:buFont typeface="Poppins"/>
                <a:buChar char="●"/>
              </a:pPr>
              <a:r>
                <a:rPr lang="en-US" sz="1800" b="0" u="none" strike="noStrike">
                  <a:solidFill>
                    <a:srgbClr val="059669"/>
                  </a:solidFill>
                  <a:effectLst/>
                  <a:uFillTx/>
                  <a:latin typeface="Poppins SemiBold"/>
                  <a:ea typeface="Poppins SemiBold"/>
                </a:rPr>
                <a:t>Entrada / Salida:</a:t>
              </a:r>
              <a:r>
                <a:rPr lang="en-US" sz="1800" b="0" u="none" strike="noStrike">
                  <a:solidFill>
                    <a:srgbClr val="334155"/>
                  </a:solidFill>
                  <a:effectLst/>
                  <a:uFillTx/>
                  <a:latin typeface="Poppins"/>
                  <a:ea typeface="Poppins"/>
                </a:rPr>
                <a:t> Respetar los turnos y el orden al entrar o salir del aula.</a:t>
              </a:r>
              <a:endPara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62" name="Google Shape;338;p26" descr="utiliza iconos en la lista"/>
          <p:cNvPicPr/>
          <p:nvPr/>
        </p:nvPicPr>
        <p:blipFill>
          <a:blip r:embed="rId1"/>
          <a:srcRect l="2066" t="25192" r="92089" b="21555"/>
          <a:stretch/>
        </p:blipFill>
        <p:spPr>
          <a:xfrm>
            <a:off x="314640" y="1816200"/>
            <a:ext cx="591480" cy="301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343;p27"/>
          <p:cNvSpPr/>
          <p:nvPr/>
        </p:nvSpPr>
        <p:spPr>
          <a:xfrm>
            <a:off x="4364280" y="360000"/>
            <a:ext cx="80557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Filosofía de Trabajo del Módulo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44;p27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45;p27"/>
          <p:cNvSpPr/>
          <p:nvPr/>
        </p:nvSpPr>
        <p:spPr>
          <a:xfrm>
            <a:off x="1809720" y="2676600"/>
            <a:ext cx="8572320" cy="19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La informática no se aprende memorizando comandos o viendo capturas; se aprende instalando los servicios, configurando sus parámetros, analizando los logs de error y resolviendo los fallos por uno mismo.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46;p27"/>
          <p:cNvSpPr/>
          <p:nvPr/>
        </p:nvSpPr>
        <p:spPr>
          <a:xfrm>
            <a:off x="3652920" y="4754880"/>
            <a:ext cx="4885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Lato"/>
                <a:ea typeface="Lato"/>
              </a:rPr>
              <a:t>— Acuerdo Pedagógico de Aula, Dpto. Informática IES Celia Viñas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47;p27"/>
          <p:cNvSpPr/>
          <p:nvPr/>
        </p:nvSpPr>
        <p:spPr>
          <a:xfrm>
            <a:off x="1428840" y="2390760"/>
            <a:ext cx="285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6000" b="0" u="none" strike="noStrike">
                <a:solidFill>
                  <a:srgbClr val="bfdbfe"/>
                </a:solidFill>
                <a:effectLst/>
                <a:uFillTx/>
                <a:latin typeface="Poppins"/>
                <a:ea typeface="Poppins"/>
              </a:rPr>
              <a:t>“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48;p27"/>
          <p:cNvSpPr/>
          <p:nvPr/>
        </p:nvSpPr>
        <p:spPr>
          <a:xfrm>
            <a:off x="10477440" y="4192920"/>
            <a:ext cx="285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6000" b="0" u="none" strike="noStrike">
                <a:solidFill>
                  <a:srgbClr val="bfdbfe"/>
                </a:solidFill>
                <a:effectLst/>
                <a:uFillTx/>
                <a:latin typeface="Poppins"/>
                <a:ea typeface="Poppins"/>
              </a:rPr>
              <a:t>”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sldNum" idx="46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50E9B91-37CE-4F35-9F2D-B14E4845583E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354;p28" descr="image.png"/>
          <p:cNvPicPr/>
          <p:nvPr/>
        </p:nvPicPr>
        <p:blipFill>
          <a:blip r:embed="rId1"/>
          <a:stretch/>
        </p:blipFill>
        <p:spPr>
          <a:xfrm>
            <a:off x="2286000" y="3996720"/>
            <a:ext cx="2381040" cy="13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355;p28" descr="image.png"/>
          <p:cNvPicPr/>
          <p:nvPr/>
        </p:nvPicPr>
        <p:blipFill>
          <a:blip r:embed="rId2"/>
          <a:stretch/>
        </p:blipFill>
        <p:spPr>
          <a:xfrm>
            <a:off x="4905360" y="3996720"/>
            <a:ext cx="2381040" cy="13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Google Shape;356;p28" descr="image.png"/>
          <p:cNvPicPr/>
          <p:nvPr/>
        </p:nvPicPr>
        <p:blipFill>
          <a:blip r:embed="rId3"/>
          <a:stretch/>
        </p:blipFill>
        <p:spPr>
          <a:xfrm>
            <a:off x="7524720" y="3996720"/>
            <a:ext cx="2381040" cy="131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Google Shape;357;p28"/>
          <p:cNvSpPr/>
          <p:nvPr/>
        </p:nvSpPr>
        <p:spPr>
          <a:xfrm>
            <a:off x="4116960" y="476280"/>
            <a:ext cx="805572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Dudas y Canales de Comunicación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58;p28"/>
          <p:cNvSpPr/>
          <p:nvPr/>
        </p:nvSpPr>
        <p:spPr>
          <a:xfrm>
            <a:off x="571680" y="1001880"/>
            <a:ext cx="1104876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59;p28"/>
          <p:cNvSpPr/>
          <p:nvPr/>
        </p:nvSpPr>
        <p:spPr>
          <a:xfrm>
            <a:off x="295200" y="2329920"/>
            <a:ext cx="116010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500" b="1" u="none" strike="noStrike">
                <a:solidFill>
                  <a:srgbClr val="2563eb"/>
                </a:solidFill>
                <a:effectLst/>
                <a:uFillTx/>
                <a:latin typeface="Poppins"/>
                <a:ea typeface="Poppins"/>
              </a:rPr>
              <a:t>¿Alguna Pregunta?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60;p28"/>
          <p:cNvSpPr/>
          <p:nvPr/>
        </p:nvSpPr>
        <p:spPr>
          <a:xfrm>
            <a:off x="571680" y="3377520"/>
            <a:ext cx="11048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¡Bienvenidos al curso académico 2026/2027! Toda la información de aula está disponible en Moodle.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Google Shape;361;p28" descr="image.png"/>
          <p:cNvPicPr/>
          <p:nvPr/>
        </p:nvPicPr>
        <p:blipFill>
          <a:blip r:embed="rId4"/>
          <a:stretch/>
        </p:blipFill>
        <p:spPr>
          <a:xfrm>
            <a:off x="3362400" y="42444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Google Shape;362;p28"/>
          <p:cNvSpPr/>
          <p:nvPr/>
        </p:nvSpPr>
        <p:spPr>
          <a:xfrm>
            <a:off x="2486520" y="4587120"/>
            <a:ext cx="1980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Poppins"/>
                <a:ea typeface="Poppins"/>
              </a:rPr>
              <a:t>CORREO ELECTRÓNICO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63;p28"/>
          <p:cNvSpPr/>
          <p:nvPr/>
        </p:nvSpPr>
        <p:spPr>
          <a:xfrm>
            <a:off x="2533680" y="4834800"/>
            <a:ext cx="188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jsansan766@g.educaand.es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Google Shape;364;p28" descr="image.png"/>
          <p:cNvPicPr/>
          <p:nvPr/>
        </p:nvPicPr>
        <p:blipFill>
          <a:blip r:embed="rId5"/>
          <a:stretch/>
        </p:blipFill>
        <p:spPr>
          <a:xfrm>
            <a:off x="5952960" y="424440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Google Shape;365;p28"/>
          <p:cNvSpPr/>
          <p:nvPr/>
        </p:nvSpPr>
        <p:spPr>
          <a:xfrm>
            <a:off x="5105880" y="4587120"/>
            <a:ext cx="1980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Poppins"/>
                <a:ea typeface="Poppins"/>
              </a:rPr>
              <a:t>AULA VIRTUAL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66;p28"/>
          <p:cNvSpPr/>
          <p:nvPr/>
        </p:nvSpPr>
        <p:spPr>
          <a:xfrm>
            <a:off x="5153040" y="4834800"/>
            <a:ext cx="188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Moodle Centros Almería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Google Shape;367;p28" descr="image.png"/>
          <p:cNvPicPr/>
          <p:nvPr/>
        </p:nvPicPr>
        <p:blipFill>
          <a:blip r:embed="rId6"/>
          <a:stretch/>
        </p:blipFill>
        <p:spPr>
          <a:xfrm>
            <a:off x="8629560" y="4244400"/>
            <a:ext cx="1710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Google Shape;368;p28"/>
          <p:cNvSpPr/>
          <p:nvPr/>
        </p:nvSpPr>
        <p:spPr>
          <a:xfrm>
            <a:off x="7725240" y="4587120"/>
            <a:ext cx="1980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Poppins"/>
                <a:ea typeface="Poppins"/>
              </a:rPr>
              <a:t>UBICACIÓN FÍSICA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69;p28"/>
          <p:cNvSpPr/>
          <p:nvPr/>
        </p:nvSpPr>
        <p:spPr>
          <a:xfrm>
            <a:off x="7772400" y="4834800"/>
            <a:ext cx="188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Aula 1 • IES Celia Viñas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sldNum" idx="47"/>
          </p:nvPr>
        </p:nvSpPr>
        <p:spPr>
          <a:xfrm>
            <a:off x="11194920" y="6243840"/>
            <a:ext cx="49932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F23F42C-0C49-46FF-AE01-AD31DC099EB1}" type="slidenum"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7" name="Google Shape;371;p28"/>
          <p:cNvPicPr/>
          <p:nvPr/>
        </p:nvPicPr>
        <p:blipFill>
          <a:blip r:embed="rId7"/>
          <a:stretch/>
        </p:blipFill>
        <p:spPr>
          <a:xfrm>
            <a:off x="254160" y="266400"/>
            <a:ext cx="723240" cy="96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LibreOffice/25.8.5.1$Linux_X86_64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2026-09-15T09:36:42Z</dcterms:modified>
  <cp:revision>2</cp:revision>
  <dc:subject/>
  <dc:title/>
</cp:coreProperties>
</file>