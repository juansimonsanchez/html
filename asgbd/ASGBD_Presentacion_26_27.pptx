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a74ec66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8a74ec66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8a74ec66d_45_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8a74ec66d_45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8a74ec66d_45_5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8a74ec66d_45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a07fc1d7c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ea07fc1d7c_1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2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6400" y="133558"/>
            <a:ext cx="665900" cy="88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e86f0ed9dd_32_0)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86f0ed9dd_51_0)">
  <p:cSld name="Generated (g3e86f0ed9dd_51_0)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31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41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Relationship Id="rId7" Type="http://schemas.openxmlformats.org/officeDocument/2006/relationships/image" Target="../media/image35.png"/><Relationship Id="rId8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Relationship Id="rId6" Type="http://schemas.openxmlformats.org/officeDocument/2006/relationships/image" Target="../media/image13.png"/><Relationship Id="rId7" Type="http://schemas.openxmlformats.org/officeDocument/2006/relationships/image" Target="../media/image4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5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4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450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3387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325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9262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/>
        </p:nvSpPr>
        <p:spPr>
          <a:xfrm>
            <a:off x="3215639" y="2147441"/>
            <a:ext cx="576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Administración de</a:t>
            </a: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SGBD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2047875" y="2838896"/>
            <a:ext cx="8096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Presentación de inicio del curso para el alumnado de 2º de ASIR. Planificación, temporalización didáctica, fase dual y criterios de calificación para el curso 2026/2027.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image.png" id="96" name="Google Shape;9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69393" y="4644146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1196534" y="4929896"/>
            <a:ext cx="2155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CARGA HORARIA</a:t>
            </a:r>
            <a:endParaRPr sz="1600"/>
          </a:p>
        </p:txBody>
      </p:sp>
      <p:sp>
        <p:nvSpPr>
          <p:cNvPr id="98" name="Google Shape;98;p15"/>
          <p:cNvSpPr txBox="1"/>
          <p:nvPr/>
        </p:nvSpPr>
        <p:spPr>
          <a:xfrm>
            <a:off x="1247850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Horas Semanales</a:t>
            </a:r>
            <a:endParaRPr sz="1700"/>
          </a:p>
        </p:txBody>
      </p:sp>
      <p:pic>
        <p:nvPicPr>
          <p:cNvPr descr="image.png" id="99" name="Google Shape;9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8756" y="464414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3744471" y="4929896"/>
            <a:ext cx="2155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CICLO PROFESIONAL</a:t>
            </a:r>
            <a:endParaRPr sz="1600"/>
          </a:p>
        </p:txBody>
      </p:sp>
      <p:sp>
        <p:nvSpPr>
          <p:cNvPr id="101" name="Google Shape;101;p15"/>
          <p:cNvSpPr txBox="1"/>
          <p:nvPr/>
        </p:nvSpPr>
        <p:spPr>
          <a:xfrm>
            <a:off x="3795787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2º ASIR (Có</a:t>
            </a: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b="1" i="0" lang="en-US" sz="12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igo 0377)</a:t>
            </a:r>
            <a:endParaRPr sz="1500"/>
          </a:p>
        </p:txBody>
      </p:sp>
      <p:pic>
        <p:nvPicPr>
          <p:cNvPr descr="image.png" id="102" name="Google Shape;10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6693" y="464414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6292409" y="4929896"/>
            <a:ext cx="2155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CENTRO EDUCATIVO</a:t>
            </a:r>
            <a:endParaRPr sz="1600"/>
          </a:p>
        </p:txBody>
      </p:sp>
      <p:sp>
        <p:nvSpPr>
          <p:cNvPr id="104" name="Google Shape;104;p15"/>
          <p:cNvSpPr txBox="1"/>
          <p:nvPr/>
        </p:nvSpPr>
        <p:spPr>
          <a:xfrm>
            <a:off x="6343725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IES Celia Viñas</a:t>
            </a:r>
            <a:endParaRPr sz="1700"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27493" y="4644146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840346" y="4929896"/>
            <a:ext cx="2155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DOCENTE</a:t>
            </a:r>
            <a:endParaRPr sz="1600"/>
          </a:p>
        </p:txBody>
      </p:sp>
      <p:sp>
        <p:nvSpPr>
          <p:cNvPr id="107" name="Google Shape;107;p15"/>
          <p:cNvSpPr txBox="1"/>
          <p:nvPr/>
        </p:nvSpPr>
        <p:spPr>
          <a:xfrm>
            <a:off x="8891662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Juan Simón Sánchez</a:t>
            </a:r>
            <a:endParaRPr sz="1700"/>
          </a:p>
        </p:txBody>
      </p:sp>
      <p:sp>
        <p:nvSpPr>
          <p:cNvPr id="108" name="Google Shape;108;p15"/>
          <p:cNvSpPr txBox="1"/>
          <p:nvPr/>
        </p:nvSpPr>
        <p:spPr>
          <a:xfrm>
            <a:off x="1266825" y="600075"/>
            <a:ext cx="290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IES Celia Viñas | Dpto. Informática (Almería)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81025" y="6296025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90800"/>
            <a:ext cx="5372101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90800"/>
            <a:ext cx="537210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828675" y="2838450"/>
            <a:ext cx="51206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Marco Normativo Estatal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828675" y="3248025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828675" y="34194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Regulado por la ley de ordenación estatal de FP de integración del sistema de Formación Profesional.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828675" y="40671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Adaptado conforme al de desarrollo de la                       </a:t>
            </a:r>
            <a:r>
              <a:rPr lang="en-US" sz="127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 </a:t>
            </a:r>
            <a:r>
              <a:rPr b="0" i="0" lang="en-US" sz="1275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ordenación de las enseñanzas de FP.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6486525" y="2838450"/>
            <a:ext cx="51206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Legislación en Andalucía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486525" y="3248025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486525" y="34194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Lato"/>
                <a:ea typeface="Lato"/>
                <a:cs typeface="Lato"/>
                <a:sym typeface="Lato"/>
              </a:rPr>
              <a:t>Adaptado al nuevo de ordenación de            enseñanzas y grados de Formación Profesional en Andalucía.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6486525" y="40671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Evaluado bajo la de acreditación y registro en Séneca de calificaciones.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19350" y="4076700"/>
            <a:ext cx="19335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39350" y="3419475"/>
            <a:ext cx="15049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8100" y="4076700"/>
            <a:ext cx="29622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1190475" y="485775"/>
            <a:ext cx="1096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Contextualización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Normativa</a:t>
            </a:r>
            <a:endParaRPr>
              <a:solidFill>
                <a:srgbClr val="38BDF8"/>
              </a:solidFill>
            </a:endParaRPr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81025" y="6296025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81025" y="6296025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996425" y="485775"/>
            <a:ext cx="477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146399" y="133540"/>
            <a:ext cx="665700" cy="885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grpSp>
        <p:nvGrpSpPr>
          <p:cNvPr id="139" name="Google Shape;139;p17"/>
          <p:cNvGrpSpPr/>
          <p:nvPr/>
        </p:nvGrpSpPr>
        <p:grpSpPr>
          <a:xfrm>
            <a:off x="996315" y="485775"/>
            <a:ext cx="10620375" cy="457200"/>
            <a:chOff x="996315" y="485775"/>
            <a:chExt cx="10620375" cy="457200"/>
          </a:xfrm>
        </p:grpSpPr>
        <p:sp>
          <p:nvSpPr>
            <p:cNvPr id="140" name="Google Shape;140;p17"/>
            <p:cNvSpPr/>
            <p:nvPr/>
          </p:nvSpPr>
          <p:spPr>
            <a:xfrm>
              <a:off x="996315" y="485775"/>
              <a:ext cx="47700" cy="457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1139190" y="485775"/>
              <a:ext cx="10477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F497D"/>
                  </a:solidFill>
                  <a:latin typeface="Poppins"/>
                  <a:ea typeface="Poppins"/>
                  <a:cs typeface="Poppins"/>
                  <a:sym typeface="Poppins"/>
                </a:rPr>
                <a:t>Ponderación de Resultados de Aprendizaje (RA)</a:t>
              </a:r>
              <a:endParaRPr b="1" sz="2400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42" name="Google Shape;142;p17"/>
          <p:cNvGrpSpPr/>
          <p:nvPr/>
        </p:nvGrpSpPr>
        <p:grpSpPr>
          <a:xfrm>
            <a:off x="581025" y="1828800"/>
            <a:ext cx="11030100" cy="552600"/>
            <a:chOff x="581025" y="1828800"/>
            <a:chExt cx="11030100" cy="552600"/>
          </a:xfrm>
        </p:grpSpPr>
        <p:sp>
          <p:nvSpPr>
            <p:cNvPr id="143" name="Google Shape;143;p17"/>
            <p:cNvSpPr/>
            <p:nvPr/>
          </p:nvSpPr>
          <p:spPr>
            <a:xfrm>
              <a:off x="581025" y="1828800"/>
              <a:ext cx="11030100" cy="552600"/>
            </a:xfrm>
            <a:prstGeom prst="roundRect">
              <a:avLst>
                <a:gd fmla="val 6896" name="adj"/>
              </a:avLst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581025" y="1828800"/>
              <a:ext cx="12384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RA 1</a:t>
              </a:r>
              <a:endParaRPr b="1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1819275" y="1828800"/>
              <a:ext cx="81915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Implanta sistemas gestores de bases de datos analizando sus características y ajustándose a los requerimientos del sistema.</a:t>
              </a:r>
              <a:endParaRPr b="0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10010775" y="1828800"/>
              <a:ext cx="16002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15%</a:t>
              </a:r>
              <a:endParaRPr b="1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581025" y="2409825"/>
            <a:ext cx="11030100" cy="552600"/>
            <a:chOff x="581025" y="2409825"/>
            <a:chExt cx="11030100" cy="552600"/>
          </a:xfrm>
        </p:grpSpPr>
        <p:sp>
          <p:nvSpPr>
            <p:cNvPr id="148" name="Google Shape;148;p17"/>
            <p:cNvSpPr/>
            <p:nvPr/>
          </p:nvSpPr>
          <p:spPr>
            <a:xfrm>
              <a:off x="581025" y="2409825"/>
              <a:ext cx="11030100" cy="552600"/>
            </a:xfrm>
            <a:prstGeom prst="roundRect">
              <a:avLst>
                <a:gd fmla="val 6896" name="adj"/>
              </a:avLst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581025" y="2409825"/>
              <a:ext cx="12384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RA 2</a:t>
              </a:r>
              <a:endParaRPr b="1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1819275" y="2409825"/>
              <a:ext cx="81915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Configura el sistema gestor de bases de datos interpretando especificaciones técnicas y aplicando herramientas de administración.</a:t>
              </a:r>
              <a:endParaRPr b="0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10010775" y="2409825"/>
              <a:ext cx="16002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15%</a:t>
              </a:r>
              <a:endParaRPr b="1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581025" y="2990850"/>
            <a:ext cx="11030100" cy="552600"/>
            <a:chOff x="581025" y="2990850"/>
            <a:chExt cx="11030100" cy="552600"/>
          </a:xfrm>
        </p:grpSpPr>
        <p:sp>
          <p:nvSpPr>
            <p:cNvPr id="153" name="Google Shape;153;p17"/>
            <p:cNvSpPr/>
            <p:nvPr/>
          </p:nvSpPr>
          <p:spPr>
            <a:xfrm>
              <a:off x="581025" y="2990850"/>
              <a:ext cx="11030100" cy="552600"/>
            </a:xfrm>
            <a:prstGeom prst="roundRect">
              <a:avLst>
                <a:gd fmla="val 6896" name="adj"/>
              </a:avLst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581025" y="2990850"/>
              <a:ext cx="12384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RA 3</a:t>
              </a:r>
              <a:endParaRPr b="1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1819275" y="2990850"/>
              <a:ext cx="81915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Automatiza tareas de administración del sistema gestor, realizando guiones y programando tareas.</a:t>
              </a:r>
              <a:endParaRPr b="0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10010775" y="2990850"/>
              <a:ext cx="16002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15%</a:t>
              </a:r>
              <a:endParaRPr b="1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581025" y="3571875"/>
            <a:ext cx="11030100" cy="552600"/>
            <a:chOff x="581025" y="3571875"/>
            <a:chExt cx="11030100" cy="552600"/>
          </a:xfrm>
        </p:grpSpPr>
        <p:sp>
          <p:nvSpPr>
            <p:cNvPr id="158" name="Google Shape;158;p17"/>
            <p:cNvSpPr/>
            <p:nvPr/>
          </p:nvSpPr>
          <p:spPr>
            <a:xfrm>
              <a:off x="581025" y="3571875"/>
              <a:ext cx="11030100" cy="552600"/>
            </a:xfrm>
            <a:prstGeom prst="roundRect">
              <a:avLst>
                <a:gd fmla="val 6896" name="adj"/>
              </a:avLst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581025" y="3571875"/>
              <a:ext cx="12384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RA 4</a:t>
              </a:r>
              <a:endParaRPr b="1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1819275" y="3571875"/>
              <a:ext cx="81915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Realiza tareas de administración de bases de datos analizando la estructura lógica y física y aplicando medidas de optimización.</a:t>
              </a:r>
              <a:endParaRPr b="0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10010775" y="3571875"/>
              <a:ext cx="16002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15%</a:t>
              </a:r>
              <a:endParaRPr b="1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2" name="Google Shape;162;p17"/>
          <p:cNvGrpSpPr/>
          <p:nvPr/>
        </p:nvGrpSpPr>
        <p:grpSpPr>
          <a:xfrm>
            <a:off x="581025" y="1381125"/>
            <a:ext cx="11030100" cy="400200"/>
            <a:chOff x="581025" y="1381125"/>
            <a:chExt cx="11030100" cy="400200"/>
          </a:xfrm>
        </p:grpSpPr>
        <p:sp>
          <p:nvSpPr>
            <p:cNvPr id="163" name="Google Shape;163;p17"/>
            <p:cNvSpPr/>
            <p:nvPr/>
          </p:nvSpPr>
          <p:spPr>
            <a:xfrm>
              <a:off x="581025" y="1381125"/>
              <a:ext cx="11030100" cy="400200"/>
            </a:xfrm>
            <a:prstGeom prst="roundRect">
              <a:avLst>
                <a:gd fmla="val 14285" name="adj"/>
              </a:avLst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581025" y="1381125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1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Resultado</a:t>
              </a:r>
              <a:endParaRPr b="1" sz="141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1819275" y="1381125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1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Descripción Oficial del Resultado de Aprendizaje</a:t>
              </a:r>
              <a:endParaRPr b="1" sz="141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10010775" y="1381125"/>
              <a:ext cx="160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1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Peso Módulo</a:t>
              </a:r>
              <a:endParaRPr b="1" sz="141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581025" y="4152900"/>
            <a:ext cx="11030100" cy="552600"/>
            <a:chOff x="581025" y="4152900"/>
            <a:chExt cx="11030100" cy="552600"/>
          </a:xfrm>
        </p:grpSpPr>
        <p:sp>
          <p:nvSpPr>
            <p:cNvPr id="168" name="Google Shape;168;p17"/>
            <p:cNvSpPr/>
            <p:nvPr/>
          </p:nvSpPr>
          <p:spPr>
            <a:xfrm>
              <a:off x="581025" y="4152900"/>
              <a:ext cx="11030100" cy="552600"/>
            </a:xfrm>
            <a:prstGeom prst="roundRect">
              <a:avLst>
                <a:gd fmla="val 6896" name="adj"/>
              </a:avLst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581025" y="4152900"/>
              <a:ext cx="12384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RA 5</a:t>
              </a:r>
              <a:endParaRPr b="1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1819275" y="4152900"/>
              <a:ext cx="81915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Aplica medidas de seguridad y control de acceso configurando perfiles y auditorías de seguridad.</a:t>
              </a:r>
              <a:endParaRPr b="0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10010775" y="4152900"/>
              <a:ext cx="16002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15%</a:t>
              </a:r>
              <a:endParaRPr b="1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581025" y="4733925"/>
            <a:ext cx="11030100" cy="552600"/>
            <a:chOff x="581025" y="4733925"/>
            <a:chExt cx="11030100" cy="552600"/>
          </a:xfrm>
        </p:grpSpPr>
        <p:sp>
          <p:nvSpPr>
            <p:cNvPr id="173" name="Google Shape;173;p17"/>
            <p:cNvSpPr/>
            <p:nvPr/>
          </p:nvSpPr>
          <p:spPr>
            <a:xfrm>
              <a:off x="581025" y="4733925"/>
              <a:ext cx="11030100" cy="552600"/>
            </a:xfrm>
            <a:prstGeom prst="roundRect">
              <a:avLst>
                <a:gd fmla="val 6896" name="adj"/>
              </a:avLst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581025" y="4733925"/>
              <a:ext cx="12384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RA 6</a:t>
              </a:r>
              <a:endParaRPr b="1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5" name="Google Shape;175;p17"/>
            <p:cNvSpPr txBox="1"/>
            <p:nvPr/>
          </p:nvSpPr>
          <p:spPr>
            <a:xfrm>
              <a:off x="1819275" y="4733925"/>
              <a:ext cx="81915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Asegura la disponibilidad y recuperación de la información aplicando políticas de copias de seguridad y replicación.</a:t>
              </a:r>
              <a:endParaRPr b="0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6" name="Google Shape;176;p17"/>
            <p:cNvSpPr txBox="1"/>
            <p:nvPr/>
          </p:nvSpPr>
          <p:spPr>
            <a:xfrm>
              <a:off x="10010775" y="4733925"/>
              <a:ext cx="16002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15%</a:t>
              </a:r>
              <a:endParaRPr b="1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7" name="Google Shape;177;p17"/>
          <p:cNvGrpSpPr/>
          <p:nvPr/>
        </p:nvGrpSpPr>
        <p:grpSpPr>
          <a:xfrm>
            <a:off x="581025" y="5314950"/>
            <a:ext cx="11030100" cy="552600"/>
            <a:chOff x="581025" y="5314950"/>
            <a:chExt cx="11030100" cy="552600"/>
          </a:xfrm>
        </p:grpSpPr>
        <p:sp>
          <p:nvSpPr>
            <p:cNvPr id="178" name="Google Shape;178;p17"/>
            <p:cNvSpPr/>
            <p:nvPr/>
          </p:nvSpPr>
          <p:spPr>
            <a:xfrm>
              <a:off x="581025" y="5314950"/>
              <a:ext cx="11030100" cy="552600"/>
            </a:xfrm>
            <a:prstGeom prst="roundRect">
              <a:avLst>
                <a:gd fmla="val 6896" name="adj"/>
              </a:avLst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581025" y="5314950"/>
              <a:ext cx="12384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RA 7</a:t>
              </a:r>
              <a:endParaRPr b="1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0" name="Google Shape;180;p17"/>
            <p:cNvSpPr txBox="1"/>
            <p:nvPr/>
          </p:nvSpPr>
          <p:spPr>
            <a:xfrm>
              <a:off x="1819275" y="5314950"/>
              <a:ext cx="81915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18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Realiza tareas de transferencia y migración de datos analizando formatos de intercambio y herramientas de exportación e importación.</a:t>
              </a:r>
              <a:endParaRPr b="0" sz="1418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10010775" y="5314950"/>
              <a:ext cx="1600200" cy="552600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10%</a:t>
              </a:r>
              <a:endParaRPr b="1" sz="1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82" name="Google Shape;182;p17"/>
          <p:cNvPicPr preferRelativeResize="0"/>
          <p:nvPr/>
        </p:nvPicPr>
        <p:blipFill rotWithShape="1">
          <a:blip r:embed="rId4">
            <a:alphaModFix/>
          </a:blip>
          <a:srcRect b="0" l="90" r="80" t="0"/>
          <a:stretch/>
        </p:blipFill>
        <p:spPr>
          <a:xfrm>
            <a:off x="581025" y="6105525"/>
            <a:ext cx="11030100" cy="3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581025" y="6296025"/>
            <a:ext cx="3810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F81BD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 b="0" sz="900">
              <a:solidFill>
                <a:srgbClr val="4F81BD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/>
          <p:nvPr/>
        </p:nvSpPr>
        <p:spPr>
          <a:xfrm>
            <a:off x="581025" y="3757612"/>
            <a:ext cx="110299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498302" y="3967162"/>
            <a:ext cx="34743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1º Trimestre (52h)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81025" y="4386262"/>
            <a:ext cx="3309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Bases físicas y seguridad:</a:t>
            </a:r>
            <a:r>
              <a:rPr b="0" i="0" lang="en-US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Instalación de motores de bases de datos (RA1) y administración de accesos y cifrado (RA2).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4358755" y="2433637"/>
            <a:ext cx="34743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2º Trimestre (32h)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4441477" y="2852737"/>
            <a:ext cx="3309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Automatización y backup:</a:t>
            </a:r>
            <a:r>
              <a:rPr b="0" i="0" lang="en-US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Scripts procedimentales (RA3), monitorización de rendimiento (RA4) y salvaguarda (RA5).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8219208" y="3967162"/>
            <a:ext cx="34743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Alternancia Dual (260h)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301930" y="4386262"/>
            <a:ext cx="3309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Empresa</a:t>
            </a:r>
            <a:r>
              <a:rPr b="1" i="0" lang="en-US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en-US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Incorporación real al tejido TIC de Almería a partir de marzo de 2027 (RA2, RA3, RA5).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1090200" y="485775"/>
            <a:ext cx="114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Temporalización</a:t>
            </a:r>
            <a:r>
              <a:rPr b="1" i="0" lang="en-US" sz="24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del Módulo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947325" y="485775"/>
            <a:ext cx="477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2140222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90D16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6000675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90D16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9861128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90D16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0" name="Google Shape;2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581025" y="6296025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146400" y="133558"/>
            <a:ext cx="666000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/>
          <p:nvPr/>
        </p:nvSpPr>
        <p:spPr>
          <a:xfrm>
            <a:off x="928800" y="533475"/>
            <a:ext cx="477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1071677" y="533475"/>
            <a:ext cx="952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rPr>
              <a:t>Unidades de Trabajo </a:t>
            </a:r>
            <a:r>
              <a:rPr b="1" lang="en-US" sz="24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(UT 1-7)</a:t>
            </a:r>
            <a:endParaRPr b="1" sz="2400">
              <a:solidFill>
                <a:srgbClr val="1F497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1" name="Google Shape;211;p19"/>
          <p:cNvGrpSpPr/>
          <p:nvPr/>
        </p:nvGrpSpPr>
        <p:grpSpPr>
          <a:xfrm>
            <a:off x="571500" y="1371600"/>
            <a:ext cx="5391300" cy="1305000"/>
            <a:chOff x="571500" y="1371600"/>
            <a:chExt cx="5391300" cy="1305000"/>
          </a:xfrm>
        </p:grpSpPr>
        <p:pic>
          <p:nvPicPr>
            <p:cNvPr id="212" name="Google Shape;212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1371600"/>
              <a:ext cx="5391300" cy="13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19"/>
            <p:cNvSpPr txBox="1"/>
            <p:nvPr/>
          </p:nvSpPr>
          <p:spPr>
            <a:xfrm>
              <a:off x="809625" y="1571625"/>
              <a:ext cx="49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497D"/>
                  </a:solidFill>
                  <a:latin typeface="Poppins"/>
                  <a:ea typeface="Poppins"/>
                  <a:cs typeface="Poppins"/>
                  <a:sym typeface="Poppins"/>
                </a:rPr>
                <a:t>UT1 Instalación y configuración</a:t>
              </a:r>
              <a:endParaRPr b="1" sz="1300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9"/>
            <p:cNvSpPr txBox="1"/>
            <p:nvPr/>
          </p:nvSpPr>
          <p:spPr>
            <a:xfrm>
              <a:off x="809625" y="1857375"/>
              <a:ext cx="4914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Implantación y arquitectura física de SGBD</a:t>
              </a:r>
              <a:endParaRPr b="1"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18 Horas</a:t>
              </a:r>
              <a:r>
                <a:rPr b="0" lang="en-US" sz="11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 • 1º Trimestre (15 Sep - 10 Oct) • RA1, RA2</a:t>
              </a:r>
              <a:endParaRPr/>
            </a:p>
          </p:txBody>
        </p:sp>
      </p:grpSp>
      <p:grpSp>
        <p:nvGrpSpPr>
          <p:cNvPr id="215" name="Google Shape;215;p19"/>
          <p:cNvGrpSpPr/>
          <p:nvPr/>
        </p:nvGrpSpPr>
        <p:grpSpPr>
          <a:xfrm>
            <a:off x="6229350" y="1371600"/>
            <a:ext cx="5391300" cy="1305000"/>
            <a:chOff x="6229350" y="1371600"/>
            <a:chExt cx="5391300" cy="1305000"/>
          </a:xfrm>
        </p:grpSpPr>
        <p:pic>
          <p:nvPicPr>
            <p:cNvPr id="216" name="Google Shape;216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9350" y="1371600"/>
              <a:ext cx="5391300" cy="13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19"/>
            <p:cNvSpPr txBox="1"/>
            <p:nvPr/>
          </p:nvSpPr>
          <p:spPr>
            <a:xfrm>
              <a:off x="6467475" y="1571625"/>
              <a:ext cx="49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497D"/>
                  </a:solidFill>
                  <a:latin typeface="Poppins"/>
                  <a:ea typeface="Poppins"/>
                  <a:cs typeface="Poppins"/>
                  <a:sym typeface="Poppins"/>
                </a:rPr>
                <a:t>UT2 Acceso a la información</a:t>
              </a:r>
              <a:endParaRPr b="1" sz="1300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6467475" y="1857375"/>
              <a:ext cx="4914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Configuración, conexión de red y gestión de servicios</a:t>
              </a:r>
              <a:endParaRPr b="1"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18 Horas</a:t>
              </a:r>
              <a:r>
                <a:rPr b="0" lang="en-US" sz="11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 • 1º Trimestre (11 Oct - 3 Nov) • RA2, RA7</a:t>
              </a:r>
              <a:endParaRPr/>
            </a:p>
          </p:txBody>
        </p:sp>
      </p:grpSp>
      <p:grpSp>
        <p:nvGrpSpPr>
          <p:cNvPr id="219" name="Google Shape;219;p19"/>
          <p:cNvGrpSpPr/>
          <p:nvPr/>
        </p:nvGrpSpPr>
        <p:grpSpPr>
          <a:xfrm>
            <a:off x="571500" y="2800350"/>
            <a:ext cx="5391300" cy="1305000"/>
            <a:chOff x="571500" y="2800350"/>
            <a:chExt cx="5391300" cy="1305000"/>
          </a:xfrm>
        </p:grpSpPr>
        <p:pic>
          <p:nvPicPr>
            <p:cNvPr id="220" name="Google Shape;220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2800350"/>
              <a:ext cx="5391300" cy="13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19"/>
            <p:cNvSpPr txBox="1"/>
            <p:nvPr/>
          </p:nvSpPr>
          <p:spPr>
            <a:xfrm>
              <a:off x="809625" y="3000375"/>
              <a:ext cx="49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497D"/>
                  </a:solidFill>
                  <a:latin typeface="Poppins"/>
                  <a:ea typeface="Poppins"/>
                  <a:cs typeface="Poppins"/>
                  <a:sym typeface="Poppins"/>
                </a:rPr>
                <a:t>UT3 Automatización de tareas</a:t>
              </a:r>
              <a:endParaRPr b="1" sz="1300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809625" y="3286125"/>
              <a:ext cx="4914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Programación de scripts de administración y alertas</a:t>
              </a:r>
              <a:endParaRPr b="1"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24 Horas</a:t>
              </a:r>
              <a:r>
                <a:rPr b="0" lang="en-US" sz="11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 • 1º Trimestre (4 Nov - 3 Dic) • RA3</a:t>
              </a:r>
              <a:endParaRPr/>
            </a:p>
          </p:txBody>
        </p:sp>
      </p:grpSp>
      <p:grpSp>
        <p:nvGrpSpPr>
          <p:cNvPr id="223" name="Google Shape;223;p19"/>
          <p:cNvGrpSpPr/>
          <p:nvPr/>
        </p:nvGrpSpPr>
        <p:grpSpPr>
          <a:xfrm>
            <a:off x="6229350" y="2800350"/>
            <a:ext cx="5391300" cy="1305000"/>
            <a:chOff x="6229350" y="2800350"/>
            <a:chExt cx="5391300" cy="1305000"/>
          </a:xfrm>
        </p:grpSpPr>
        <p:pic>
          <p:nvPicPr>
            <p:cNvPr id="224" name="Google Shape;22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9350" y="2800350"/>
              <a:ext cx="5391300" cy="13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19"/>
            <p:cNvSpPr txBox="1"/>
            <p:nvPr/>
          </p:nvSpPr>
          <p:spPr>
            <a:xfrm>
              <a:off x="6467475" y="3000375"/>
              <a:ext cx="49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497D"/>
                  </a:solidFill>
                  <a:latin typeface="Poppins"/>
                  <a:ea typeface="Poppins"/>
                  <a:cs typeface="Poppins"/>
                  <a:sym typeface="Poppins"/>
                </a:rPr>
                <a:t>UT4 Gestión de la seguridad</a:t>
              </a:r>
              <a:endParaRPr b="1" sz="1300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9"/>
            <p:cNvSpPr txBox="1"/>
            <p:nvPr/>
          </p:nvSpPr>
          <p:spPr>
            <a:xfrm>
              <a:off x="6467475" y="3286125"/>
              <a:ext cx="4914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Administración y control de acceso: Privilegios, roles y seguridad</a:t>
              </a:r>
              <a:endParaRPr b="1"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24 Horas</a:t>
              </a:r>
              <a:r>
                <a:rPr b="0" lang="en-US" sz="11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 • 1º - 2º Trimestre (4 Dic - 15 Ene) • RA5</a:t>
              </a:r>
              <a:endParaRPr/>
            </a:p>
          </p:txBody>
        </p:sp>
      </p:grpSp>
      <p:grpSp>
        <p:nvGrpSpPr>
          <p:cNvPr id="227" name="Google Shape;227;p19"/>
          <p:cNvGrpSpPr/>
          <p:nvPr/>
        </p:nvGrpSpPr>
        <p:grpSpPr>
          <a:xfrm>
            <a:off x="571500" y="4229100"/>
            <a:ext cx="3486300" cy="1686000"/>
            <a:chOff x="571500" y="4229100"/>
            <a:chExt cx="3486300" cy="1686000"/>
          </a:xfrm>
        </p:grpSpPr>
        <p:pic>
          <p:nvPicPr>
            <p:cNvPr id="228" name="Google Shape;228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1500" y="4229100"/>
              <a:ext cx="3486300" cy="168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19"/>
            <p:cNvSpPr txBox="1"/>
            <p:nvPr/>
          </p:nvSpPr>
          <p:spPr>
            <a:xfrm>
              <a:off x="771525" y="4429125"/>
              <a:ext cx="3086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497D"/>
                  </a:solidFill>
                  <a:latin typeface="Poppins"/>
                  <a:ea typeface="Poppins"/>
                  <a:cs typeface="Poppins"/>
                  <a:sym typeface="Poppins"/>
                </a:rPr>
                <a:t>UT5 Optimización de consultas</a:t>
              </a:r>
              <a:endParaRPr b="1" sz="1300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771525" y="4714875"/>
              <a:ext cx="3086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Gestión del almacenamiento físico y lógico de bases de datos</a:t>
              </a:r>
              <a:endParaRPr b="1"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18 Horas</a:t>
              </a:r>
              <a:r>
                <a:rPr b="0" lang="en-US" sz="11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 • 2º T (16 Ene - 5 Feb) • RA4</a:t>
              </a:r>
              <a:endParaRPr/>
            </a:p>
          </p:txBody>
        </p:sp>
      </p:grpSp>
      <p:grpSp>
        <p:nvGrpSpPr>
          <p:cNvPr id="231" name="Google Shape;231;p19"/>
          <p:cNvGrpSpPr/>
          <p:nvPr/>
        </p:nvGrpSpPr>
        <p:grpSpPr>
          <a:xfrm>
            <a:off x="4324350" y="4229100"/>
            <a:ext cx="3486300" cy="1686000"/>
            <a:chOff x="4324350" y="4229100"/>
            <a:chExt cx="3486300" cy="1686000"/>
          </a:xfrm>
        </p:grpSpPr>
        <p:pic>
          <p:nvPicPr>
            <p:cNvPr id="232" name="Google Shape;232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24350" y="4229100"/>
              <a:ext cx="3486300" cy="168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19"/>
            <p:cNvSpPr txBox="1"/>
            <p:nvPr/>
          </p:nvSpPr>
          <p:spPr>
            <a:xfrm>
              <a:off x="4524375" y="4429125"/>
              <a:ext cx="3086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497D"/>
                  </a:solidFill>
                  <a:latin typeface="Poppins"/>
                  <a:ea typeface="Poppins"/>
                  <a:cs typeface="Poppins"/>
                  <a:sym typeface="Poppins"/>
                </a:rPr>
                <a:t>UT6 Distribuidas y replicadas</a:t>
              </a:r>
              <a:endParaRPr b="1" sz="1300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4524375" y="4714875"/>
              <a:ext cx="3086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Políticas de salvaguarda, copias de seguridad y planes de recuperación</a:t>
              </a:r>
              <a:endParaRPr b="1"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24 Horas</a:t>
              </a:r>
              <a:r>
                <a:rPr b="0" lang="en-US" sz="11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 • 2º T (6 Feb - 26 Feb) • RA6</a:t>
              </a:r>
              <a:endParaRPr/>
            </a:p>
          </p:txBody>
        </p:sp>
      </p:grpSp>
      <p:grpSp>
        <p:nvGrpSpPr>
          <p:cNvPr id="235" name="Google Shape;235;p19"/>
          <p:cNvGrpSpPr/>
          <p:nvPr/>
        </p:nvGrpSpPr>
        <p:grpSpPr>
          <a:xfrm>
            <a:off x="8077200" y="4229100"/>
            <a:ext cx="3486300" cy="1686000"/>
            <a:chOff x="8077200" y="4229100"/>
            <a:chExt cx="3486300" cy="1686000"/>
          </a:xfrm>
        </p:grpSpPr>
        <p:pic>
          <p:nvPicPr>
            <p:cNvPr id="236" name="Google Shape;236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77200" y="4229100"/>
              <a:ext cx="3486300" cy="168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19"/>
            <p:cNvSpPr txBox="1"/>
            <p:nvPr/>
          </p:nvSpPr>
          <p:spPr>
            <a:xfrm>
              <a:off x="8277225" y="4429125"/>
              <a:ext cx="3086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497D"/>
                  </a:solidFill>
                  <a:latin typeface="Poppins"/>
                  <a:ea typeface="Poppins"/>
                  <a:cs typeface="Poppins"/>
                  <a:sym typeface="Poppins"/>
                </a:rPr>
                <a:t>UT7 Transferencia y migración</a:t>
              </a:r>
              <a:endParaRPr b="1" sz="1300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9"/>
            <p:cNvSpPr txBox="1"/>
            <p:nvPr/>
          </p:nvSpPr>
          <p:spPr>
            <a:xfrm>
              <a:off x="8277225" y="4714875"/>
              <a:ext cx="3086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Transferencia, exportación e importación de flujos de información</a:t>
              </a:r>
              <a:endParaRPr b="1"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12 Horas</a:t>
              </a:r>
              <a:r>
                <a:rPr b="0" lang="en-US" sz="11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 • 2º T (27 Feb - 12 Mar) • RA7</a:t>
              </a:r>
              <a:endParaRPr/>
            </a:p>
          </p:txBody>
        </p:sp>
      </p:grpSp>
      <p:pic>
        <p:nvPicPr>
          <p:cNvPr id="239" name="Google Shape;239;p19"/>
          <p:cNvPicPr preferRelativeResize="0"/>
          <p:nvPr/>
        </p:nvPicPr>
        <p:blipFill rotWithShape="1">
          <a:blip r:embed="rId7">
            <a:alphaModFix/>
          </a:blip>
          <a:srcRect b="0" l="20" r="20" t="0"/>
          <a:stretch/>
        </p:blipFill>
        <p:spPr>
          <a:xfrm>
            <a:off x="571500" y="6105525"/>
            <a:ext cx="11048700" cy="3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 txBox="1"/>
          <p:nvPr/>
        </p:nvSpPr>
        <p:spPr>
          <a:xfrm>
            <a:off x="581025" y="6296025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F81BD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 b="0" sz="900">
              <a:solidFill>
                <a:srgbClr val="4F81BD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400" y="133558"/>
            <a:ext cx="666000" cy="88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20"/>
          <p:cNvGrpSpPr/>
          <p:nvPr/>
        </p:nvGrpSpPr>
        <p:grpSpPr>
          <a:xfrm>
            <a:off x="896450" y="542925"/>
            <a:ext cx="11574380" cy="457200"/>
            <a:chOff x="896450" y="542925"/>
            <a:chExt cx="11574380" cy="457200"/>
          </a:xfrm>
        </p:grpSpPr>
        <p:sp>
          <p:nvSpPr>
            <p:cNvPr id="248" name="Google Shape;248;p20"/>
            <p:cNvSpPr/>
            <p:nvPr/>
          </p:nvSpPr>
          <p:spPr>
            <a:xfrm>
              <a:off x="896450" y="542925"/>
              <a:ext cx="47700" cy="457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 txBox="1"/>
            <p:nvPr/>
          </p:nvSpPr>
          <p:spPr>
            <a:xfrm>
              <a:off x="1039330" y="542925"/>
              <a:ext cx="11431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F497D"/>
                  </a:solidFill>
                  <a:latin typeface="Poppins"/>
                  <a:ea typeface="Poppins"/>
                  <a:cs typeface="Poppins"/>
                  <a:sym typeface="Poppins"/>
                </a:rPr>
                <a:t>Concurrencia </a:t>
              </a:r>
              <a:r>
                <a:rPr b="1" lang="en-US" sz="240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Dual</a:t>
              </a:r>
              <a:r>
                <a:rPr b="1" lang="en-US" sz="2400">
                  <a:solidFill>
                    <a:srgbClr val="1F497D"/>
                  </a:solidFill>
                  <a:latin typeface="Poppins"/>
                  <a:ea typeface="Poppins"/>
                  <a:cs typeface="Poppins"/>
                  <a:sym typeface="Poppins"/>
                </a:rPr>
                <a:t>: Criterios y Actividades</a:t>
              </a:r>
              <a:endParaRPr b="1" sz="2400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0" name="Google Shape;250;p20"/>
          <p:cNvGrpSpPr/>
          <p:nvPr/>
        </p:nvGrpSpPr>
        <p:grpSpPr>
          <a:xfrm>
            <a:off x="581025" y="1762125"/>
            <a:ext cx="5372100" cy="3810000"/>
            <a:chOff x="581025" y="1762125"/>
            <a:chExt cx="5372100" cy="3810000"/>
          </a:xfrm>
        </p:grpSpPr>
        <p:pic>
          <p:nvPicPr>
            <p:cNvPr id="251" name="Google Shape;251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1025" y="1762125"/>
              <a:ext cx="5372100" cy="381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0"/>
            <p:cNvSpPr txBox="1"/>
            <p:nvPr/>
          </p:nvSpPr>
          <p:spPr>
            <a:xfrm>
              <a:off x="828675" y="2000250"/>
              <a:ext cx="48768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Criterios de Evaluación en Empresa</a:t>
              </a:r>
              <a:endParaRPr b="0" sz="165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253" name="Google Shape;253;p20"/>
            <p:cNvCxnSpPr/>
            <p:nvPr/>
          </p:nvCxnSpPr>
          <p:spPr>
            <a:xfrm>
              <a:off x="828675" y="2428875"/>
              <a:ext cx="4876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4" name="Google Shape;254;p20"/>
            <p:cNvSpPr txBox="1"/>
            <p:nvPr/>
          </p:nvSpPr>
          <p:spPr>
            <a:xfrm>
              <a:off x="828675" y="2619375"/>
              <a:ext cx="48768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Se trasladan a la empresa actividades procedimentadas para consolidar los aprendizajes curriculares:</a:t>
              </a:r>
              <a:endParaRPr b="0" sz="12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highlight>
                    <a:srgbClr val="1E293B"/>
                  </a:highlight>
                  <a:latin typeface="Arial"/>
                  <a:ea typeface="Arial"/>
                  <a:cs typeface="Arial"/>
                  <a:sym typeface="Arial"/>
                </a:rPr>
                <a:t>RA6 (a)</a:t>
              </a:r>
              <a:r>
                <a:rPr b="0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b="1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Copias de seguridad:</a:t>
              </a:r>
              <a:r>
                <a:rPr b="0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 Planificación y ejecución de copias de seguridad lógicas (exportación de esquemas) y físicas.</a:t>
              </a:r>
              <a:endParaRPr b="0" sz="12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highlight>
                    <a:srgbClr val="1E293B"/>
                  </a:highlight>
                  <a:latin typeface="Arial"/>
                  <a:ea typeface="Arial"/>
                  <a:cs typeface="Arial"/>
                  <a:sym typeface="Arial"/>
                </a:rPr>
                <a:t>RA7 (b)</a:t>
              </a:r>
              <a:r>
                <a:rPr b="0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b="1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Transferencia de datos:</a:t>
              </a:r>
              <a:r>
                <a:rPr b="0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 Exportación e importación de datos en diferentes formatos (CSV, XML, JSON, planos).</a:t>
              </a:r>
              <a:endParaRPr b="0" sz="12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55" name="Google Shape;255;p20"/>
          <p:cNvGrpSpPr/>
          <p:nvPr/>
        </p:nvGrpSpPr>
        <p:grpSpPr>
          <a:xfrm>
            <a:off x="6238875" y="1762125"/>
            <a:ext cx="5372100" cy="3810000"/>
            <a:chOff x="6238875" y="1762125"/>
            <a:chExt cx="5372100" cy="3810000"/>
          </a:xfrm>
        </p:grpSpPr>
        <p:pic>
          <p:nvPicPr>
            <p:cNvPr id="256" name="Google Shape;256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38875" y="1762125"/>
              <a:ext cx="5372100" cy="381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0"/>
            <p:cNvSpPr txBox="1"/>
            <p:nvPr/>
          </p:nvSpPr>
          <p:spPr>
            <a:xfrm>
              <a:off x="6486525" y="2000250"/>
              <a:ext cx="48768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Actividades Prácticas Supervisadas</a:t>
              </a:r>
              <a:endParaRPr b="0" sz="165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258" name="Google Shape;258;p20"/>
            <p:cNvCxnSpPr/>
            <p:nvPr/>
          </p:nvCxnSpPr>
          <p:spPr>
            <a:xfrm>
              <a:off x="6486525" y="2428875"/>
              <a:ext cx="4876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9" name="Google Shape;259;p20"/>
            <p:cNvSpPr txBox="1"/>
            <p:nvPr/>
          </p:nvSpPr>
          <p:spPr>
            <a:xfrm>
              <a:off x="6486525" y="2619375"/>
              <a:ext cx="48768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El alumnado participa activamente en situaciones de producción real bajo la supervisión del tutor:</a:t>
              </a:r>
              <a:endParaRPr b="0" sz="12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Configuración de Backups (Actividad 1):</a:t>
              </a:r>
              <a:r>
                <a:rPr b="0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 Testeo de scripts cron/programadores en entornos staging para copias de seguridad del SGBD.</a:t>
              </a:r>
              <a:endParaRPr b="0" sz="12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Verificación de Integridad:</a:t>
              </a:r>
              <a:r>
                <a:rPr b="0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 Restauración y levantamiento automatizado de backups en entornos de pruebas aislados.</a:t>
              </a:r>
              <a:endParaRPr b="0" sz="12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Migración y Depuración (Actividad 2):</a:t>
              </a:r>
              <a:r>
                <a:rPr b="0" lang="en-US" sz="1275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 Carga de registros estructurados (CSV/JSON) resolviendo errores de codificación.</a:t>
              </a:r>
              <a:endParaRPr b="0" sz="12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60" name="Google Shape;260;p20"/>
          <p:cNvGrpSpPr/>
          <p:nvPr/>
        </p:nvGrpSpPr>
        <p:grpSpPr>
          <a:xfrm>
            <a:off x="581025" y="6105525"/>
            <a:ext cx="11030100" cy="381000"/>
            <a:chOff x="581025" y="6105525"/>
            <a:chExt cx="11030100" cy="381000"/>
          </a:xfrm>
        </p:grpSpPr>
        <p:pic>
          <p:nvPicPr>
            <p:cNvPr id="261" name="Google Shape;261;p20"/>
            <p:cNvPicPr preferRelativeResize="0"/>
            <p:nvPr/>
          </p:nvPicPr>
          <p:blipFill rotWithShape="1">
            <a:blip r:embed="rId6">
              <a:alphaModFix/>
            </a:blip>
            <a:srcRect b="0" l="90" r="80" t="0"/>
            <a:stretch/>
          </p:blipFill>
          <p:spPr>
            <a:xfrm>
              <a:off x="581025" y="6105525"/>
              <a:ext cx="11030100" cy="36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20"/>
            <p:cNvSpPr txBox="1"/>
            <p:nvPr/>
          </p:nvSpPr>
          <p:spPr>
            <a:xfrm>
              <a:off x="581025" y="629602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4F81BD"/>
                  </a:solidFill>
                  <a:latin typeface="Lato"/>
                  <a:ea typeface="Lato"/>
                  <a:cs typeface="Lato"/>
                  <a:sym typeface="Lato"/>
                </a:rPr>
                <a:t>2º ASIR • Administración de Sistemas Informáticos en Red</a:t>
              </a:r>
              <a:endParaRPr b="0" sz="900">
                <a:solidFill>
                  <a:srgbClr val="4F81B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/>
        </p:nvSpPr>
        <p:spPr>
          <a:xfrm>
            <a:off x="1069850" y="516300"/>
            <a:ext cx="114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Estrategia de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Calificación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926975" y="516300"/>
            <a:ext cx="477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581025" y="6296025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descr="image.png" id="271" name="Google Shape;27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05075"/>
            <a:ext cx="351785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7000" y="2505075"/>
            <a:ext cx="351785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975" y="2505075"/>
            <a:ext cx="351785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/>
        </p:nvSpPr>
        <p:spPr>
          <a:xfrm>
            <a:off x="828675" y="3295650"/>
            <a:ext cx="317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Pruebas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828675" y="3638550"/>
            <a:ext cx="302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60%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28675" y="4133850"/>
            <a:ext cx="302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Controles e hitos de programación individuales realizados directamente en los equipos del taller.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4584650" y="3295650"/>
            <a:ext cx="317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Prácticas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4584650" y="3638550"/>
            <a:ext cx="302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30%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4584650" y="4133850"/>
            <a:ext cx="302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Laboratorios sistemáticos obligatorios entregados semanalmente con código estructurado y depurado.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8340625" y="3295650"/>
            <a:ext cx="317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Tareas, f</a:t>
            </a: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oros y Actitud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8340625" y="3638550"/>
            <a:ext cx="302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10%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8340625" y="4133850"/>
            <a:ext cx="302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Participación activa resolviendo dudas de compañeros de forma colaborativa en los hilos de Moodle Centros.</a:t>
            </a:r>
            <a:endParaRPr/>
          </a:p>
        </p:txBody>
      </p:sp>
      <p:pic>
        <p:nvPicPr>
          <p:cNvPr descr="image.png" id="283" name="Google Shape;28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27717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4650" y="277177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0625" y="2771775"/>
            <a:ext cx="4286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"/>
          <p:cNvSpPr txBox="1"/>
          <p:nvPr/>
        </p:nvSpPr>
        <p:spPr>
          <a:xfrm>
            <a:off x="1059675" y="534000"/>
            <a:ext cx="114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Fórmulas de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Calificación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916800" y="534000"/>
            <a:ext cx="477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2" name="Google Shape;2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 txBox="1"/>
          <p:nvPr/>
        </p:nvSpPr>
        <p:spPr>
          <a:xfrm>
            <a:off x="581025" y="6296025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294" name="Google Shape;29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2575" y="1715550"/>
            <a:ext cx="9283975" cy="8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8723" y="2572275"/>
            <a:ext cx="8699775" cy="8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6963" y="3692384"/>
            <a:ext cx="10355192" cy="8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326475" y="1437100"/>
            <a:ext cx="485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Calificación Trimestral (1ºT / 2ºT)</a:t>
            </a:r>
            <a:endParaRPr b="0" sz="1650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375575" y="4487000"/>
            <a:ext cx="4196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Evaluación Final Segunda (Suficiencia)</a:t>
            </a:r>
            <a:endParaRPr b="0" sz="1650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522825" y="4867125"/>
            <a:ext cx="51435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el alumnado con RAs suspensos (&lt; 5) o pérdida de evaluación continua.</a:t>
            </a:r>
            <a:endParaRPr b="0" sz="13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Prueba global de RAs suspensos.</a:t>
            </a:r>
            <a:endParaRPr b="0" sz="13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Entrega y defensa de prácticas Moodle.</a:t>
            </a:r>
            <a:endParaRPr b="0" sz="13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326475" y="3396288"/>
            <a:ext cx="485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Evaluación Final </a:t>
            </a:r>
            <a:r>
              <a:rPr lang="en-US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Primera</a:t>
            </a:r>
            <a:endParaRPr b="0" sz="1650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/>
        </p:nvSpPr>
        <p:spPr>
          <a:xfrm>
            <a:off x="866775" y="1935537"/>
            <a:ext cx="107442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Límite de Asistencia Obligatoria (85%):</a:t>
            </a:r>
            <a:r>
              <a:rPr b="0" i="0" lang="en-US" sz="14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 conformidad con el artículo 27.5 del  Decreto 147/2025 de </a:t>
            </a:r>
            <a:r>
              <a:rPr lang="en-US" sz="1475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Andalucía,  </a:t>
            </a:r>
            <a:r>
              <a:rPr b="0" i="0" lang="en-US" sz="14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                                                         se exige la permanencia de al menos el </a:t>
            </a:r>
            <a:r>
              <a:rPr b="1" i="0" lang="en-US" sz="14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85% de las horas totales</a:t>
            </a:r>
            <a:r>
              <a:rPr b="0" i="0" lang="en-US" sz="14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para conservar la evaluación continua.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866775" y="3013249"/>
            <a:ext cx="107442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Criterio de Suficiencia de Bloque:</a:t>
            </a:r>
            <a:r>
              <a:rPr b="0" i="0" lang="en-US" sz="14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Para aprobar el módulo se requiere alcanzar una calificación igual o superior a </a:t>
            </a:r>
            <a:r>
              <a:rPr b="1" i="0" lang="en-US" sz="14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5.0</a:t>
            </a:r>
            <a:r>
              <a:rPr b="0" i="0" lang="en-US" sz="14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por separado tanto en los laboratorios prácticos de Moodle como en los exámenes de taller individuales.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866775" y="4090987"/>
            <a:ext cx="107442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Plazos de Entrega </a:t>
            </a:r>
            <a:r>
              <a:rPr i="0" lang="en-US" sz="14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Estrictos: No se admiten entregas fuera de fecha y hora límite en Moodle Centros. El retraso o no cumplir las especificaciones de la entrega anula la calificación del laboratorio (0.0).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image.png" id="308" name="Google Shape;3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688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4658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2432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 txBox="1"/>
          <p:nvPr/>
        </p:nvSpPr>
        <p:spPr>
          <a:xfrm>
            <a:off x="1077300" y="485775"/>
            <a:ext cx="114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934425" y="485775"/>
            <a:ext cx="477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3" name="Google Shape;31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3"/>
          <p:cNvSpPr txBox="1"/>
          <p:nvPr/>
        </p:nvSpPr>
        <p:spPr>
          <a:xfrm>
            <a:off x="581025" y="6296025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 txBox="1"/>
          <p:nvPr/>
        </p:nvSpPr>
        <p:spPr>
          <a:xfrm>
            <a:off x="866775" y="2205037"/>
            <a:ext cx="50865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y Docker Compose:</a:t>
            </a:r>
            <a:r>
              <a:rPr b="0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Utilización sistemática de contenedores ligeros de </a:t>
            </a:r>
            <a:r>
              <a:rPr b="1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PostgreSQL</a:t>
            </a:r>
            <a:r>
              <a:rPr b="0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MariaDB/MySQL</a:t>
            </a:r>
            <a:r>
              <a:rPr b="0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para simular servidores aislados en red local de taller.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0" name="Google Shape;320;p24"/>
          <p:cNvSpPr txBox="1"/>
          <p:nvPr/>
        </p:nvSpPr>
        <p:spPr>
          <a:xfrm>
            <a:off x="866775" y="3076575"/>
            <a:ext cx="50865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Clientes Universales de Datos:</a:t>
            </a:r>
            <a:r>
              <a:rPr b="0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Uso prioritario del terminal de consola de Linux y del cliente multiplataforma unificado </a:t>
            </a:r>
            <a:r>
              <a:rPr b="1" lang="en-US" sz="1275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MySQL Workbench </a:t>
            </a:r>
            <a:r>
              <a:rPr b="0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para control del SGBD.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866775" y="3948112"/>
            <a:ext cx="50865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Control de Versiones Local:</a:t>
            </a:r>
            <a:r>
              <a:rPr b="0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Integración sistemática del uso de </a:t>
            </a:r>
            <a:r>
              <a:rPr b="1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Git</a:t>
            </a:r>
            <a:r>
              <a:rPr b="0" i="0" lang="en-US" sz="127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para gestionar los cambios incrementales realizados en los scripts procedimentales antes de su entrega.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322" name="Google Shape;3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383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0991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8145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 txBox="1"/>
          <p:nvPr/>
        </p:nvSpPr>
        <p:spPr>
          <a:xfrm>
            <a:off x="1067475" y="505400"/>
            <a:ext cx="114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Entorno de Trabajo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924600" y="505400"/>
            <a:ext cx="477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7" name="Google Shape;32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4"/>
          <p:cNvSpPr txBox="1"/>
          <p:nvPr/>
        </p:nvSpPr>
        <p:spPr>
          <a:xfrm>
            <a:off x="581025" y="6296025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descr="poster horizontal con los logos de docker, git" id="329" name="Google Shape;329;p24"/>
          <p:cNvPicPr preferRelativeResize="0"/>
          <p:nvPr/>
        </p:nvPicPr>
        <p:blipFill rotWithShape="1">
          <a:blip r:embed="rId7">
            <a:alphaModFix/>
          </a:blip>
          <a:srcRect b="22854" l="30674" r="26250" t="25429"/>
          <a:stretch/>
        </p:blipFill>
        <p:spPr>
          <a:xfrm>
            <a:off x="6778500" y="2011250"/>
            <a:ext cx="4674566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 txBox="1"/>
          <p:nvPr/>
        </p:nvSpPr>
        <p:spPr>
          <a:xfrm>
            <a:off x="1049500" y="476250"/>
            <a:ext cx="53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Green Computing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906625" y="476250"/>
            <a:ext cx="477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 txBox="1"/>
          <p:nvPr/>
        </p:nvSpPr>
        <p:spPr>
          <a:xfrm>
            <a:off x="581025" y="2381250"/>
            <a:ext cx="554069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Eficiencia en Servidores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581025" y="2785875"/>
            <a:ext cx="52770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Las consultas ineficientes que provocan escaneos de tabla completa () sobrecargan la CPU de los racks de producción corporativos, incrementando de manera notable el consumo energético del hardware de climatización.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38" name="Google Shape;338;p25"/>
          <p:cNvSpPr txBox="1"/>
          <p:nvPr/>
        </p:nvSpPr>
        <p:spPr>
          <a:xfrm>
            <a:off x="581025" y="4143375"/>
            <a:ext cx="52770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Durante la UT4 de este módulo, aprenderemos que optimizar planes de ejecución, tunear la memoria caché y diseñar índices inteligentes no es solo una meta de velocidad del sistema, sino un compromiso SysAdmin para reducir la huella de carbono digital.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image.png" id="339" name="Google Shape;3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5"/>
          <p:cNvSpPr txBox="1"/>
          <p:nvPr/>
        </p:nvSpPr>
        <p:spPr>
          <a:xfrm>
            <a:off x="581025" y="6296025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descr="crea una imagen con un servidor de bases de datos" id="341" name="Google Shape;34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125" y="9525"/>
            <a:ext cx="5848349" cy="68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6"/>
          <p:cNvSpPr txBox="1"/>
          <p:nvPr/>
        </p:nvSpPr>
        <p:spPr>
          <a:xfrm>
            <a:off x="1049500" y="476250"/>
            <a:ext cx="53907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36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Normas en el</a:t>
            </a:r>
            <a:r>
              <a:rPr lang="en-US" sz="2636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636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aula</a:t>
            </a:r>
            <a:endParaRPr sz="2636">
              <a:solidFill>
                <a:srgbClr val="38BDF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906625" y="476250"/>
            <a:ext cx="477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8" name="Google Shape;3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 txBox="1"/>
          <p:nvPr/>
        </p:nvSpPr>
        <p:spPr>
          <a:xfrm>
            <a:off x="581025" y="6296025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350" name="Google Shape;350;p26"/>
          <p:cNvGrpSpPr/>
          <p:nvPr/>
        </p:nvGrpSpPr>
        <p:grpSpPr>
          <a:xfrm>
            <a:off x="581025" y="1714500"/>
            <a:ext cx="11030100" cy="3333900"/>
            <a:chOff x="581025" y="1714500"/>
            <a:chExt cx="11030100" cy="3333900"/>
          </a:xfrm>
        </p:grpSpPr>
        <p:sp>
          <p:nvSpPr>
            <p:cNvPr id="351" name="Google Shape;351;p26"/>
            <p:cNvSpPr/>
            <p:nvPr/>
          </p:nvSpPr>
          <p:spPr>
            <a:xfrm>
              <a:off x="581025" y="1714500"/>
              <a:ext cx="110301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6"/>
            <p:cNvSpPr txBox="1"/>
            <p:nvPr/>
          </p:nvSpPr>
          <p:spPr>
            <a:xfrm>
              <a:off x="581025" y="1714500"/>
              <a:ext cx="110301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Puestos fijos: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Mantener siempre el mismo lugar asignado.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Uso responsable:</a:t>
              </a:r>
              <a:r>
                <a:rPr b="0" lang="en-US" sz="180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Cuidar el equipamiento y los recursos del aula.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Incidencias:</a:t>
              </a:r>
              <a:r>
                <a:rPr b="0" lang="en-US" sz="180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Avisar inmediatamente de cualquier fallo o anomalía.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Copias de seguridad:</a:t>
              </a:r>
              <a:r>
                <a:rPr b="0" lang="en-US" sz="180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Responsabilidad del alumno sobre sus máquinas virtuales.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Uso de portátiles: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Permitido únicamente para fines académicos bajo supervisión.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Uso de móviles:</a:t>
              </a:r>
              <a:r>
                <a:rPr b="0" lang="en-US" sz="180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1" lang="en-US" sz="1800">
                  <a:solidFill>
                    <a:srgbClr val="DC2626"/>
                  </a:solidFill>
                  <a:latin typeface="Poppins"/>
                  <a:ea typeface="Poppins"/>
                  <a:cs typeface="Poppins"/>
                  <a:sym typeface="Poppins"/>
                </a:rPr>
                <a:t>PROHIBIDO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durante toda la sesión lectiva.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Entrada / Salida:</a:t>
              </a:r>
              <a:r>
                <a:rPr b="0" lang="en-US" sz="180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Respetar los turnos y el orden al entrar o salir del aula.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descr="utiliza iconos en la lista" id="353" name="Google Shape;353;p26"/>
          <p:cNvPicPr preferRelativeResize="0"/>
          <p:nvPr/>
        </p:nvPicPr>
        <p:blipFill rotWithShape="1">
          <a:blip r:embed="rId4">
            <a:alphaModFix/>
          </a:blip>
          <a:srcRect b="21559" l="2065" r="92103" t="25196"/>
          <a:stretch/>
        </p:blipFill>
        <p:spPr>
          <a:xfrm>
            <a:off x="314625" y="1816050"/>
            <a:ext cx="592000" cy="301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 txBox="1"/>
          <p:nvPr/>
        </p:nvSpPr>
        <p:spPr>
          <a:xfrm>
            <a:off x="4030741" y="1762125"/>
            <a:ext cx="413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9" name="Google Shape;359;p27"/>
          <p:cNvSpPr txBox="1"/>
          <p:nvPr/>
        </p:nvSpPr>
        <p:spPr>
          <a:xfrm>
            <a:off x="2624137" y="2952750"/>
            <a:ext cx="6943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Administrando de forma segura, eficiente e íntegra el backend de datos de la empresa.</a:t>
            </a:r>
            <a:endParaRPr/>
          </a:p>
        </p:txBody>
      </p:sp>
      <p:sp>
        <p:nvSpPr>
          <p:cNvPr id="360" name="Google Shape;360;p27"/>
          <p:cNvSpPr txBox="1"/>
          <p:nvPr/>
        </p:nvSpPr>
        <p:spPr>
          <a:xfrm>
            <a:off x="2047875" y="4448175"/>
            <a:ext cx="80964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75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"La consistencia y disponibilidad de los datos no ocurren por accidente; son el resultado de una administración de sistemas rigurosa, planificada y sostenible."</a:t>
            </a:r>
            <a:endParaRPr sz="1600">
              <a:solidFill>
                <a:srgbClr val="888888"/>
              </a:solidFill>
            </a:endParaRPr>
          </a:p>
        </p:txBody>
      </p:sp>
      <p:pic>
        <p:nvPicPr>
          <p:cNvPr descr="image.png" id="361" name="Google Shape;3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7"/>
          <p:cNvSpPr txBox="1"/>
          <p:nvPr/>
        </p:nvSpPr>
        <p:spPr>
          <a:xfrm>
            <a:off x="581025" y="6296025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descr="image.png" id="363" name="Google Shape;36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6229" y="3765562"/>
            <a:ext cx="4439691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