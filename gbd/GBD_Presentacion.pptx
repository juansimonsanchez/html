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y="6858000" cx="12192000"/>
  <p:notesSz cx="6858000" cy="9144000"/>
  <p:embeddedFontLst>
    <p:embeddedFont>
      <p:font typeface="Lato"/>
      <p:regular r:id="rId23"/>
      <p:bold r:id="rId24"/>
      <p:italic r:id="rId25"/>
      <p:boldItalic r:id="rId26"/>
    </p:embeddedFont>
    <p:embeddedFont>
      <p:font typeface="Poppins"/>
      <p:regular r:id="rId27"/>
      <p:bold r:id="rId28"/>
      <p:italic r:id="rId29"/>
      <p:boldItalic r:id="rId30"/>
    </p:embeddedFont>
    <p:embeddedFont>
      <p:font typeface="Poppins SemiBold"/>
      <p:regular r:id="rId31"/>
      <p:bold r:id="rId32"/>
      <p:italic r:id="rId33"/>
      <p:boldItalic r:id="rId3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344F165-F4BB-4514-82D4-DE3137348D60}">
  <a:tblStyle styleId="{3344F165-F4BB-4514-82D4-DE3137348D60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font" Target="fonts/Lato-bold.fntdata"/><Relationship Id="rId23" Type="http://schemas.openxmlformats.org/officeDocument/2006/relationships/font" Target="fonts/Lato-regular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Lato-boldItalic.fntdata"/><Relationship Id="rId25" Type="http://schemas.openxmlformats.org/officeDocument/2006/relationships/font" Target="fonts/Lato-italic.fntdata"/><Relationship Id="rId28" Type="http://schemas.openxmlformats.org/officeDocument/2006/relationships/font" Target="fonts/Poppins-bold.fntdata"/><Relationship Id="rId27" Type="http://schemas.openxmlformats.org/officeDocument/2006/relationships/font" Target="fonts/Poppins-regular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Poppins-italic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PoppinsSemiBold-regular.fntdata"/><Relationship Id="rId30" Type="http://schemas.openxmlformats.org/officeDocument/2006/relationships/font" Target="fonts/Poppins-boldItalic.fntdata"/><Relationship Id="rId11" Type="http://schemas.openxmlformats.org/officeDocument/2006/relationships/slide" Target="slides/slide5.xml"/><Relationship Id="rId33" Type="http://schemas.openxmlformats.org/officeDocument/2006/relationships/font" Target="fonts/PoppinsSemiBold-italic.fntdata"/><Relationship Id="rId10" Type="http://schemas.openxmlformats.org/officeDocument/2006/relationships/slide" Target="slides/slide4.xml"/><Relationship Id="rId32" Type="http://schemas.openxmlformats.org/officeDocument/2006/relationships/font" Target="fonts/PoppinsSemiBold-bold.fntdata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34" Type="http://schemas.openxmlformats.org/officeDocument/2006/relationships/font" Target="fonts/PoppinsSemiBold-boldItalic.fntdata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f9b6aea9e3_43_9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f9b6aea9e3_43_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f9b673276e_0_21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f9b673276e_0_2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9" name="Google Shape;299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2" title="logo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6400" y="133558"/>
            <a:ext cx="665900" cy="885625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2"/>
          <p:cNvSpPr txBox="1"/>
          <p:nvPr/>
        </p:nvSpPr>
        <p:spPr>
          <a:xfrm>
            <a:off x="900150" y="474050"/>
            <a:ext cx="29043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IES Celia Viñas | Dpto. Informática (Almería)</a:t>
            </a:r>
            <a:endParaRPr/>
          </a:p>
        </p:txBody>
      </p:sp>
      <p:pic>
        <p:nvPicPr>
          <p:cNvPr descr="image.png" id="14" name="Google Shape;14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025" y="6296025"/>
            <a:ext cx="11029950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2"/>
          <p:cNvSpPr txBox="1"/>
          <p:nvPr/>
        </p:nvSpPr>
        <p:spPr>
          <a:xfrm>
            <a:off x="581025" y="6456450"/>
            <a:ext cx="2959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4F81BD"/>
                </a:solidFill>
                <a:latin typeface="Lato"/>
                <a:ea typeface="Lato"/>
                <a:cs typeface="Lato"/>
                <a:sym typeface="Lato"/>
              </a:rPr>
              <a:t>2º ASIR • Administración de Sistemas Informáticos en Red</a:t>
            </a:r>
            <a:endParaRPr>
              <a:solidFill>
                <a:srgbClr val="4F81BD"/>
              </a:solidFill>
            </a:endParaRPr>
          </a:p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11729025" y="6303750"/>
            <a:ext cx="317400" cy="44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>
                <a:solidFill>
                  <a:schemeClr val="accent1"/>
                </a:solidFill>
              </a:defRPr>
            </a:lvl1pPr>
            <a:lvl2pPr indent="0" lvl="1" marL="0" algn="r">
              <a:spcBef>
                <a:spcPts val="0"/>
              </a:spcBef>
              <a:buNone/>
              <a:defRPr>
                <a:solidFill>
                  <a:schemeClr val="accent1"/>
                </a:solidFill>
              </a:defRPr>
            </a:lvl2pPr>
            <a:lvl3pPr indent="0" lvl="2" marL="0" algn="r">
              <a:spcBef>
                <a:spcPts val="0"/>
              </a:spcBef>
              <a:buNone/>
              <a:defRPr>
                <a:solidFill>
                  <a:schemeClr val="accent1"/>
                </a:solidFill>
              </a:defRPr>
            </a:lvl3pPr>
            <a:lvl4pPr indent="0" lvl="3" marL="0" algn="r">
              <a:spcBef>
                <a:spcPts val="0"/>
              </a:spcBef>
              <a:buNone/>
              <a:defRPr>
                <a:solidFill>
                  <a:schemeClr val="accent1"/>
                </a:solidFill>
              </a:defRPr>
            </a:lvl4pPr>
            <a:lvl5pPr indent="0" lvl="4" marL="0" algn="r">
              <a:spcBef>
                <a:spcPts val="0"/>
              </a:spcBef>
              <a:buNone/>
              <a:defRPr>
                <a:solidFill>
                  <a:schemeClr val="accent1"/>
                </a:solidFill>
              </a:defRPr>
            </a:lvl5pPr>
            <a:lvl6pPr indent="0" lvl="5" marL="0" algn="r">
              <a:spcBef>
                <a:spcPts val="0"/>
              </a:spcBef>
              <a:buNone/>
              <a:defRPr>
                <a:solidFill>
                  <a:schemeClr val="accent1"/>
                </a:solidFill>
              </a:defRPr>
            </a:lvl6pPr>
            <a:lvl7pPr indent="0" lvl="6" marL="0" algn="r">
              <a:spcBef>
                <a:spcPts val="0"/>
              </a:spcBef>
              <a:buNone/>
              <a:defRPr>
                <a:solidFill>
                  <a:schemeClr val="accent1"/>
                </a:solidFill>
              </a:defRPr>
            </a:lvl7pPr>
            <a:lvl8pPr indent="0" lvl="7" marL="0" algn="r">
              <a:spcBef>
                <a:spcPts val="0"/>
              </a:spcBef>
              <a:buNone/>
              <a:defRPr>
                <a:solidFill>
                  <a:schemeClr val="accent1"/>
                </a:solidFill>
              </a:defRPr>
            </a:lvl8pPr>
            <a:lvl9pPr indent="0" lvl="8" marL="0" algn="r">
              <a:spcBef>
                <a:spcPts val="0"/>
              </a:spcBef>
              <a:buNone/>
              <a:defRPr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3407675" y="304863"/>
            <a:ext cx="47700" cy="543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1" name="Google Shape;21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7" name="Google Shape;27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9" name="Google Shape;39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0" name="Google Shape;40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7" name="Google Shape;47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9" name="Google Shape;49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0" name="Google Shape;60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1" name="Google Shape;61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7" name="Google Shape;67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8" name="Google Shape;68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4" name="Google Shape;74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0" name="Google Shape;80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(g3f9b6aea9e3_29_0)">
  <p:cSld name="Generated (g3f9b6aea9e3_29_0)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3.png"/><Relationship Id="rId4" Type="http://schemas.openxmlformats.org/officeDocument/2006/relationships/image" Target="../media/image2.png"/><Relationship Id="rId9" Type="http://schemas.openxmlformats.org/officeDocument/2006/relationships/image" Target="../media/image12.png"/><Relationship Id="rId5" Type="http://schemas.openxmlformats.org/officeDocument/2006/relationships/image" Target="../media/image14.png"/><Relationship Id="rId6" Type="http://schemas.openxmlformats.org/officeDocument/2006/relationships/image" Target="../media/image11.png"/><Relationship Id="rId7" Type="http://schemas.openxmlformats.org/officeDocument/2006/relationships/image" Target="../media/image24.png"/><Relationship Id="rId8" Type="http://schemas.openxmlformats.org/officeDocument/2006/relationships/image" Target="../media/image7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3.png"/><Relationship Id="rId4" Type="http://schemas.openxmlformats.org/officeDocument/2006/relationships/image" Target="../media/image1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2.png"/><Relationship Id="rId4" Type="http://schemas.openxmlformats.org/officeDocument/2006/relationships/image" Target="../media/image9.png"/><Relationship Id="rId5" Type="http://schemas.openxmlformats.org/officeDocument/2006/relationships/image" Target="../media/image5.png"/><Relationship Id="rId6" Type="http://schemas.openxmlformats.org/officeDocument/2006/relationships/image" Target="../media/image3.png"/><Relationship Id="rId7" Type="http://schemas.openxmlformats.org/officeDocument/2006/relationships/image" Target="../media/image6.png"/><Relationship Id="rId8" Type="http://schemas.openxmlformats.org/officeDocument/2006/relationships/image" Target="../media/image2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Relationship Id="rId4" Type="http://schemas.openxmlformats.org/officeDocument/2006/relationships/image" Target="../media/image4.png"/><Relationship Id="rId5" Type="http://schemas.openxmlformats.org/officeDocument/2006/relationships/image" Target="../media/image15.png"/><Relationship Id="rId6" Type="http://schemas.openxmlformats.org/officeDocument/2006/relationships/image" Target="../media/image1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8.png"/><Relationship Id="rId4" Type="http://schemas.openxmlformats.org/officeDocument/2006/relationships/image" Target="../media/image21.png"/><Relationship Id="rId5" Type="http://schemas.openxmlformats.org/officeDocument/2006/relationships/image" Target="../media/image30.png"/><Relationship Id="rId6" Type="http://schemas.openxmlformats.org/officeDocument/2006/relationships/image" Target="../media/image38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5.png"/><Relationship Id="rId4" Type="http://schemas.openxmlformats.org/officeDocument/2006/relationships/image" Target="../media/image3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4.png"/><Relationship Id="rId4" Type="http://schemas.openxmlformats.org/officeDocument/2006/relationships/image" Target="../media/image29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6.png"/><Relationship Id="rId4" Type="http://schemas.openxmlformats.org/officeDocument/2006/relationships/image" Target="../media/image40.png"/><Relationship Id="rId5" Type="http://schemas.openxmlformats.org/officeDocument/2006/relationships/image" Target="../media/image37.png"/><Relationship Id="rId6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4"/>
          <p:cNvSpPr txBox="1"/>
          <p:nvPr/>
        </p:nvSpPr>
        <p:spPr>
          <a:xfrm>
            <a:off x="5053012" y="1988790"/>
            <a:ext cx="2085975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284C7"/>
                </a:solidFill>
                <a:latin typeface="Poppins"/>
                <a:ea typeface="Poppins"/>
                <a:cs typeface="Poppins"/>
                <a:sym typeface="Poppins"/>
              </a:rPr>
              <a:t>1º CURSO - C.F.G.S. ASIR</a:t>
            </a:r>
            <a:endParaRPr/>
          </a:p>
        </p:txBody>
      </p:sp>
      <p:sp>
        <p:nvSpPr>
          <p:cNvPr id="89" name="Google Shape;89;p14"/>
          <p:cNvSpPr txBox="1"/>
          <p:nvPr/>
        </p:nvSpPr>
        <p:spPr>
          <a:xfrm>
            <a:off x="2460545" y="2379315"/>
            <a:ext cx="7270908" cy="613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2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Gestión de Bases de Datos</a:t>
            </a:r>
            <a:endParaRPr/>
          </a:p>
        </p:txBody>
      </p:sp>
      <p:sp>
        <p:nvSpPr>
          <p:cNvPr id="90" name="Google Shape;90;p14"/>
          <p:cNvSpPr txBox="1"/>
          <p:nvPr/>
        </p:nvSpPr>
        <p:spPr>
          <a:xfrm>
            <a:off x="2047875" y="3183135"/>
            <a:ext cx="809625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Guía docente, secuenciación didáctica y evaluación continua en el nuevo marco de Formación Profesional (Curso 2026 / 2027).</a:t>
            </a:r>
            <a:endParaRPr/>
          </a:p>
        </p:txBody>
      </p:sp>
      <p:pic>
        <p:nvPicPr>
          <p:cNvPr descr="image.png" id="91" name="Google Shape;91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95450" y="4491746"/>
            <a:ext cx="2357437" cy="104298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2" name="Google Shape;92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643387" y="4491746"/>
            <a:ext cx="2357437" cy="104298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3" name="Google Shape;93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91325" y="4491746"/>
            <a:ext cx="2357437" cy="104298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4" name="Google Shape;94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739262" y="4491746"/>
            <a:ext cx="2357437" cy="104298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5" name="Google Shape;95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2169393" y="4644146"/>
            <a:ext cx="209550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4"/>
          <p:cNvSpPr txBox="1"/>
          <p:nvPr/>
        </p:nvSpPr>
        <p:spPr>
          <a:xfrm>
            <a:off x="1196534" y="4929896"/>
            <a:ext cx="2155200" cy="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94A3B8"/>
                </a:solidFill>
                <a:latin typeface="Poppins"/>
                <a:ea typeface="Poppins"/>
                <a:cs typeface="Poppins"/>
                <a:sym typeface="Poppins"/>
              </a:rPr>
              <a:t>CARGA HORARIA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1247850" y="5168021"/>
            <a:ext cx="2052600" cy="2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25">
                <a:solidFill>
                  <a:srgbClr val="F8FAFC"/>
                </a:solidFill>
                <a:latin typeface="Lato"/>
                <a:ea typeface="Lato"/>
                <a:cs typeface="Lato"/>
                <a:sym typeface="Lato"/>
              </a:rPr>
              <a:t>6</a:t>
            </a:r>
            <a:r>
              <a:rPr b="1" i="0" lang="en-US" sz="1425" u="none" cap="none" strike="noStrike">
                <a:solidFill>
                  <a:srgbClr val="F8FAFC"/>
                </a:solidFill>
                <a:latin typeface="Lato"/>
                <a:ea typeface="Lato"/>
                <a:cs typeface="Lato"/>
                <a:sym typeface="Lato"/>
              </a:rPr>
              <a:t> Horas Semanales</a:t>
            </a:r>
            <a:endParaRPr sz="1700"/>
          </a:p>
        </p:txBody>
      </p:sp>
      <p:pic>
        <p:nvPicPr>
          <p:cNvPr descr="image.png" id="98" name="Google Shape;98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688756" y="4644146"/>
            <a:ext cx="266700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4"/>
          <p:cNvSpPr txBox="1"/>
          <p:nvPr/>
        </p:nvSpPr>
        <p:spPr>
          <a:xfrm>
            <a:off x="3744471" y="4929896"/>
            <a:ext cx="2155200" cy="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94A3B8"/>
                </a:solidFill>
                <a:latin typeface="Poppins"/>
                <a:ea typeface="Poppins"/>
                <a:cs typeface="Poppins"/>
                <a:sym typeface="Poppins"/>
              </a:rPr>
              <a:t>CICLO PROFESIONAL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3795787" y="5168021"/>
            <a:ext cx="2052600" cy="2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25">
                <a:solidFill>
                  <a:srgbClr val="F8FAFC"/>
                </a:solidFill>
                <a:latin typeface="Lato"/>
                <a:ea typeface="Lato"/>
                <a:cs typeface="Lato"/>
                <a:sym typeface="Lato"/>
              </a:rPr>
              <a:t>1</a:t>
            </a:r>
            <a:r>
              <a:rPr b="1" i="0" lang="en-US" sz="1425" u="none" cap="none" strike="noStrike">
                <a:solidFill>
                  <a:srgbClr val="F8FAFC"/>
                </a:solidFill>
                <a:latin typeface="Lato"/>
                <a:ea typeface="Lato"/>
                <a:cs typeface="Lato"/>
                <a:sym typeface="Lato"/>
              </a:rPr>
              <a:t>º ASIR</a:t>
            </a:r>
            <a:endParaRPr sz="1700"/>
          </a:p>
        </p:txBody>
      </p:sp>
      <p:pic>
        <p:nvPicPr>
          <p:cNvPr descr="image.png" id="101" name="Google Shape;101;p1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236693" y="4644146"/>
            <a:ext cx="266700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4"/>
          <p:cNvSpPr txBox="1"/>
          <p:nvPr/>
        </p:nvSpPr>
        <p:spPr>
          <a:xfrm>
            <a:off x="6292409" y="4929896"/>
            <a:ext cx="2155200" cy="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94A3B8"/>
                </a:solidFill>
                <a:latin typeface="Poppins"/>
                <a:ea typeface="Poppins"/>
                <a:cs typeface="Poppins"/>
                <a:sym typeface="Poppins"/>
              </a:rPr>
              <a:t>CENTRO EDUCATIVO</a:t>
            </a:r>
            <a:endParaRPr/>
          </a:p>
        </p:txBody>
      </p:sp>
      <p:sp>
        <p:nvSpPr>
          <p:cNvPr id="103" name="Google Shape;103;p14"/>
          <p:cNvSpPr txBox="1"/>
          <p:nvPr/>
        </p:nvSpPr>
        <p:spPr>
          <a:xfrm>
            <a:off x="6343725" y="5168021"/>
            <a:ext cx="2052600" cy="2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25" u="none" cap="none" strike="noStrike">
                <a:solidFill>
                  <a:srgbClr val="F8FAFC"/>
                </a:solidFill>
                <a:latin typeface="Lato"/>
                <a:ea typeface="Lato"/>
                <a:cs typeface="Lato"/>
                <a:sym typeface="Lato"/>
              </a:rPr>
              <a:t>IES Celia Viñas</a:t>
            </a:r>
            <a:endParaRPr sz="1700"/>
          </a:p>
        </p:txBody>
      </p:sp>
      <p:pic>
        <p:nvPicPr>
          <p:cNvPr descr="image.png" id="104" name="Google Shape;104;p1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827493" y="4644146"/>
            <a:ext cx="180975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4"/>
          <p:cNvSpPr txBox="1"/>
          <p:nvPr/>
        </p:nvSpPr>
        <p:spPr>
          <a:xfrm>
            <a:off x="8840346" y="4929896"/>
            <a:ext cx="2155200" cy="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94A3B8"/>
                </a:solidFill>
                <a:latin typeface="Poppins"/>
                <a:ea typeface="Poppins"/>
                <a:cs typeface="Poppins"/>
                <a:sym typeface="Poppins"/>
              </a:rPr>
              <a:t>DOCENTE</a:t>
            </a:r>
            <a:endParaRPr/>
          </a:p>
        </p:txBody>
      </p:sp>
      <p:sp>
        <p:nvSpPr>
          <p:cNvPr id="106" name="Google Shape;106;p14"/>
          <p:cNvSpPr txBox="1"/>
          <p:nvPr/>
        </p:nvSpPr>
        <p:spPr>
          <a:xfrm>
            <a:off x="8891662" y="5168021"/>
            <a:ext cx="2052600" cy="2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25" u="none" cap="none" strike="noStrike">
                <a:solidFill>
                  <a:srgbClr val="F8FAFC"/>
                </a:solidFill>
                <a:latin typeface="Lato"/>
                <a:ea typeface="Lato"/>
                <a:cs typeface="Lato"/>
                <a:sym typeface="Lato"/>
              </a:rPr>
              <a:t>J</a:t>
            </a:r>
            <a:r>
              <a:rPr b="1" lang="en-US" sz="1425">
                <a:solidFill>
                  <a:srgbClr val="F8FAFC"/>
                </a:solidFill>
                <a:latin typeface="Lato"/>
                <a:ea typeface="Lato"/>
                <a:cs typeface="Lato"/>
                <a:sym typeface="Lato"/>
              </a:rPr>
              <a:t>uan</a:t>
            </a:r>
            <a:r>
              <a:rPr b="1" i="0" lang="en-US" sz="1425" u="none" cap="none" strike="noStrike">
                <a:solidFill>
                  <a:srgbClr val="F8FAFC"/>
                </a:solidFill>
                <a:latin typeface="Lato"/>
                <a:ea typeface="Lato"/>
                <a:cs typeface="Lato"/>
                <a:sym typeface="Lato"/>
              </a:rPr>
              <a:t> Simón Sánchez</a:t>
            </a:r>
            <a:endParaRPr sz="17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11" name="Google Shape;11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025" y="2590800"/>
            <a:ext cx="5372101" cy="23717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2" name="Google Shape;112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38875" y="2590800"/>
            <a:ext cx="5372101" cy="2371725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5"/>
          <p:cNvSpPr txBox="1"/>
          <p:nvPr/>
        </p:nvSpPr>
        <p:spPr>
          <a:xfrm>
            <a:off x="828675" y="2838450"/>
            <a:ext cx="51207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38BDF8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Marco Normativo Estatal</a:t>
            </a:r>
            <a:endParaRPr/>
          </a:p>
        </p:txBody>
      </p:sp>
      <p:sp>
        <p:nvSpPr>
          <p:cNvPr id="114" name="Google Shape;114;p15"/>
          <p:cNvSpPr/>
          <p:nvPr/>
        </p:nvSpPr>
        <p:spPr>
          <a:xfrm>
            <a:off x="828675" y="3248025"/>
            <a:ext cx="4876800" cy="9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5"/>
          <p:cNvSpPr txBox="1"/>
          <p:nvPr/>
        </p:nvSpPr>
        <p:spPr>
          <a:xfrm>
            <a:off x="828675" y="3419475"/>
            <a:ext cx="4876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Regulado por la ley de ordenación estatal de FP de integración del sistema de Formación Profesional.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16" name="Google Shape;116;p15"/>
          <p:cNvSpPr txBox="1"/>
          <p:nvPr/>
        </p:nvSpPr>
        <p:spPr>
          <a:xfrm>
            <a:off x="828675" y="4067175"/>
            <a:ext cx="4876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Adaptado conforme al </a:t>
            </a:r>
            <a:r>
              <a:rPr lang="en-US" sz="1275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Real Decreto 659/2023 </a:t>
            </a:r>
            <a:r>
              <a:rPr lang="en-US" sz="1275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de </a:t>
            </a:r>
            <a:r>
              <a:rPr b="0" i="0" lang="en-US" sz="1275" u="none" cap="none" strike="noStrike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ordenación de las enseñanzas de FP.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17" name="Google Shape;117;p15"/>
          <p:cNvSpPr txBox="1"/>
          <p:nvPr/>
        </p:nvSpPr>
        <p:spPr>
          <a:xfrm>
            <a:off x="6486525" y="2838450"/>
            <a:ext cx="51207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38BDF8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Legislación en Andalucía</a:t>
            </a:r>
            <a:endParaRPr/>
          </a:p>
        </p:txBody>
      </p:sp>
      <p:sp>
        <p:nvSpPr>
          <p:cNvPr id="118" name="Google Shape;118;p15"/>
          <p:cNvSpPr/>
          <p:nvPr/>
        </p:nvSpPr>
        <p:spPr>
          <a:xfrm>
            <a:off x="6486525" y="3248025"/>
            <a:ext cx="4876800" cy="9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5"/>
          <p:cNvSpPr txBox="1"/>
          <p:nvPr/>
        </p:nvSpPr>
        <p:spPr>
          <a:xfrm>
            <a:off x="6486525" y="3419475"/>
            <a:ext cx="4876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FFFFFF"/>
                </a:solidFill>
                <a:highlight>
                  <a:srgbClr val="000000"/>
                </a:highlight>
                <a:latin typeface="Lato"/>
                <a:ea typeface="Lato"/>
                <a:cs typeface="Lato"/>
                <a:sym typeface="Lato"/>
              </a:rPr>
              <a:t>Adaptado al nuevo </a:t>
            </a:r>
            <a:r>
              <a:rPr lang="en-US" sz="1275">
                <a:solidFill>
                  <a:srgbClr val="FFFFFF"/>
                </a:solidFill>
                <a:highlight>
                  <a:srgbClr val="000000"/>
                </a:highlight>
                <a:latin typeface="Lato"/>
                <a:ea typeface="Lato"/>
                <a:cs typeface="Lato"/>
                <a:sym typeface="Lato"/>
              </a:rPr>
              <a:t>Decreto 147/2025 de</a:t>
            </a:r>
            <a:r>
              <a:rPr b="0" i="0" lang="en-US" sz="1275" u="none" cap="none" strike="noStrike">
                <a:solidFill>
                  <a:srgbClr val="FFFFFF"/>
                </a:solidFill>
                <a:highlight>
                  <a:srgbClr val="000000"/>
                </a:highlight>
                <a:latin typeface="Lato"/>
                <a:ea typeface="Lato"/>
                <a:cs typeface="Lato"/>
                <a:sym typeface="Lato"/>
              </a:rPr>
              <a:t>  enseñanzas y grados de Formación Profesional en Andalucía.</a:t>
            </a:r>
            <a:endParaRPr>
              <a:solidFill>
                <a:srgbClr val="FFFFFF"/>
              </a:solidFill>
              <a:highlight>
                <a:srgbClr val="000000"/>
              </a:highlight>
            </a:endParaRPr>
          </a:p>
        </p:txBody>
      </p:sp>
      <p:sp>
        <p:nvSpPr>
          <p:cNvPr id="120" name="Google Shape;120;p15"/>
          <p:cNvSpPr txBox="1"/>
          <p:nvPr/>
        </p:nvSpPr>
        <p:spPr>
          <a:xfrm>
            <a:off x="6486525" y="4067175"/>
            <a:ext cx="4876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Evaluado bajo la  Orden de 18 de septiembre de 2025 de calificaciones.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21" name="Google Shape;121;p15"/>
          <p:cNvSpPr txBox="1"/>
          <p:nvPr/>
        </p:nvSpPr>
        <p:spPr>
          <a:xfrm>
            <a:off x="3652850" y="394200"/>
            <a:ext cx="81669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1F497D"/>
                </a:solidFill>
                <a:latin typeface="Poppins"/>
                <a:ea typeface="Poppins"/>
                <a:cs typeface="Poppins"/>
                <a:sym typeface="Poppins"/>
              </a:rPr>
              <a:t>Contextualización </a:t>
            </a:r>
            <a:r>
              <a:rPr b="1" i="0" lang="en-US" sz="2400" u="none" cap="none" strike="noStrike">
                <a:solidFill>
                  <a:srgbClr val="38BDF8"/>
                </a:solidFill>
                <a:latin typeface="Poppins"/>
                <a:ea typeface="Poppins"/>
                <a:cs typeface="Poppins"/>
                <a:sym typeface="Poppins"/>
              </a:rPr>
              <a:t>Normativa</a:t>
            </a:r>
            <a:endParaRPr>
              <a:solidFill>
                <a:srgbClr val="38BDF8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26" name="Google Shape;12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1928974"/>
            <a:ext cx="5334000" cy="2789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7" name="Google Shape;127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86500" y="1928974"/>
            <a:ext cx="5334000" cy="2789450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6"/>
          <p:cNvSpPr txBox="1"/>
          <p:nvPr/>
        </p:nvSpPr>
        <p:spPr>
          <a:xfrm>
            <a:off x="866775" y="2224253"/>
            <a:ext cx="49806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369A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Carga Horaria</a:t>
            </a:r>
            <a:endParaRPr/>
          </a:p>
        </p:txBody>
      </p:sp>
      <p:sp>
        <p:nvSpPr>
          <p:cNvPr id="129" name="Google Shape;129;p16"/>
          <p:cNvSpPr txBox="1"/>
          <p:nvPr/>
        </p:nvSpPr>
        <p:spPr>
          <a:xfrm>
            <a:off x="866775" y="2671928"/>
            <a:ext cx="4743600" cy="101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75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6 Horas Semanales:</a:t>
            </a:r>
            <a:r>
              <a:rPr b="0" i="0" lang="en-US" sz="1575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Distribuidas de manera equilibrada en sesiones prácticas intensivas dentro de nuestro taller.</a:t>
            </a:r>
            <a:endParaRPr sz="1700"/>
          </a:p>
        </p:txBody>
      </p:sp>
      <p:sp>
        <p:nvSpPr>
          <p:cNvPr id="130" name="Google Shape;130;p16"/>
          <p:cNvSpPr txBox="1"/>
          <p:nvPr/>
        </p:nvSpPr>
        <p:spPr>
          <a:xfrm>
            <a:off x="866700" y="3804125"/>
            <a:ext cx="4743600" cy="63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75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192 Horas Totales:</a:t>
            </a:r>
            <a:r>
              <a:rPr b="0" i="0" lang="en-US" sz="1575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Concentradas a lo largo de los tres trimestres lectivos en el centro docente.</a:t>
            </a:r>
            <a:endParaRPr sz="1700"/>
          </a:p>
        </p:txBody>
      </p:sp>
      <p:sp>
        <p:nvSpPr>
          <p:cNvPr id="131" name="Google Shape;131;p16"/>
          <p:cNvSpPr txBox="1"/>
          <p:nvPr/>
        </p:nvSpPr>
        <p:spPr>
          <a:xfrm>
            <a:off x="6581775" y="2224253"/>
            <a:ext cx="49806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369A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Infraestructura y Herramientas</a:t>
            </a:r>
            <a:endParaRPr/>
          </a:p>
        </p:txBody>
      </p:sp>
      <p:sp>
        <p:nvSpPr>
          <p:cNvPr id="132" name="Google Shape;132;p16"/>
          <p:cNvSpPr txBox="1"/>
          <p:nvPr/>
        </p:nvSpPr>
        <p:spPr>
          <a:xfrm>
            <a:off x="6581775" y="2671928"/>
            <a:ext cx="4743600" cy="63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75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Entorno Nativo:</a:t>
            </a:r>
            <a:r>
              <a:rPr b="0" i="0" lang="en-US" sz="1575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Utilización del sistema operativo openSUSE en cada estación de trabajo.</a:t>
            </a:r>
            <a:endParaRPr sz="1700"/>
          </a:p>
        </p:txBody>
      </p:sp>
      <p:sp>
        <p:nvSpPr>
          <p:cNvPr id="133" name="Google Shape;133;p16"/>
          <p:cNvSpPr txBox="1"/>
          <p:nvPr/>
        </p:nvSpPr>
        <p:spPr>
          <a:xfrm>
            <a:off x="6581775" y="3484475"/>
            <a:ext cx="4743600" cy="101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75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Gestores de Datos:</a:t>
            </a:r>
            <a:r>
              <a:rPr b="0" i="0" lang="en-US" sz="1575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Pr</a:t>
            </a:r>
            <a:r>
              <a:rPr lang="en-US" sz="1575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incipalmente</a:t>
            </a:r>
            <a:r>
              <a:rPr b="0" i="0" lang="en-US" sz="1575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con MariaDB/MySQL, SQLite, PostgreSQL y accesos virtuales a Oracle.</a:t>
            </a:r>
            <a:endParaRPr sz="1700"/>
          </a:p>
        </p:txBody>
      </p:sp>
      <p:sp>
        <p:nvSpPr>
          <p:cNvPr id="134" name="Google Shape;134;p16"/>
          <p:cNvSpPr txBox="1"/>
          <p:nvPr/>
        </p:nvSpPr>
        <p:spPr>
          <a:xfrm>
            <a:off x="3673200" y="327300"/>
            <a:ext cx="85188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Estructura de </a:t>
            </a:r>
            <a:r>
              <a:rPr b="1" i="0" lang="en-US" sz="2850" u="none" cap="none" strike="noStrike">
                <a:solidFill>
                  <a:srgbClr val="38BDF8"/>
                </a:solidFill>
                <a:latin typeface="Poppins"/>
                <a:ea typeface="Poppins"/>
                <a:cs typeface="Poppins"/>
                <a:sym typeface="Poppins"/>
              </a:rPr>
              <a:t>Tiempos</a:t>
            </a:r>
            <a:r>
              <a:rPr b="1" i="0" lang="en-US" sz="285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 y </a:t>
            </a:r>
            <a:r>
              <a:rPr b="1" i="0" lang="en-US" sz="2850" u="none" cap="none" strike="noStrike">
                <a:solidFill>
                  <a:srgbClr val="38BDF8"/>
                </a:solidFill>
                <a:latin typeface="Poppins"/>
                <a:ea typeface="Poppins"/>
                <a:cs typeface="Poppins"/>
                <a:sym typeface="Poppins"/>
              </a:rPr>
              <a:t>Recursos</a:t>
            </a:r>
            <a:endParaRPr>
              <a:solidFill>
                <a:srgbClr val="38BDF8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9" name="Google Shape;139;p17"/>
          <p:cNvGraphicFramePr/>
          <p:nvPr/>
        </p:nvGraphicFramePr>
        <p:xfrm>
          <a:off x="571500" y="238125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{3344F165-F4BB-4514-82D4-DE3137348D60}</a:tableStyleId>
              </a:tblPr>
              <a:tblGrid>
                <a:gridCol w="3529450"/>
                <a:gridCol w="1097750"/>
                <a:gridCol w="6421775"/>
              </a:tblGrid>
              <a:tr h="417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0F172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Resultado de Aprendizaje (RA)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0F172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Peso %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0F172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Descripción y Ámbito de Evaluación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417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425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RA1: Elementos del SGBD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425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5%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425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Arquitectura lógica/física y utilidades esenciales del gestor de datos.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7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425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RA2: Diseño Lógico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425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20%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425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Modelado Entidad-Relación y proceso formal de normalización (hasta FNBC).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7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425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RA3: Diseño Físico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425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15%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425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Lenguaje de Definición de Datos (DDL) y establecimiento de restricciones.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7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425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RA4: Consulta de Información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425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35%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425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Explotación avanzada de datos con DML (sentencia SELECT compleja).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7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425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RA5: Modificación de Datos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425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15%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425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Sentencias de edición (INSERT, UPDATE, DELETE) y control de transacciones.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7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425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RA6: Programación y Seguridad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425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10%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425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Triggers, procedimientos almacenados, seguridad, roles y backups.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40" name="Google Shape;140;p17"/>
          <p:cNvSpPr/>
          <p:nvPr/>
        </p:nvSpPr>
        <p:spPr>
          <a:xfrm>
            <a:off x="571500" y="2843212"/>
            <a:ext cx="352945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7"/>
          <p:cNvSpPr/>
          <p:nvPr/>
        </p:nvSpPr>
        <p:spPr>
          <a:xfrm>
            <a:off x="4100958" y="2843212"/>
            <a:ext cx="109775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7"/>
          <p:cNvSpPr/>
          <p:nvPr/>
        </p:nvSpPr>
        <p:spPr>
          <a:xfrm>
            <a:off x="5198715" y="2843212"/>
            <a:ext cx="642178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7"/>
          <p:cNvSpPr/>
          <p:nvPr/>
        </p:nvSpPr>
        <p:spPr>
          <a:xfrm>
            <a:off x="571500" y="3252787"/>
            <a:ext cx="352945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7"/>
          <p:cNvSpPr/>
          <p:nvPr/>
        </p:nvSpPr>
        <p:spPr>
          <a:xfrm>
            <a:off x="4100958" y="3252787"/>
            <a:ext cx="109775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7"/>
          <p:cNvSpPr/>
          <p:nvPr/>
        </p:nvSpPr>
        <p:spPr>
          <a:xfrm>
            <a:off x="5198715" y="3252787"/>
            <a:ext cx="642178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7"/>
          <p:cNvSpPr/>
          <p:nvPr/>
        </p:nvSpPr>
        <p:spPr>
          <a:xfrm>
            <a:off x="571500" y="3662362"/>
            <a:ext cx="352945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7"/>
          <p:cNvSpPr/>
          <p:nvPr/>
        </p:nvSpPr>
        <p:spPr>
          <a:xfrm>
            <a:off x="4100958" y="3662362"/>
            <a:ext cx="109775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7"/>
          <p:cNvSpPr/>
          <p:nvPr/>
        </p:nvSpPr>
        <p:spPr>
          <a:xfrm>
            <a:off x="5198715" y="3662362"/>
            <a:ext cx="642178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7"/>
          <p:cNvSpPr/>
          <p:nvPr/>
        </p:nvSpPr>
        <p:spPr>
          <a:xfrm>
            <a:off x="571500" y="4071937"/>
            <a:ext cx="352945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7"/>
          <p:cNvSpPr/>
          <p:nvPr/>
        </p:nvSpPr>
        <p:spPr>
          <a:xfrm>
            <a:off x="4100958" y="4071937"/>
            <a:ext cx="109775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7"/>
          <p:cNvSpPr/>
          <p:nvPr/>
        </p:nvSpPr>
        <p:spPr>
          <a:xfrm>
            <a:off x="5198715" y="4071937"/>
            <a:ext cx="642178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7"/>
          <p:cNvSpPr/>
          <p:nvPr/>
        </p:nvSpPr>
        <p:spPr>
          <a:xfrm>
            <a:off x="571500" y="4481512"/>
            <a:ext cx="352945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7"/>
          <p:cNvSpPr/>
          <p:nvPr/>
        </p:nvSpPr>
        <p:spPr>
          <a:xfrm>
            <a:off x="4100958" y="4481512"/>
            <a:ext cx="109775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7"/>
          <p:cNvSpPr/>
          <p:nvPr/>
        </p:nvSpPr>
        <p:spPr>
          <a:xfrm>
            <a:off x="5198715" y="4481512"/>
            <a:ext cx="642178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7"/>
          <p:cNvSpPr/>
          <p:nvPr/>
        </p:nvSpPr>
        <p:spPr>
          <a:xfrm>
            <a:off x="571500" y="4891087"/>
            <a:ext cx="352945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7"/>
          <p:cNvSpPr/>
          <p:nvPr/>
        </p:nvSpPr>
        <p:spPr>
          <a:xfrm>
            <a:off x="4100958" y="4891087"/>
            <a:ext cx="109775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7"/>
          <p:cNvSpPr/>
          <p:nvPr/>
        </p:nvSpPr>
        <p:spPr>
          <a:xfrm>
            <a:off x="5198715" y="4891087"/>
            <a:ext cx="642178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7"/>
          <p:cNvSpPr txBox="1"/>
          <p:nvPr/>
        </p:nvSpPr>
        <p:spPr>
          <a:xfrm>
            <a:off x="3663911" y="366250"/>
            <a:ext cx="71823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Ponderación de Resultados (RA)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3" name="Google Shape;163;p18"/>
          <p:cNvGraphicFramePr/>
          <p:nvPr/>
        </p:nvGraphicFramePr>
        <p:xfrm>
          <a:off x="468675" y="24080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{3344F165-F4BB-4514-82D4-DE3137348D60}</a:tableStyleId>
              </a:tblPr>
              <a:tblGrid>
                <a:gridCol w="1424125"/>
                <a:gridCol w="6349300"/>
                <a:gridCol w="1032425"/>
                <a:gridCol w="2243125"/>
              </a:tblGrid>
              <a:tr h="4238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0F172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Trimestre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0F172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Unidades de Trabajo (UT)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0F172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Horas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0F172A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Periodo Temporal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4238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425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1º Trimestre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425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UT1: Almacenamiento • UT2: Diagramas E/R • UT3: Relacional • UT4: DDL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425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78 h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425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15 Sep - 22 Dic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238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425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2º Trimestre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425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UT5 a UT8: Consultas SQL (Simples, Multitabla, Subconsultas) • UT9: DML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425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63 h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425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08 Ene - 27 Mar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238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425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3º Trimestre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425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UT10: Programación (Triggers, Store Procs) • UT11: Seguridad y Backups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425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24 h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425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13 Abr - 31 May</a:t>
                      </a:r>
                      <a:endParaRPr sz="17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64" name="Google Shape;164;p18"/>
          <p:cNvSpPr/>
          <p:nvPr/>
        </p:nvSpPr>
        <p:spPr>
          <a:xfrm>
            <a:off x="571500" y="3457575"/>
            <a:ext cx="142413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8"/>
          <p:cNvSpPr/>
          <p:nvPr/>
        </p:nvSpPr>
        <p:spPr>
          <a:xfrm>
            <a:off x="1995636" y="3457575"/>
            <a:ext cx="634930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8"/>
          <p:cNvSpPr/>
          <p:nvPr/>
        </p:nvSpPr>
        <p:spPr>
          <a:xfrm>
            <a:off x="8344941" y="3457575"/>
            <a:ext cx="103242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8"/>
          <p:cNvSpPr/>
          <p:nvPr/>
        </p:nvSpPr>
        <p:spPr>
          <a:xfrm>
            <a:off x="9377362" y="3457575"/>
            <a:ext cx="224313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8"/>
          <p:cNvSpPr/>
          <p:nvPr/>
        </p:nvSpPr>
        <p:spPr>
          <a:xfrm>
            <a:off x="571500" y="3867150"/>
            <a:ext cx="142413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8"/>
          <p:cNvSpPr/>
          <p:nvPr/>
        </p:nvSpPr>
        <p:spPr>
          <a:xfrm>
            <a:off x="1995636" y="3867150"/>
            <a:ext cx="634930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8"/>
          <p:cNvSpPr/>
          <p:nvPr/>
        </p:nvSpPr>
        <p:spPr>
          <a:xfrm>
            <a:off x="8344941" y="3867150"/>
            <a:ext cx="103242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8"/>
          <p:cNvSpPr/>
          <p:nvPr/>
        </p:nvSpPr>
        <p:spPr>
          <a:xfrm>
            <a:off x="9377362" y="3867150"/>
            <a:ext cx="224313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8"/>
          <p:cNvSpPr/>
          <p:nvPr/>
        </p:nvSpPr>
        <p:spPr>
          <a:xfrm>
            <a:off x="571500" y="4276725"/>
            <a:ext cx="142413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8"/>
          <p:cNvSpPr/>
          <p:nvPr/>
        </p:nvSpPr>
        <p:spPr>
          <a:xfrm>
            <a:off x="1995636" y="4276725"/>
            <a:ext cx="634930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8"/>
          <p:cNvSpPr/>
          <p:nvPr/>
        </p:nvSpPr>
        <p:spPr>
          <a:xfrm>
            <a:off x="8344941" y="4276725"/>
            <a:ext cx="103242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8"/>
          <p:cNvSpPr/>
          <p:nvPr/>
        </p:nvSpPr>
        <p:spPr>
          <a:xfrm>
            <a:off x="9377362" y="4276725"/>
            <a:ext cx="224313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8"/>
          <p:cNvSpPr txBox="1"/>
          <p:nvPr/>
        </p:nvSpPr>
        <p:spPr>
          <a:xfrm>
            <a:off x="3616558" y="340500"/>
            <a:ext cx="66069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Secuenciación del Curso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1" name="Google Shape;181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2464296"/>
            <a:ext cx="3524250" cy="275808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2" name="Google Shape;182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33875" y="2464296"/>
            <a:ext cx="3524250" cy="275808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3" name="Google Shape;183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096250" y="2464296"/>
            <a:ext cx="3524250" cy="2758082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19"/>
          <p:cNvSpPr txBox="1"/>
          <p:nvPr/>
        </p:nvSpPr>
        <p:spPr>
          <a:xfrm>
            <a:off x="819150" y="3273921"/>
            <a:ext cx="28503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369A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Pruebas escritas (</a:t>
            </a:r>
            <a:r>
              <a:rPr lang="en-US" sz="1800">
                <a:solidFill>
                  <a:srgbClr val="0369A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6</a:t>
            </a:r>
            <a:r>
              <a:rPr b="0" i="0" lang="en-US" sz="1800" u="none" cap="none" strike="noStrike">
                <a:solidFill>
                  <a:srgbClr val="0369A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0%)</a:t>
            </a:r>
            <a:endParaRPr/>
          </a:p>
        </p:txBody>
      </p:sp>
      <p:sp>
        <p:nvSpPr>
          <p:cNvPr id="185" name="Google Shape;185;p19"/>
          <p:cNvSpPr txBox="1"/>
          <p:nvPr/>
        </p:nvSpPr>
        <p:spPr>
          <a:xfrm>
            <a:off x="819150" y="3721596"/>
            <a:ext cx="3029100" cy="14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75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Controles de desarrollo de código y teoría individual en ordenador o papel. Nota mínima para promediar: 5.</a:t>
            </a:r>
            <a:endParaRPr sz="1700"/>
          </a:p>
        </p:txBody>
      </p:sp>
      <p:sp>
        <p:nvSpPr>
          <p:cNvPr id="186" name="Google Shape;186;p19"/>
          <p:cNvSpPr txBox="1"/>
          <p:nvPr/>
        </p:nvSpPr>
        <p:spPr>
          <a:xfrm>
            <a:off x="4581525" y="3273921"/>
            <a:ext cx="31803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0369A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Prácticas</a:t>
            </a:r>
            <a:r>
              <a:rPr b="0" i="0" lang="en-US" sz="1800" u="none" cap="none" strike="noStrike">
                <a:solidFill>
                  <a:srgbClr val="0369A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/ Moodle (</a:t>
            </a:r>
            <a:r>
              <a:rPr lang="en-US" sz="1800">
                <a:solidFill>
                  <a:srgbClr val="0369A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3</a:t>
            </a:r>
            <a:r>
              <a:rPr b="0" i="0" lang="en-US" sz="1800" u="none" cap="none" strike="noStrike">
                <a:solidFill>
                  <a:srgbClr val="0369A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0%)</a:t>
            </a:r>
            <a:endParaRPr/>
          </a:p>
        </p:txBody>
      </p:sp>
      <p:sp>
        <p:nvSpPr>
          <p:cNvPr id="187" name="Google Shape;187;p19"/>
          <p:cNvSpPr txBox="1"/>
          <p:nvPr/>
        </p:nvSpPr>
        <p:spPr>
          <a:xfrm>
            <a:off x="4581450" y="3722571"/>
            <a:ext cx="3029100" cy="14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75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Entregas periódicas obligatorias de scripts y esquemas estructurados de bases de datos. Nota mínima: 5.</a:t>
            </a:r>
            <a:endParaRPr sz="1700"/>
          </a:p>
        </p:txBody>
      </p:sp>
      <p:sp>
        <p:nvSpPr>
          <p:cNvPr id="188" name="Google Shape;188;p19"/>
          <p:cNvSpPr txBox="1"/>
          <p:nvPr/>
        </p:nvSpPr>
        <p:spPr>
          <a:xfrm>
            <a:off x="8343900" y="3273921"/>
            <a:ext cx="3180397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369A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Clase y Participación (10%)</a:t>
            </a:r>
            <a:endParaRPr/>
          </a:p>
        </p:txBody>
      </p:sp>
      <p:sp>
        <p:nvSpPr>
          <p:cNvPr id="189" name="Google Shape;189;p19"/>
          <p:cNvSpPr txBox="1"/>
          <p:nvPr/>
        </p:nvSpPr>
        <p:spPr>
          <a:xfrm>
            <a:off x="8343750" y="3721596"/>
            <a:ext cx="3029100" cy="101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75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Resolución diaria de supuestos prácticos, aportaciones en foros y coevaluación en el taller virtual.</a:t>
            </a:r>
            <a:endParaRPr sz="1700"/>
          </a:p>
        </p:txBody>
      </p:sp>
      <p:pic>
        <p:nvPicPr>
          <p:cNvPr descr="image.png" id="190" name="Google Shape;190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9150" y="2759571"/>
            <a:ext cx="428625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1" name="Google Shape;191;p1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581525" y="2759571"/>
            <a:ext cx="428625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2" name="Google Shape;192;p1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343900" y="2759571"/>
            <a:ext cx="428625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19"/>
          <p:cNvSpPr txBox="1"/>
          <p:nvPr/>
        </p:nvSpPr>
        <p:spPr>
          <a:xfrm>
            <a:off x="3669500" y="337475"/>
            <a:ext cx="63981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Criterios e Instrumentos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99" name="Google Shape;199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6399" y="133540"/>
            <a:ext cx="666000" cy="885600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</p:pic>
      <p:sp>
        <p:nvSpPr>
          <p:cNvPr id="200" name="Google Shape;200;p20"/>
          <p:cNvSpPr txBox="1"/>
          <p:nvPr/>
        </p:nvSpPr>
        <p:spPr>
          <a:xfrm>
            <a:off x="900113" y="474059"/>
            <a:ext cx="29043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IES Celia Viñas | Dpto. Informática (Almería)</a:t>
            </a:r>
            <a:endParaRPr b="0" sz="1050">
              <a:solidFill>
                <a:srgbClr val="1E3A8A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201" name="Google Shape;201;p20"/>
          <p:cNvSpPr/>
          <p:nvPr/>
        </p:nvSpPr>
        <p:spPr>
          <a:xfrm>
            <a:off x="3407664" y="304895"/>
            <a:ext cx="47700" cy="543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20"/>
          <p:cNvSpPr txBox="1"/>
          <p:nvPr/>
        </p:nvSpPr>
        <p:spPr>
          <a:xfrm>
            <a:off x="3665125" y="378143"/>
            <a:ext cx="66423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5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Evaluación </a:t>
            </a:r>
            <a:endParaRPr b="1" sz="2850">
              <a:solidFill>
                <a:srgbClr val="0F172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203" name="Google Shape;203;p20"/>
          <p:cNvPicPr preferRelativeResize="0"/>
          <p:nvPr/>
        </p:nvPicPr>
        <p:blipFill rotWithShape="1">
          <a:blip r:embed="rId4">
            <a:alphaModFix/>
          </a:blip>
          <a:srcRect b="0" l="90" r="80" t="0"/>
          <a:stretch/>
        </p:blipFill>
        <p:spPr>
          <a:xfrm>
            <a:off x="581025" y="6296025"/>
            <a:ext cx="11030100" cy="362100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20"/>
          <p:cNvSpPr txBox="1"/>
          <p:nvPr/>
        </p:nvSpPr>
        <p:spPr>
          <a:xfrm>
            <a:off x="581025" y="6456426"/>
            <a:ext cx="3810000" cy="1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4F81BD"/>
                </a:solidFill>
                <a:latin typeface="Lato"/>
                <a:ea typeface="Lato"/>
                <a:cs typeface="Lato"/>
                <a:sym typeface="Lato"/>
              </a:rPr>
              <a:t>2º ASIR • Administración de Sistemas Informáticos en Red</a:t>
            </a:r>
            <a:endParaRPr b="0" sz="900">
              <a:solidFill>
                <a:srgbClr val="4F81BD"/>
              </a:solidFill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205" name="Google Shape;205;p20"/>
          <p:cNvGrpSpPr/>
          <p:nvPr/>
        </p:nvGrpSpPr>
        <p:grpSpPr>
          <a:xfrm>
            <a:off x="659625" y="1466838"/>
            <a:ext cx="3429000" cy="4381500"/>
            <a:chOff x="571500" y="1524000"/>
            <a:chExt cx="3429000" cy="4381500"/>
          </a:xfrm>
        </p:grpSpPr>
        <p:sp>
          <p:nvSpPr>
            <p:cNvPr id="206" name="Google Shape;206;p20"/>
            <p:cNvSpPr/>
            <p:nvPr/>
          </p:nvSpPr>
          <p:spPr>
            <a:xfrm>
              <a:off x="571500" y="1524000"/>
              <a:ext cx="3429000" cy="4381500"/>
            </a:xfrm>
            <a:prstGeom prst="roundRect">
              <a:avLst>
                <a:gd fmla="val 4444" name="adj"/>
              </a:avLst>
            </a:prstGeom>
            <a:solidFill>
              <a:srgbClr val="F1F5F9"/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700"/>
            </a:p>
          </p:txBody>
        </p:sp>
        <p:sp>
          <p:nvSpPr>
            <p:cNvPr id="207" name="Google Shape;207;p20"/>
            <p:cNvSpPr txBox="1"/>
            <p:nvPr/>
          </p:nvSpPr>
          <p:spPr>
            <a:xfrm>
              <a:off x="857250" y="2333625"/>
              <a:ext cx="2857500" cy="323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0F172A"/>
                  </a:solidFill>
                  <a:latin typeface="Lato"/>
                  <a:ea typeface="Lato"/>
                  <a:cs typeface="Lato"/>
                  <a:sym typeface="Lato"/>
                </a:rPr>
                <a:t>Evaluación Inicial</a:t>
              </a:r>
              <a:endParaRPr b="1" sz="1500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US" sz="150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Al comienzo del módulo o de un bloque para conocer la base de partida del alumnado.</a:t>
              </a:r>
              <a:endParaRPr b="0" sz="15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0" lvl="0" marL="0" rtl="0" algn="l">
                <a:spcBef>
                  <a:spcPts val="105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0F172A"/>
                  </a:solidFill>
                  <a:latin typeface="Lato"/>
                  <a:ea typeface="Lato"/>
                  <a:cs typeface="Lato"/>
                  <a:sym typeface="Lato"/>
                </a:rPr>
                <a:t>Evaluación Continua</a:t>
              </a:r>
              <a:endParaRPr b="1" sz="1500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US" sz="150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Formativa y procesual en el día a día para valorar el progreso y mejorar el aprendizaje.</a:t>
              </a:r>
              <a:endParaRPr b="0" sz="15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0" lvl="0" marL="0" rtl="0" algn="l">
                <a:spcBef>
                  <a:spcPts val="105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0F172A"/>
                  </a:solidFill>
                  <a:latin typeface="Lato"/>
                  <a:ea typeface="Lato"/>
                  <a:cs typeface="Lato"/>
                  <a:sym typeface="Lato"/>
                </a:rPr>
                <a:t>Evaluación Final</a:t>
              </a:r>
              <a:endParaRPr b="1" sz="1500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US" sz="150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Sumativa al término de cada bloque para verificar la adquisición de resultados de aprendizaje.</a:t>
              </a:r>
              <a:endParaRPr b="0" sz="15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grpSp>
        <p:nvGrpSpPr>
          <p:cNvPr id="208" name="Google Shape;208;p20"/>
          <p:cNvGrpSpPr/>
          <p:nvPr/>
        </p:nvGrpSpPr>
        <p:grpSpPr>
          <a:xfrm>
            <a:off x="4469625" y="1466838"/>
            <a:ext cx="3429000" cy="4381500"/>
            <a:chOff x="4381500" y="1524000"/>
            <a:chExt cx="3429000" cy="4381500"/>
          </a:xfrm>
        </p:grpSpPr>
        <p:sp>
          <p:nvSpPr>
            <p:cNvPr id="209" name="Google Shape;209;p20"/>
            <p:cNvSpPr/>
            <p:nvPr/>
          </p:nvSpPr>
          <p:spPr>
            <a:xfrm>
              <a:off x="4381500" y="1524000"/>
              <a:ext cx="3429000" cy="4381500"/>
            </a:xfrm>
            <a:prstGeom prst="roundRect">
              <a:avLst>
                <a:gd fmla="val 4444" name="adj"/>
              </a:avLst>
            </a:prstGeom>
            <a:solidFill>
              <a:srgbClr val="F1F5F9"/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700"/>
            </a:p>
          </p:txBody>
        </p:sp>
        <p:sp>
          <p:nvSpPr>
            <p:cNvPr id="210" name="Google Shape;210;p20"/>
            <p:cNvSpPr txBox="1"/>
            <p:nvPr/>
          </p:nvSpPr>
          <p:spPr>
            <a:xfrm>
              <a:off x="4667250" y="2333625"/>
              <a:ext cx="2857500" cy="323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50">
                  <a:solidFill>
                    <a:srgbClr val="0F172A"/>
                  </a:solidFill>
                  <a:latin typeface="Lato"/>
                  <a:ea typeface="Lato"/>
                  <a:cs typeface="Lato"/>
                  <a:sym typeface="Lato"/>
                </a:rPr>
                <a:t>Superación por Bloques</a:t>
              </a:r>
              <a:endParaRPr b="1" sz="1550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155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Para superar el módulo profesional es requisito indispensable aprobar todas y cada una de las unidades didácticas evaluadas.</a:t>
              </a:r>
              <a:endParaRPr b="0" sz="155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b="1" lang="en-US" sz="1550">
                  <a:solidFill>
                    <a:srgbClr val="0F172A"/>
                  </a:solidFill>
                  <a:latin typeface="Lato"/>
                  <a:ea typeface="Lato"/>
                  <a:cs typeface="Lato"/>
                  <a:sym typeface="Lato"/>
                </a:rPr>
                <a:t>Nota Final Ponderada</a:t>
              </a:r>
              <a:endParaRPr b="1" sz="1550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155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La calificación se calcula mediante la ponderación oficial de los 5 resultados de aprendizaje (RA) del currículo.</a:t>
              </a:r>
              <a:endParaRPr b="0" sz="155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grpSp>
        <p:nvGrpSpPr>
          <p:cNvPr id="211" name="Google Shape;211;p20"/>
          <p:cNvGrpSpPr/>
          <p:nvPr/>
        </p:nvGrpSpPr>
        <p:grpSpPr>
          <a:xfrm>
            <a:off x="8279625" y="1466838"/>
            <a:ext cx="3429000" cy="4381500"/>
            <a:chOff x="8191500" y="1524000"/>
            <a:chExt cx="3429000" cy="4381500"/>
          </a:xfrm>
        </p:grpSpPr>
        <p:sp>
          <p:nvSpPr>
            <p:cNvPr id="212" name="Google Shape;212;p20"/>
            <p:cNvSpPr/>
            <p:nvPr/>
          </p:nvSpPr>
          <p:spPr>
            <a:xfrm>
              <a:off x="8191500" y="1524000"/>
              <a:ext cx="3429000" cy="4381500"/>
            </a:xfrm>
            <a:prstGeom prst="roundRect">
              <a:avLst>
                <a:gd fmla="val 4444" name="adj"/>
              </a:avLst>
            </a:prstGeom>
            <a:solidFill>
              <a:srgbClr val="EFF6FF"/>
            </a:solidFill>
            <a:ln cap="flat" cmpd="sng" w="19050">
              <a:solidFill>
                <a:srgbClr val="BFDBF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700"/>
            </a:p>
          </p:txBody>
        </p:sp>
        <p:sp>
          <p:nvSpPr>
            <p:cNvPr id="213" name="Google Shape;213;p20"/>
            <p:cNvSpPr txBox="1"/>
            <p:nvPr/>
          </p:nvSpPr>
          <p:spPr>
            <a:xfrm>
              <a:off x="8477250" y="2333625"/>
              <a:ext cx="2857500" cy="323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50">
                  <a:solidFill>
                    <a:srgbClr val="1E3A8A"/>
                  </a:solidFill>
                  <a:latin typeface="Lato"/>
                  <a:ea typeface="Lato"/>
                  <a:cs typeface="Lato"/>
                  <a:sym typeface="Lato"/>
                </a:rPr>
                <a:t>Moodle Centros</a:t>
              </a:r>
              <a:endParaRPr b="1" sz="1550">
                <a:solidFill>
                  <a:srgbClr val="1E3A8A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155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Toda la actividad académica, seguimiento de entregas y retroalimentación se centralizan en la plataforma oficial de la Junta de Andalucía.</a:t>
              </a:r>
              <a:endParaRPr b="0" sz="155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b="1" lang="en-US" sz="1550">
                  <a:solidFill>
                    <a:srgbClr val="1E3A8A"/>
                  </a:solidFill>
                  <a:latin typeface="Lato"/>
                  <a:ea typeface="Lato"/>
                  <a:cs typeface="Lato"/>
                  <a:sym typeface="Lato"/>
                </a:rPr>
                <a:t>Calificador por RAs</a:t>
              </a:r>
              <a:endParaRPr b="1" sz="1550">
                <a:solidFill>
                  <a:srgbClr val="1E3A8A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1550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El cuaderno de calificaciones está estrictamente organizado mediante carpetas correspondientes a cada Resultado de Aprendizaje.</a:t>
              </a:r>
              <a:endParaRPr b="0" sz="155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8" name="Google Shape;218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6400" y="133558"/>
            <a:ext cx="666000" cy="8856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9" name="Google Shape;219;p21"/>
          <p:cNvGrpSpPr/>
          <p:nvPr/>
        </p:nvGrpSpPr>
        <p:grpSpPr>
          <a:xfrm>
            <a:off x="900150" y="474050"/>
            <a:ext cx="2904300" cy="323100"/>
            <a:chOff x="900150" y="474050"/>
            <a:chExt cx="2904300" cy="323100"/>
          </a:xfrm>
        </p:grpSpPr>
        <p:sp>
          <p:nvSpPr>
            <p:cNvPr id="220" name="Google Shape;220;p21"/>
            <p:cNvSpPr/>
            <p:nvPr/>
          </p:nvSpPr>
          <p:spPr>
            <a:xfrm>
              <a:off x="900150" y="474050"/>
              <a:ext cx="2904300" cy="323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" name="Google Shape;221;p21"/>
            <p:cNvSpPr txBox="1"/>
            <p:nvPr/>
          </p:nvSpPr>
          <p:spPr>
            <a:xfrm>
              <a:off x="900150" y="474050"/>
              <a:ext cx="2904300" cy="323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050">
                  <a:solidFill>
                    <a:srgbClr val="1E3A8A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IES Celia Viñas | Dpto. Informática (Almería)</a:t>
              </a:r>
              <a:endParaRPr b="0" sz="1050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endParaRPr>
            </a:p>
          </p:txBody>
        </p:sp>
      </p:grpSp>
      <p:pic>
        <p:nvPicPr>
          <p:cNvPr id="222" name="Google Shape;222;p21"/>
          <p:cNvPicPr preferRelativeResize="0"/>
          <p:nvPr/>
        </p:nvPicPr>
        <p:blipFill rotWithShape="1">
          <a:blip r:embed="rId4">
            <a:alphaModFix/>
          </a:blip>
          <a:srcRect b="0" l="90" r="80" t="0"/>
          <a:stretch/>
        </p:blipFill>
        <p:spPr>
          <a:xfrm>
            <a:off x="581025" y="6296025"/>
            <a:ext cx="11030100" cy="3621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23" name="Google Shape;223;p21"/>
          <p:cNvGrpSpPr/>
          <p:nvPr/>
        </p:nvGrpSpPr>
        <p:grpSpPr>
          <a:xfrm>
            <a:off x="581025" y="6456455"/>
            <a:ext cx="2959800" cy="138600"/>
            <a:chOff x="581025" y="6456455"/>
            <a:chExt cx="2959800" cy="138600"/>
          </a:xfrm>
        </p:grpSpPr>
        <p:sp>
          <p:nvSpPr>
            <p:cNvPr id="224" name="Google Shape;224;p21"/>
            <p:cNvSpPr/>
            <p:nvPr/>
          </p:nvSpPr>
          <p:spPr>
            <a:xfrm>
              <a:off x="581025" y="6456455"/>
              <a:ext cx="2959800" cy="13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" name="Google Shape;225;p21"/>
            <p:cNvSpPr txBox="1"/>
            <p:nvPr/>
          </p:nvSpPr>
          <p:spPr>
            <a:xfrm>
              <a:off x="581025" y="6456455"/>
              <a:ext cx="2959800" cy="13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900">
                  <a:solidFill>
                    <a:srgbClr val="4F81BD"/>
                  </a:solidFill>
                  <a:latin typeface="Lato"/>
                  <a:ea typeface="Lato"/>
                  <a:cs typeface="Lato"/>
                  <a:sym typeface="Lato"/>
                </a:rPr>
                <a:t>2º ASIR • Administración de Sistemas Informáticos en Red</a:t>
              </a:r>
              <a:endParaRPr b="0" sz="900">
                <a:solidFill>
                  <a:srgbClr val="4F81BD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226" name="Google Shape;226;p21"/>
          <p:cNvSpPr/>
          <p:nvPr/>
        </p:nvSpPr>
        <p:spPr>
          <a:xfrm>
            <a:off x="3407674" y="304863"/>
            <a:ext cx="47700" cy="543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27" name="Google Shape;227;p21"/>
          <p:cNvGrpSpPr/>
          <p:nvPr/>
        </p:nvGrpSpPr>
        <p:grpSpPr>
          <a:xfrm>
            <a:off x="3665153" y="378175"/>
            <a:ext cx="6642300" cy="438600"/>
            <a:chOff x="3665153" y="378175"/>
            <a:chExt cx="6642300" cy="438600"/>
          </a:xfrm>
        </p:grpSpPr>
        <p:sp>
          <p:nvSpPr>
            <p:cNvPr id="228" name="Google Shape;228;p21"/>
            <p:cNvSpPr/>
            <p:nvPr/>
          </p:nvSpPr>
          <p:spPr>
            <a:xfrm>
              <a:off x="3665153" y="378175"/>
              <a:ext cx="6642300" cy="43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" name="Google Shape;229;p21"/>
            <p:cNvSpPr txBox="1"/>
            <p:nvPr/>
          </p:nvSpPr>
          <p:spPr>
            <a:xfrm>
              <a:off x="3665153" y="378175"/>
              <a:ext cx="6642300" cy="43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50">
                  <a:solidFill>
                    <a:srgbClr val="0F172A"/>
                  </a:solidFill>
                  <a:latin typeface="Poppins"/>
                  <a:ea typeface="Poppins"/>
                  <a:cs typeface="Poppins"/>
                  <a:sym typeface="Poppins"/>
                </a:rPr>
                <a:t>Calificación</a:t>
              </a:r>
              <a:endParaRPr b="1" sz="285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grpSp>
        <p:nvGrpSpPr>
          <p:cNvPr id="230" name="Google Shape;230;p21"/>
          <p:cNvGrpSpPr/>
          <p:nvPr/>
        </p:nvGrpSpPr>
        <p:grpSpPr>
          <a:xfrm>
            <a:off x="571575" y="2133588"/>
            <a:ext cx="5334000" cy="3048000"/>
            <a:chOff x="0" y="0"/>
            <a:chExt cx="5334000" cy="3048000"/>
          </a:xfrm>
        </p:grpSpPr>
        <p:sp>
          <p:nvSpPr>
            <p:cNvPr id="231" name="Google Shape;231;p21"/>
            <p:cNvSpPr/>
            <p:nvPr/>
          </p:nvSpPr>
          <p:spPr>
            <a:xfrm>
              <a:off x="0" y="0"/>
              <a:ext cx="5334000" cy="3048000"/>
            </a:xfrm>
            <a:prstGeom prst="roundRect">
              <a:avLst>
                <a:gd fmla="val 5000" name="adj"/>
              </a:avLst>
            </a:prstGeom>
            <a:solidFill>
              <a:srgbClr val="F1F5F9"/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2" name="Google Shape;232;p21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0" y="0"/>
              <a:ext cx="5334000" cy="4764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33" name="Google Shape;233;p21"/>
            <p:cNvSpPr txBox="1"/>
            <p:nvPr/>
          </p:nvSpPr>
          <p:spPr>
            <a:xfrm>
              <a:off x="190500" y="114300"/>
              <a:ext cx="4953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25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FÓRMULAS DE CALIFICACIÓN TRIMESTRAL</a:t>
              </a:r>
              <a:endParaRPr b="1" sz="125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234" name="Google Shape;234;p21"/>
            <p:cNvSpPr txBox="1"/>
            <p:nvPr/>
          </p:nvSpPr>
          <p:spPr>
            <a:xfrm>
              <a:off x="228600" y="666750"/>
              <a:ext cx="4876800" cy="1000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600">
                  <a:solidFill>
                    <a:srgbClr val="0F172A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Primer Trimestre (1ºT)</a:t>
              </a:r>
              <a:endParaRPr b="0" sz="1600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US" sz="1318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Evaluación de RA1 (10%), RA2 (15%) y RA3 (15%).</a:t>
              </a:r>
              <a:endParaRPr b="0" sz="1318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-US" sz="1364">
                  <a:solidFill>
                    <a:srgbClr val="0F172A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Nota 1ºT = (RA1×10 + RA2×15 + RA3×15) / 40</a:t>
              </a:r>
              <a:endParaRPr b="1" sz="1364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235" name="Google Shape;235;p21"/>
            <p:cNvSpPr txBox="1"/>
            <p:nvPr/>
          </p:nvSpPr>
          <p:spPr>
            <a:xfrm>
              <a:off x="228600" y="1857375"/>
              <a:ext cx="4876800" cy="1000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600">
                  <a:solidFill>
                    <a:srgbClr val="0F172A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Segundo Trimestre (2ºT)</a:t>
              </a:r>
              <a:endParaRPr b="0" sz="1600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US" sz="1318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Evaluación de RA4 (25%) y RA5 parcial (10%).</a:t>
              </a:r>
              <a:endParaRPr b="0" sz="1318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-US" sz="1364">
                  <a:solidFill>
                    <a:srgbClr val="0F172A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Nota 2ºT = (RA4×25 + RA5×10) / 35</a:t>
              </a:r>
              <a:endParaRPr b="1" sz="1364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grpSp>
        <p:nvGrpSpPr>
          <p:cNvPr id="236" name="Google Shape;236;p21"/>
          <p:cNvGrpSpPr/>
          <p:nvPr/>
        </p:nvGrpSpPr>
        <p:grpSpPr>
          <a:xfrm>
            <a:off x="6286575" y="2133588"/>
            <a:ext cx="5334000" cy="3048000"/>
            <a:chOff x="0" y="0"/>
            <a:chExt cx="5334000" cy="3048000"/>
          </a:xfrm>
        </p:grpSpPr>
        <p:sp>
          <p:nvSpPr>
            <p:cNvPr id="237" name="Google Shape;237;p21"/>
            <p:cNvSpPr/>
            <p:nvPr/>
          </p:nvSpPr>
          <p:spPr>
            <a:xfrm>
              <a:off x="0" y="0"/>
              <a:ext cx="5334000" cy="3048000"/>
            </a:xfrm>
            <a:prstGeom prst="roundRect">
              <a:avLst>
                <a:gd fmla="val 5000" name="adj"/>
              </a:avLst>
            </a:prstGeom>
            <a:solidFill>
              <a:srgbClr val="EFF6FF"/>
            </a:solidFill>
            <a:ln cap="flat" cmpd="sng" w="19050">
              <a:solidFill>
                <a:srgbClr val="BFDBF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8" name="Google Shape;238;p21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0" y="0"/>
              <a:ext cx="5334000" cy="4764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39" name="Google Shape;239;p21"/>
            <p:cNvSpPr txBox="1"/>
            <p:nvPr/>
          </p:nvSpPr>
          <p:spPr>
            <a:xfrm>
              <a:off x="190500" y="114300"/>
              <a:ext cx="4953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25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INTEGRACIÓN DE ALTERNANCIA DUAL</a:t>
              </a:r>
              <a:endParaRPr b="1" sz="125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240" name="Google Shape;240;p21"/>
            <p:cNvSpPr txBox="1"/>
            <p:nvPr/>
          </p:nvSpPr>
          <p:spPr>
            <a:xfrm>
              <a:off x="228600" y="666750"/>
              <a:ext cx="4876800" cy="2143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600">
                  <a:solidFill>
                    <a:srgbClr val="1E3A8A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Cálculo de Nota Final de RA3</a:t>
              </a:r>
              <a:endParaRPr b="0" sz="1600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US" sz="1318">
                  <a:solidFill>
                    <a:srgbClr val="475569"/>
                  </a:solidFill>
                  <a:latin typeface="Lato"/>
                  <a:ea typeface="Lato"/>
                  <a:cs typeface="Lato"/>
                  <a:sym typeface="Lato"/>
                </a:rPr>
                <a:t>El peso de la estancia en empresa (20%) se integra formalmente en la nota final del Resultado de Aprendizaje 3 (RA3-c).</a:t>
              </a:r>
              <a:endParaRPr b="0" sz="1318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1364">
                  <a:solidFill>
                    <a:srgbClr val="1E3A8A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Nota Final RA3 = (Centro RA3 × 0.8) + (Empresa × 0.2)</a:t>
              </a:r>
              <a:endParaRPr b="1" sz="1364">
                <a:solidFill>
                  <a:srgbClr val="1E3A8A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1" lang="en-US" sz="1350">
                  <a:solidFill>
                    <a:srgbClr val="1E3B8B"/>
                  </a:solidFill>
                  <a:latin typeface="Lato"/>
                  <a:ea typeface="Lato"/>
                  <a:cs typeface="Lato"/>
                  <a:sym typeface="Lato"/>
                </a:rPr>
                <a:t>Requisito de Aprobación: Para superar el módulo se exige nota final general &gt;= 5 y tener aprobados todos los RAs evaluados en el centro con nota mínima de 5 de forma independiente.</a:t>
              </a:r>
              <a:endParaRPr b="1" sz="1350">
                <a:solidFill>
                  <a:srgbClr val="1E3B8B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2"/>
          <p:cNvSpPr txBox="1"/>
          <p:nvPr/>
        </p:nvSpPr>
        <p:spPr>
          <a:xfrm>
            <a:off x="941563" y="2228376"/>
            <a:ext cx="107157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Asistencia mínima (8</a:t>
            </a:r>
            <a:r>
              <a:rPr b="1" lang="en-US" sz="1500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5</a:t>
            </a:r>
            <a:r>
              <a:rPr b="1" i="0" lang="en-US" sz="150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%):</a:t>
            </a:r>
            <a:r>
              <a:rPr b="0" i="0" lang="en-US" sz="150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Según el Decreto 147/2025, la pérdida del derecho a evaluación continua se produce al superar las 38 horas de inasistencia.</a:t>
            </a:r>
            <a:endParaRPr sz="1700"/>
          </a:p>
        </p:txBody>
      </p:sp>
      <p:sp>
        <p:nvSpPr>
          <p:cNvPr id="246" name="Google Shape;246;p22"/>
          <p:cNvSpPr txBox="1"/>
          <p:nvPr/>
        </p:nvSpPr>
        <p:spPr>
          <a:xfrm>
            <a:off x="868113" y="3082870"/>
            <a:ext cx="107157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Integridad académica:</a:t>
            </a:r>
            <a:r>
              <a:rPr b="0" i="0" lang="en-US" sz="150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Cualquier plagio o código duplicado en pruebas o proyectos supondrá la calificación inmediata de 0 en el trimestre afectado.</a:t>
            </a:r>
            <a:endParaRPr sz="1700"/>
          </a:p>
        </p:txBody>
      </p:sp>
      <p:sp>
        <p:nvSpPr>
          <p:cNvPr id="247" name="Google Shape;247;p22"/>
          <p:cNvSpPr txBox="1"/>
          <p:nvPr/>
        </p:nvSpPr>
        <p:spPr>
          <a:xfrm>
            <a:off x="868113" y="3866862"/>
            <a:ext cx="107157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Defensa de código:</a:t>
            </a:r>
            <a:r>
              <a:rPr b="0" i="0" lang="en-US" sz="150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Todas las prácticas entregadas a través de Moodle serán susceptibles de requerir defensa oral para validar su autoría.</a:t>
            </a:r>
            <a:endParaRPr sz="1700"/>
          </a:p>
        </p:txBody>
      </p:sp>
      <p:sp>
        <p:nvSpPr>
          <p:cNvPr id="248" name="Google Shape;248;p22"/>
          <p:cNvSpPr txBox="1"/>
          <p:nvPr/>
        </p:nvSpPr>
        <p:spPr>
          <a:xfrm>
            <a:off x="868113" y="4650817"/>
            <a:ext cx="107157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Lato"/>
                <a:ea typeface="Lato"/>
                <a:cs typeface="Lato"/>
                <a:sym typeface="Lato"/>
              </a:rPr>
              <a:t>Recuperación trimestral:</a:t>
            </a:r>
            <a:r>
              <a:rPr b="0" i="0" lang="en-US" sz="150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Al final de cada periodo se realizará una prueba de recuperación de los contenidos no superados.</a:t>
            </a:r>
            <a:endParaRPr sz="1700"/>
          </a:p>
        </p:txBody>
      </p:sp>
      <p:pic>
        <p:nvPicPr>
          <p:cNvPr descr="image.png" id="249" name="Google Shape;249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8188" y="2252189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0" name="Google Shape;250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8188" y="3082869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1" name="Google Shape;251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84375" y="3878750"/>
            <a:ext cx="2381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2" name="Google Shape;252;p2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34738" y="4674630"/>
            <a:ext cx="19050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253" name="Google Shape;253;p22"/>
          <p:cNvSpPr txBox="1"/>
          <p:nvPr/>
        </p:nvSpPr>
        <p:spPr>
          <a:xfrm>
            <a:off x="3665150" y="368000"/>
            <a:ext cx="59808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Requisitos de Aprobación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3"/>
          <p:cNvSpPr txBox="1"/>
          <p:nvPr/>
        </p:nvSpPr>
        <p:spPr>
          <a:xfrm>
            <a:off x="571500" y="2033587"/>
            <a:ext cx="56007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0369A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Del Concepto al Modelo Relacional</a:t>
            </a:r>
            <a:endParaRPr sz="1600"/>
          </a:p>
        </p:txBody>
      </p:sp>
      <p:sp>
        <p:nvSpPr>
          <p:cNvPr id="259" name="Google Shape;259;p23"/>
          <p:cNvSpPr txBox="1"/>
          <p:nvPr/>
        </p:nvSpPr>
        <p:spPr>
          <a:xfrm>
            <a:off x="571500" y="2481262"/>
            <a:ext cx="5334000" cy="9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75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Diagramas E/R:</a:t>
            </a:r>
            <a:r>
              <a:rPr b="0" i="0" lang="en-US" sz="1475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Abstracción avanzada de procesos de negocio utilizando la notación Chen, identificando entidades, atributos, relaciones y jerarquías de especialización.</a:t>
            </a:r>
            <a:endParaRPr sz="1600"/>
          </a:p>
        </p:txBody>
      </p:sp>
      <p:sp>
        <p:nvSpPr>
          <p:cNvPr id="260" name="Google Shape;260;p23"/>
          <p:cNvSpPr txBox="1"/>
          <p:nvPr/>
        </p:nvSpPr>
        <p:spPr>
          <a:xfrm>
            <a:off x="571500" y="3574220"/>
            <a:ext cx="5334000" cy="9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75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Transformación Lógica:</a:t>
            </a:r>
            <a:r>
              <a:rPr b="0" i="0" lang="en-US" sz="1475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Reglas estrictas de mapeo de cardinalidad para la conversión formal del diagrama conceptual a tablas relacionales.</a:t>
            </a:r>
            <a:endParaRPr sz="1600"/>
          </a:p>
        </p:txBody>
      </p:sp>
      <p:sp>
        <p:nvSpPr>
          <p:cNvPr id="261" name="Google Shape;261;p23"/>
          <p:cNvSpPr txBox="1"/>
          <p:nvPr/>
        </p:nvSpPr>
        <p:spPr>
          <a:xfrm>
            <a:off x="571500" y="4766892"/>
            <a:ext cx="5334000" cy="9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75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Normalización:</a:t>
            </a:r>
            <a:r>
              <a:rPr b="0" i="0" lang="en-US" sz="1475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Aplicación de dependencias funcionales para validar esquemas en 3FN, minimizando redundancias en el almacenamiento físico.</a:t>
            </a:r>
            <a:endParaRPr sz="1600"/>
          </a:p>
        </p:txBody>
      </p:sp>
      <p:pic>
        <p:nvPicPr>
          <p:cNvPr descr="image.png" id="262" name="Google Shape;262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68900" y="2109052"/>
            <a:ext cx="4351600" cy="2947875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23"/>
          <p:cNvSpPr txBox="1"/>
          <p:nvPr/>
        </p:nvSpPr>
        <p:spPr>
          <a:xfrm>
            <a:off x="3654975" y="378175"/>
            <a:ext cx="70389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Bloque I: Diseño y Modelado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24"/>
          <p:cNvSpPr txBox="1"/>
          <p:nvPr/>
        </p:nvSpPr>
        <p:spPr>
          <a:xfrm>
            <a:off x="3675325" y="327300"/>
            <a:ext cx="87687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Bloque II: Explotación de Datos</a:t>
            </a:r>
            <a:endParaRPr/>
          </a:p>
        </p:txBody>
      </p:sp>
      <p:pic>
        <p:nvPicPr>
          <p:cNvPr descr="image.png" id="269" name="Google Shape;269;p24"/>
          <p:cNvPicPr preferRelativeResize="0"/>
          <p:nvPr/>
        </p:nvPicPr>
        <p:blipFill rotWithShape="1">
          <a:blip r:embed="rId3">
            <a:alphaModFix/>
          </a:blip>
          <a:srcRect b="0" l="0" r="0" t="13202"/>
          <a:stretch/>
        </p:blipFill>
        <p:spPr>
          <a:xfrm>
            <a:off x="7193900" y="905575"/>
            <a:ext cx="4998100" cy="5078776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24"/>
          <p:cNvSpPr txBox="1"/>
          <p:nvPr/>
        </p:nvSpPr>
        <p:spPr>
          <a:xfrm>
            <a:off x="571500" y="1943100"/>
            <a:ext cx="55506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369A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Lenguaje de Manipulación DML</a:t>
            </a:r>
            <a:endParaRPr/>
          </a:p>
        </p:txBody>
      </p:sp>
      <p:sp>
        <p:nvSpPr>
          <p:cNvPr id="271" name="Google Shape;271;p24"/>
          <p:cNvSpPr txBox="1"/>
          <p:nvPr/>
        </p:nvSpPr>
        <p:spPr>
          <a:xfrm>
            <a:off x="571500" y="2390775"/>
            <a:ext cx="5286300" cy="101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75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Sentencias de manipulación:</a:t>
            </a:r>
            <a:r>
              <a:rPr b="0" i="0" lang="en-US" sz="1575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Inserción masiva de registros, actualizaciones condicionales robustas y borrado de información con integridad referencial en cascada.</a:t>
            </a:r>
            <a:endParaRPr sz="1700"/>
          </a:p>
        </p:txBody>
      </p:sp>
      <p:sp>
        <p:nvSpPr>
          <p:cNvPr id="272" name="Google Shape;272;p24"/>
          <p:cNvSpPr txBox="1"/>
          <p:nvPr/>
        </p:nvSpPr>
        <p:spPr>
          <a:xfrm>
            <a:off x="571500" y="3898082"/>
            <a:ext cx="5286300" cy="14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75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Consultas de Alto Rendimiento:</a:t>
            </a:r>
            <a:r>
              <a:rPr b="0" i="0" lang="en-US" sz="1575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Uso experto de composiciones (INNER, LEFT/RIGHT JOIN) y agrupaciones con filtros HAVING para responder a demandas complejas de negocio en entornos de producción real.</a:t>
            </a:r>
            <a:endParaRPr sz="17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77" name="Google Shape;27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1915475"/>
            <a:ext cx="5334000" cy="32372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8" name="Google Shape;278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86575" y="1915475"/>
            <a:ext cx="5334000" cy="3237250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Google Shape;279;p25"/>
          <p:cNvSpPr txBox="1"/>
          <p:nvPr/>
        </p:nvSpPr>
        <p:spPr>
          <a:xfrm>
            <a:off x="866775" y="2080072"/>
            <a:ext cx="49806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369A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Programación de BD</a:t>
            </a:r>
            <a:endParaRPr/>
          </a:p>
        </p:txBody>
      </p:sp>
      <p:sp>
        <p:nvSpPr>
          <p:cNvPr id="280" name="Google Shape;280;p25"/>
          <p:cNvSpPr txBox="1"/>
          <p:nvPr/>
        </p:nvSpPr>
        <p:spPr>
          <a:xfrm>
            <a:off x="866700" y="2638535"/>
            <a:ext cx="4743600" cy="101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75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Lógica de negocio:</a:t>
            </a:r>
            <a:r>
              <a:rPr b="0" i="0" lang="en-US" sz="1575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Desarrollo de automatismos directamente en el SGBD mediante Disparadores (Triggers) para auditoría de acciones.</a:t>
            </a:r>
            <a:endParaRPr sz="1700"/>
          </a:p>
        </p:txBody>
      </p:sp>
      <p:sp>
        <p:nvSpPr>
          <p:cNvPr id="281" name="Google Shape;281;p25"/>
          <p:cNvSpPr txBox="1"/>
          <p:nvPr/>
        </p:nvSpPr>
        <p:spPr>
          <a:xfrm>
            <a:off x="866775" y="3937694"/>
            <a:ext cx="4743600" cy="101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75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Módulos almacenados:</a:t>
            </a:r>
            <a:r>
              <a:rPr b="0" i="0" lang="en-US" sz="1575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Codificación de procedimientos y funciones para centralizar procesos, garantizando la escalabilidad de la arquitectura.</a:t>
            </a:r>
            <a:endParaRPr sz="1700"/>
          </a:p>
        </p:txBody>
      </p:sp>
      <p:sp>
        <p:nvSpPr>
          <p:cNvPr id="282" name="Google Shape;282;p25"/>
          <p:cNvSpPr txBox="1"/>
          <p:nvPr/>
        </p:nvSpPr>
        <p:spPr>
          <a:xfrm>
            <a:off x="6581775" y="2080072"/>
            <a:ext cx="49806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369A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Seguridad y Administración</a:t>
            </a:r>
            <a:endParaRPr/>
          </a:p>
        </p:txBody>
      </p:sp>
      <p:sp>
        <p:nvSpPr>
          <p:cNvPr id="283" name="Google Shape;283;p25"/>
          <p:cNvSpPr txBox="1"/>
          <p:nvPr/>
        </p:nvSpPr>
        <p:spPr>
          <a:xfrm>
            <a:off x="6581775" y="2638535"/>
            <a:ext cx="4743600" cy="101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75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Gestión de accesos:</a:t>
            </a:r>
            <a:r>
              <a:rPr b="0" i="0" lang="en-US" sz="1575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Control de privilegios y seguridad mediante definición de roles de usuario (GRANT y REVOKE).</a:t>
            </a:r>
            <a:endParaRPr sz="1700"/>
          </a:p>
        </p:txBody>
      </p:sp>
      <p:sp>
        <p:nvSpPr>
          <p:cNvPr id="284" name="Google Shape;284;p25"/>
          <p:cNvSpPr txBox="1"/>
          <p:nvPr/>
        </p:nvSpPr>
        <p:spPr>
          <a:xfrm>
            <a:off x="6581775" y="3937694"/>
            <a:ext cx="4743600" cy="101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75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Planes de Contingencia:</a:t>
            </a:r>
            <a:r>
              <a:rPr b="0" i="0" lang="en-US" sz="1575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Estrategias para copias de seguridad consistentes en frío/caliente e importación de grandes conjuntos de datos.</a:t>
            </a:r>
            <a:endParaRPr sz="1700"/>
          </a:p>
        </p:txBody>
      </p:sp>
      <p:sp>
        <p:nvSpPr>
          <p:cNvPr id="285" name="Google Shape;285;p25"/>
          <p:cNvSpPr txBox="1"/>
          <p:nvPr/>
        </p:nvSpPr>
        <p:spPr>
          <a:xfrm>
            <a:off x="3665150" y="378175"/>
            <a:ext cx="72120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Bloque III: Lógica de Servidor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26"/>
          <p:cNvSpPr txBox="1"/>
          <p:nvPr/>
        </p:nvSpPr>
        <p:spPr>
          <a:xfrm>
            <a:off x="571500" y="2033587"/>
            <a:ext cx="56007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0369A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Normas</a:t>
            </a:r>
            <a:r>
              <a:rPr b="0" i="0" lang="en-US" sz="1800" u="none" cap="none" strike="noStrike">
                <a:solidFill>
                  <a:srgbClr val="0369A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de Trabajo en el aula - taller</a:t>
            </a:r>
            <a:endParaRPr/>
          </a:p>
        </p:txBody>
      </p:sp>
      <p:sp>
        <p:nvSpPr>
          <p:cNvPr id="291" name="Google Shape;291;p26"/>
          <p:cNvSpPr txBox="1"/>
          <p:nvPr/>
        </p:nvSpPr>
        <p:spPr>
          <a:xfrm>
            <a:off x="571500" y="2481262"/>
            <a:ext cx="5334000" cy="101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75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Puestos Fijos de Trabajo:</a:t>
            </a:r>
            <a:r>
              <a:rPr b="0" i="0" lang="en-US" sz="1575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Cada alumno tendrá asignado un ordenador exclusivo durante todo el curso</a:t>
            </a:r>
            <a:r>
              <a:rPr lang="en-US" sz="1575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y hacer un uso responsable del mismo.</a:t>
            </a:r>
            <a:endParaRPr sz="1700"/>
          </a:p>
        </p:txBody>
      </p:sp>
      <p:sp>
        <p:nvSpPr>
          <p:cNvPr id="292" name="Google Shape;292;p26"/>
          <p:cNvSpPr txBox="1"/>
          <p:nvPr/>
        </p:nvSpPr>
        <p:spPr>
          <a:xfrm>
            <a:off x="571500" y="3531321"/>
            <a:ext cx="5334000" cy="101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75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Responsabilidad en Backups:</a:t>
            </a:r>
            <a:r>
              <a:rPr b="0" i="0" lang="en-US" sz="1575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Las copias de seguridad de las máquinas virtuales y código SQL son total responsabilidad del alumno.</a:t>
            </a:r>
            <a:endParaRPr sz="1700"/>
          </a:p>
        </p:txBody>
      </p:sp>
      <p:sp>
        <p:nvSpPr>
          <p:cNvPr id="293" name="Google Shape;293;p26"/>
          <p:cNvSpPr txBox="1"/>
          <p:nvPr/>
        </p:nvSpPr>
        <p:spPr>
          <a:xfrm>
            <a:off x="571500" y="4581381"/>
            <a:ext cx="5334000" cy="63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75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Incidencias de Hardware:</a:t>
            </a:r>
            <a:r>
              <a:rPr b="0" i="0" lang="en-US" sz="1575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Cualquier fallo técnico detectado en el puesto debe comunicarse inmediatamente al profesor.</a:t>
            </a:r>
            <a:endParaRPr sz="1700"/>
          </a:p>
        </p:txBody>
      </p:sp>
      <p:sp>
        <p:nvSpPr>
          <p:cNvPr id="294" name="Google Shape;294;p26"/>
          <p:cNvSpPr txBox="1"/>
          <p:nvPr/>
        </p:nvSpPr>
        <p:spPr>
          <a:xfrm>
            <a:off x="571500" y="5359678"/>
            <a:ext cx="5334000" cy="63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75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Uso del Móvil:</a:t>
            </a:r>
            <a:r>
              <a:rPr b="0" i="0" lang="en-US" sz="1575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Prohibido estrictamente salvo indicación expresa de uso pedagógico guiado.</a:t>
            </a:r>
            <a:endParaRPr sz="1700"/>
          </a:p>
        </p:txBody>
      </p:sp>
      <p:pic>
        <p:nvPicPr>
          <p:cNvPr descr="image.png" id="295" name="Google Shape;295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28925" y="2043102"/>
            <a:ext cx="4582050" cy="3103975"/>
          </a:xfrm>
          <a:prstGeom prst="rect">
            <a:avLst/>
          </a:prstGeom>
          <a:noFill/>
          <a:ln>
            <a:noFill/>
          </a:ln>
        </p:spPr>
      </p:pic>
      <p:sp>
        <p:nvSpPr>
          <p:cNvPr id="296" name="Google Shape;296;p26"/>
          <p:cNvSpPr txBox="1"/>
          <p:nvPr/>
        </p:nvSpPr>
        <p:spPr>
          <a:xfrm>
            <a:off x="3654975" y="337475"/>
            <a:ext cx="66627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Normas del aula-taller de ASIR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01" name="Google Shape;301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71625" y="2176462"/>
            <a:ext cx="3333750" cy="3333750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27"/>
          <p:cNvSpPr txBox="1"/>
          <p:nvPr/>
        </p:nvSpPr>
        <p:spPr>
          <a:xfrm>
            <a:off x="6286500" y="2447297"/>
            <a:ext cx="56007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369A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Compromiso Profesional Dual</a:t>
            </a:r>
            <a:endParaRPr/>
          </a:p>
        </p:txBody>
      </p:sp>
      <p:sp>
        <p:nvSpPr>
          <p:cNvPr id="303" name="Google Shape;303;p27"/>
          <p:cNvSpPr txBox="1"/>
          <p:nvPr/>
        </p:nvSpPr>
        <p:spPr>
          <a:xfrm>
            <a:off x="6286500" y="2953747"/>
            <a:ext cx="5334000" cy="63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75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Las actividades del módulo se vinculan directamente con los requisitos del tejido empresarial tecnológico de Almería.</a:t>
            </a:r>
            <a:endParaRPr sz="1700"/>
          </a:p>
        </p:txBody>
      </p:sp>
      <p:sp>
        <p:nvSpPr>
          <p:cNvPr id="304" name="Google Shape;304;p27"/>
          <p:cNvSpPr txBox="1"/>
          <p:nvPr/>
        </p:nvSpPr>
        <p:spPr>
          <a:xfrm>
            <a:off x="6286500" y="3937694"/>
            <a:ext cx="5334000" cy="101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75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Simulamos un entorno corporativo real en el taller diario: puntualidad impecable, documentación técnica clara de cada despliegue e integridad en el desarrollo de scripts SQL.</a:t>
            </a:r>
            <a:endParaRPr sz="1700"/>
          </a:p>
        </p:txBody>
      </p:sp>
      <p:pic>
        <p:nvPicPr>
          <p:cNvPr descr="image.png" id="305" name="Google Shape;305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581150" y="2185987"/>
            <a:ext cx="3314700" cy="3314700"/>
          </a:xfrm>
          <a:prstGeom prst="rect">
            <a:avLst/>
          </a:prstGeom>
          <a:noFill/>
          <a:ln>
            <a:noFill/>
          </a:ln>
        </p:spPr>
      </p:pic>
      <p:sp>
        <p:nvSpPr>
          <p:cNvPr id="306" name="Google Shape;306;p27"/>
          <p:cNvSpPr txBox="1"/>
          <p:nvPr/>
        </p:nvSpPr>
        <p:spPr>
          <a:xfrm>
            <a:off x="3644800" y="378175"/>
            <a:ext cx="68355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Integración Dual en Empresa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8"/>
          <p:cNvSpPr txBox="1"/>
          <p:nvPr/>
        </p:nvSpPr>
        <p:spPr>
          <a:xfrm>
            <a:off x="1828800" y="2766119"/>
            <a:ext cx="8534400" cy="1706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La informática no se aprende memorizando comandos o viendo capturas; se aprende instalando los servicios, configurando sus parámetros, analizando los logs de error y resolviendo los fallos por uno mismo.</a:t>
            </a:r>
            <a:endParaRPr/>
          </a:p>
        </p:txBody>
      </p:sp>
      <p:sp>
        <p:nvSpPr>
          <p:cNvPr id="312" name="Google Shape;312;p28"/>
          <p:cNvSpPr txBox="1"/>
          <p:nvPr/>
        </p:nvSpPr>
        <p:spPr>
          <a:xfrm>
            <a:off x="1400175" y="4711005"/>
            <a:ext cx="93916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— Acuerdo Pedagógico de Aula, Dpto. Informática IES Celia Viñas</a:t>
            </a:r>
            <a:endParaRPr/>
          </a:p>
        </p:txBody>
      </p:sp>
      <p:sp>
        <p:nvSpPr>
          <p:cNvPr id="313" name="Google Shape;313;p28"/>
          <p:cNvSpPr txBox="1"/>
          <p:nvPr/>
        </p:nvSpPr>
        <p:spPr>
          <a:xfrm>
            <a:off x="1304925" y="2956619"/>
            <a:ext cx="28575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000" u="none" cap="none" strike="noStrike">
                <a:solidFill>
                  <a:srgbClr val="BAE6FD"/>
                </a:solidFill>
                <a:latin typeface="Poppins"/>
                <a:ea typeface="Poppins"/>
                <a:cs typeface="Poppins"/>
                <a:sym typeface="Poppins"/>
              </a:rPr>
              <a:t>“</a:t>
            </a:r>
            <a:endParaRPr/>
          </a:p>
        </p:txBody>
      </p:sp>
      <p:sp>
        <p:nvSpPr>
          <p:cNvPr id="314" name="Google Shape;314;p28"/>
          <p:cNvSpPr txBox="1"/>
          <p:nvPr/>
        </p:nvSpPr>
        <p:spPr>
          <a:xfrm>
            <a:off x="10601325" y="4568135"/>
            <a:ext cx="28575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000" u="none" cap="none" strike="noStrike">
                <a:solidFill>
                  <a:srgbClr val="BAE6FD"/>
                </a:solidFill>
                <a:latin typeface="Poppins"/>
                <a:ea typeface="Poppins"/>
                <a:cs typeface="Poppins"/>
                <a:sym typeface="Poppins"/>
              </a:rPr>
              <a:t>”</a:t>
            </a:r>
            <a:endParaRPr/>
          </a:p>
        </p:txBody>
      </p:sp>
      <p:sp>
        <p:nvSpPr>
          <p:cNvPr id="315" name="Google Shape;315;p28"/>
          <p:cNvSpPr txBox="1"/>
          <p:nvPr/>
        </p:nvSpPr>
        <p:spPr>
          <a:xfrm>
            <a:off x="3654975" y="388350"/>
            <a:ext cx="60927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Filosofía del Aula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20" name="Google Shape;320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81300" y="3572916"/>
            <a:ext cx="6629400" cy="1725662"/>
          </a:xfrm>
          <a:prstGeom prst="rect">
            <a:avLst/>
          </a:prstGeom>
          <a:noFill/>
          <a:ln>
            <a:noFill/>
          </a:ln>
        </p:spPr>
      </p:pic>
      <p:sp>
        <p:nvSpPr>
          <p:cNvPr id="321" name="Google Shape;321;p29"/>
          <p:cNvSpPr txBox="1"/>
          <p:nvPr/>
        </p:nvSpPr>
        <p:spPr>
          <a:xfrm>
            <a:off x="2585561" y="1559421"/>
            <a:ext cx="7020877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¿Alguna Pregunta?</a:t>
            </a:r>
            <a:endParaRPr/>
          </a:p>
        </p:txBody>
      </p:sp>
      <p:sp>
        <p:nvSpPr>
          <p:cNvPr id="322" name="Google Shape;322;p29"/>
          <p:cNvSpPr txBox="1"/>
          <p:nvPr/>
        </p:nvSpPr>
        <p:spPr>
          <a:xfrm>
            <a:off x="2824797" y="2844325"/>
            <a:ext cx="65424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¡Bienvenidos al Módulo de Gestión de Bases de Datos!</a:t>
            </a:r>
            <a:endParaRPr/>
          </a:p>
        </p:txBody>
      </p:sp>
      <p:sp>
        <p:nvSpPr>
          <p:cNvPr id="323" name="Google Shape;323;p29"/>
          <p:cNvSpPr txBox="1"/>
          <p:nvPr/>
        </p:nvSpPr>
        <p:spPr>
          <a:xfrm>
            <a:off x="2781300" y="3772941"/>
            <a:ext cx="6629400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28600" spcFirstLastPara="1" rIns="0" wrap="square" tIns="0">
            <a:spAutoFit/>
          </a:bodyPr>
          <a:lstStyle/>
          <a:p>
            <a:pPr indent="0" lvl="0" marL="0" marR="0" rtl="0" algn="ctr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jsansan766@g.educaand.es</a:t>
            </a:r>
            <a:endParaRPr/>
          </a:p>
        </p:txBody>
      </p:sp>
      <p:sp>
        <p:nvSpPr>
          <p:cNvPr id="324" name="Google Shape;324;p29"/>
          <p:cNvSpPr txBox="1"/>
          <p:nvPr/>
        </p:nvSpPr>
        <p:spPr>
          <a:xfrm>
            <a:off x="2781300" y="4281487"/>
            <a:ext cx="6629400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85750" spcFirstLastPara="1" rIns="0" wrap="square" tIns="0">
            <a:spAutoFit/>
          </a:bodyPr>
          <a:lstStyle/>
          <a:p>
            <a:pPr indent="0" lvl="0" marL="0" marR="0" rtl="0" algn="ctr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Aula Virtual Moodle Centros Almería</a:t>
            </a:r>
            <a:endParaRPr/>
          </a:p>
        </p:txBody>
      </p:sp>
      <p:sp>
        <p:nvSpPr>
          <p:cNvPr id="325" name="Google Shape;325;p29"/>
          <p:cNvSpPr txBox="1"/>
          <p:nvPr/>
        </p:nvSpPr>
        <p:spPr>
          <a:xfrm>
            <a:off x="2781300" y="4790033"/>
            <a:ext cx="66294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71450" spcFirstLastPara="1" rIns="0" wrap="square" tIns="0">
            <a:spAutoFit/>
          </a:bodyPr>
          <a:lstStyle/>
          <a:p>
            <a:pPr indent="0" lvl="0" marL="0" marR="0" rtl="0" algn="ctr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Aula</a:t>
            </a:r>
            <a:r>
              <a:rPr b="0" i="0" lang="en-US" sz="1800" u="none" cap="none" strike="noStrik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20 • IES Celia Viñas (Almería)</a:t>
            </a:r>
            <a:endParaRPr/>
          </a:p>
        </p:txBody>
      </p:sp>
      <p:pic>
        <p:nvPicPr>
          <p:cNvPr descr="image.png" id="326" name="Google Shape;326;p2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10100" y="3839616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27" name="Google Shape;327;p2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090987" y="4348162"/>
            <a:ext cx="28575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28" name="Google Shape;328;p2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286250" y="4856708"/>
            <a:ext cx="171450" cy="228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