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A907C6-4388-44CC-AB65-DDDF57AB3091}">
  <a:tblStyle styleId="{05A907C6-4388-44CC-AB65-DDDF57AB30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b6aea9e3_43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9b6aea9e3_4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b673276e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9b673276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400" y="133558"/>
            <a:ext cx="665900" cy="8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900150" y="474050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/>
          </a:p>
        </p:txBody>
      </p:sp>
      <p:pic>
        <p:nvPicPr>
          <p:cNvPr descr="image.png"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2960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581025" y="6456450"/>
            <a:ext cx="295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>
              <a:solidFill>
                <a:srgbClr val="4F81BD"/>
              </a:solidFill>
            </a:endParaRPr>
          </a:p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729025" y="6303750"/>
            <a:ext cx="3174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407675" y="304863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b6aea9e3_29_0)">
  <p:cSld name="Generated (g3f9b6aea9e3_29_0)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5053012" y="1988790"/>
            <a:ext cx="2085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1º CURSO - C.F.G.S. ASIR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460545" y="2379315"/>
            <a:ext cx="7270908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 Bases de Datos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2047875" y="3183135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Guía docente, secuenciación didáctica y evaluación continua en el nuevo marco de Formación Profesional (Curso 2026 / 2027).</a:t>
            </a:r>
            <a:endParaRPr/>
          </a:p>
        </p:txBody>
      </p:sp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450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387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325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9262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69393" y="46441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96534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CARGA HORARIA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47850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Horas Semanales</a:t>
            </a:r>
            <a:endParaRPr sz="1700"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8756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744471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CICLO PROFESIONAL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795787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º ASIR</a:t>
            </a:r>
            <a:endParaRPr sz="1700"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6693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292409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CENTRO EDUCATIVO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343725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IES Celia Viñas</a:t>
            </a:r>
            <a:endParaRPr sz="1700"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7493" y="46441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840346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91662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uan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Simón Sánchez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90800"/>
            <a:ext cx="5372101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90800"/>
            <a:ext cx="5372101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28675" y="2838450"/>
            <a:ext cx="51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Normativo Estatal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828675" y="3248025"/>
            <a:ext cx="48768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2867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Regulado por la ley de ordenación estatal de FP de integración del sistema de Formación Profesional.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2867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Adaptado conforme al de desarrollo de la                       </a:t>
            </a:r>
            <a:r>
              <a:rPr lang="en-US" sz="12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 </a:t>
            </a: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ordenación de las enseñanzas de FP.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486525" y="2838450"/>
            <a:ext cx="512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Legislación en Andalucía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486525" y="3248025"/>
            <a:ext cx="48768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486525" y="34194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Lato"/>
                <a:ea typeface="Lato"/>
                <a:cs typeface="Lato"/>
                <a:sym typeface="Lato"/>
              </a:rPr>
              <a:t>Adaptado al nuevo de ordenación de            enseñanzas y grados de Formación Profesional en Andalucía.</a:t>
            </a:r>
            <a:endParaRPr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86525" y="4067175"/>
            <a:ext cx="4876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Evaluado bajo la de acreditación y registro en Séneca de calificaciones.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9350" y="4076700"/>
            <a:ext cx="19335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9350" y="3419475"/>
            <a:ext cx="15049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8100" y="4076700"/>
            <a:ext cx="29622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3652850" y="394200"/>
            <a:ext cx="81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F497D"/>
                </a:solidFill>
                <a:latin typeface="Poppins"/>
                <a:ea typeface="Poppins"/>
                <a:cs typeface="Poppins"/>
                <a:sym typeface="Poppins"/>
              </a:rPr>
              <a:t>Contextualización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Normativa</a:t>
            </a:r>
            <a:endParaRPr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28974"/>
            <a:ext cx="5334000" cy="278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28974"/>
            <a:ext cx="5334000" cy="27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2224253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Carga Horaria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2671928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6 Horas Semanales: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Distribuidas de manera equilibrada en sesiones prácticas intensivas dentro de nuestro taller.</a:t>
            </a:r>
            <a:endParaRPr sz="1700"/>
          </a:p>
        </p:txBody>
      </p:sp>
      <p:sp>
        <p:nvSpPr>
          <p:cNvPr id="133" name="Google Shape;133;p16"/>
          <p:cNvSpPr txBox="1"/>
          <p:nvPr/>
        </p:nvSpPr>
        <p:spPr>
          <a:xfrm>
            <a:off x="866700" y="3804125"/>
            <a:ext cx="4743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192 Horas Totales: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Concentradas a lo largo de los tres trimestres lectivos en el centro docente.</a:t>
            </a:r>
            <a:endParaRPr sz="1700"/>
          </a:p>
        </p:txBody>
      </p:sp>
      <p:sp>
        <p:nvSpPr>
          <p:cNvPr id="134" name="Google Shape;134;p16"/>
          <p:cNvSpPr txBox="1"/>
          <p:nvPr/>
        </p:nvSpPr>
        <p:spPr>
          <a:xfrm>
            <a:off x="6581775" y="2224253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Infraestructura y Herramientas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81775" y="2671928"/>
            <a:ext cx="4743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Entorno Nativo: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Utilización del sistema operativo openSUSE en cada estación de trabajo.</a:t>
            </a:r>
            <a:endParaRPr sz="1700"/>
          </a:p>
        </p:txBody>
      </p:sp>
      <p:sp>
        <p:nvSpPr>
          <p:cNvPr id="136" name="Google Shape;136;p16"/>
          <p:cNvSpPr txBox="1"/>
          <p:nvPr/>
        </p:nvSpPr>
        <p:spPr>
          <a:xfrm>
            <a:off x="6581775" y="348447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Gestores de Datos: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</a:t>
            </a:r>
            <a:r>
              <a:rPr lang="en-US" sz="15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incipalmente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MariaDB/MySQL, SQLite, PostgreSQL y accesos virtuales a Oracle.</a:t>
            </a:r>
            <a:endParaRPr sz="1700"/>
          </a:p>
        </p:txBody>
      </p:sp>
      <p:sp>
        <p:nvSpPr>
          <p:cNvPr id="137" name="Google Shape;137;p16"/>
          <p:cNvSpPr txBox="1"/>
          <p:nvPr/>
        </p:nvSpPr>
        <p:spPr>
          <a:xfrm>
            <a:off x="3673200" y="327300"/>
            <a:ext cx="8518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Estructura de </a:t>
            </a: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Tiempos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i="0" lang="en-US" sz="28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Recursos</a:t>
            </a:r>
            <a:endParaRPr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17"/>
          <p:cNvGraphicFramePr/>
          <p:nvPr/>
        </p:nvGraphicFramePr>
        <p:xfrm>
          <a:off x="571500" y="2381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{05A907C6-4388-44CC-AB65-DDDF57AB3091}</a:tableStyleId>
              </a:tblPr>
              <a:tblGrid>
                <a:gridCol w="3529450"/>
                <a:gridCol w="1097750"/>
                <a:gridCol w="6421775"/>
              </a:tblGrid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Resultado de Aprendizaje (RA)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Peso 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Descripción y Ámbito de Evaluación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RA1: Elementos del SGBD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Arquitectura lógica/física y utilidades esenciales del gestor de datos.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RA2: Diseño Lógico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Modelado Entidad-Relación y proceso formal de normalización (hasta FNBC).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RA3: Diseño Físico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Lenguaje de Definición de Datos (DDL) y establecimiento de restricciones.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RA4: Consulta de Información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Explotación avanzada de datos con DML (sentencia SELECT compleja).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RA5: Modificación de Datos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Sentencias de edición (INSERT, UPDATE, DELETE) y control de transacciones.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RA6: Programación y Seguridad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Triggers, procedimientos almacenados, seguridad, roles y backups.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17"/>
          <p:cNvSpPr/>
          <p:nvPr/>
        </p:nvSpPr>
        <p:spPr>
          <a:xfrm>
            <a:off x="571500" y="284321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00958" y="284321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198715" y="284321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25278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100958" y="325278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198715" y="325278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366236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100958" y="366236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198715" y="366236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07193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100958" y="407193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198715" y="407193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4481512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100958" y="4481512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198715" y="4481512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71500" y="4891087"/>
            <a:ext cx="35294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4100958" y="4891087"/>
            <a:ext cx="1097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198715" y="4891087"/>
            <a:ext cx="642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663911" y="366250"/>
            <a:ext cx="718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Ponderación de Resultados (RA)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p18"/>
          <p:cNvGraphicFramePr/>
          <p:nvPr/>
        </p:nvGraphicFramePr>
        <p:xfrm>
          <a:off x="468675" y="2408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{05A907C6-4388-44CC-AB65-DDDF57AB3091}</a:tableStyleId>
              </a:tblPr>
              <a:tblGrid>
                <a:gridCol w="1424125"/>
                <a:gridCol w="6349300"/>
                <a:gridCol w="1032425"/>
                <a:gridCol w="2243125"/>
              </a:tblGrid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Unidades de Trabajo (UT)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Periodo Temporal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UT1: Almacenamiento • UT2: Diagramas E/R • UT3: Relacional • UT4: DDL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Sep - 22 Dic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UT5 a UT8: Consultas SQL (Simples, Multitabla, Subconsultas) • UT9: DML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63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08 Ene - 27 Mar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3º Trimestre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UT10: Programación (Triggers, Store Procs) • UT11: Seguridad y Backups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 h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 Abr - 31 May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18"/>
          <p:cNvSpPr/>
          <p:nvPr/>
        </p:nvSpPr>
        <p:spPr>
          <a:xfrm>
            <a:off x="571500" y="3457575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995636" y="3457575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344941" y="3457575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9377362" y="3457575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1500" y="3867150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995636" y="3867150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344941" y="3867150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9377362" y="3867150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71500" y="4276725"/>
            <a:ext cx="14241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1995636" y="4276725"/>
            <a:ext cx="6349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344941" y="4276725"/>
            <a:ext cx="1032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9377362" y="4276725"/>
            <a:ext cx="22431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3616558" y="340500"/>
            <a:ext cx="6606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Secuenciación del Curso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464296"/>
            <a:ext cx="3524250" cy="2758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19150" y="3273921"/>
            <a:ext cx="28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 escritas (</a:t>
            </a: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0%)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19150" y="3721596"/>
            <a:ext cx="30291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Controles de desarrollo de código y teoría individual en ordenador o papel. Nota mínima para promediar: 5.</a:t>
            </a:r>
            <a:endParaRPr sz="1700"/>
          </a:p>
        </p:txBody>
      </p:sp>
      <p:sp>
        <p:nvSpPr>
          <p:cNvPr id="189" name="Google Shape;189;p19"/>
          <p:cNvSpPr txBox="1"/>
          <p:nvPr/>
        </p:nvSpPr>
        <p:spPr>
          <a:xfrm>
            <a:off x="4581525" y="3273921"/>
            <a:ext cx="318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Prácticas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/ Moodle (</a:t>
            </a: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0%)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581450" y="3722571"/>
            <a:ext cx="30291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Entregas periódicas obligatorias de scripts y esquemas estructurados de bases de datos. Nota mínima: 5.</a:t>
            </a:r>
            <a:endParaRPr sz="1700"/>
          </a:p>
        </p:txBody>
      </p:sp>
      <p:sp>
        <p:nvSpPr>
          <p:cNvPr id="191" name="Google Shape;191;p19"/>
          <p:cNvSpPr txBox="1"/>
          <p:nvPr/>
        </p:nvSpPr>
        <p:spPr>
          <a:xfrm>
            <a:off x="8343900" y="3273921"/>
            <a:ext cx="3180397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Clase y Participación (10%)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343750" y="3721596"/>
            <a:ext cx="30291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Resolución diaria de supuestos prácticos, aportaciones en foros y coevaluación en el taller virtual.</a:t>
            </a:r>
            <a:endParaRPr sz="1700"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75957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3669500" y="337475"/>
            <a:ext cx="6398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Criterios e Instrumentos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99" y="133540"/>
            <a:ext cx="666000" cy="885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900113" y="474059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 b="0" sz="10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407664" y="304895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665125" y="378143"/>
            <a:ext cx="6642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Evaluación </a:t>
            </a:r>
            <a:endParaRPr b="1" sz="28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90" r="80" t="0"/>
          <a:stretch/>
        </p:blipFill>
        <p:spPr>
          <a:xfrm>
            <a:off x="581025" y="6296025"/>
            <a:ext cx="110301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81025" y="6456426"/>
            <a:ext cx="38100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 b="0" sz="900">
              <a:solidFill>
                <a:srgbClr val="4F81BD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659625" y="1466838"/>
            <a:ext cx="3429000" cy="4381500"/>
            <a:chOff x="571500" y="1524000"/>
            <a:chExt cx="3429000" cy="4381500"/>
          </a:xfrm>
        </p:grpSpPr>
        <p:sp>
          <p:nvSpPr>
            <p:cNvPr id="209" name="Google Shape;209;p20"/>
            <p:cNvSpPr/>
            <p:nvPr/>
          </p:nvSpPr>
          <p:spPr>
            <a:xfrm>
              <a:off x="57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85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Inicial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Al comienzo del módulo o de un bloque para conocer la base de partida del alumnado.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Continua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Formativa y procesual en el día a día para valorar el progreso y mejorar el aprendizaje.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Evaluación Final</a:t>
              </a:r>
              <a:endParaRPr b="1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Sumativa al término de cada bloque para verificar la adquisición de resultados de aprendizaje.</a:t>
              </a:r>
              <a:endParaRPr b="0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4469625" y="1466838"/>
            <a:ext cx="3429000" cy="4381500"/>
            <a:chOff x="4381500" y="1524000"/>
            <a:chExt cx="3429000" cy="4381500"/>
          </a:xfrm>
        </p:grpSpPr>
        <p:sp>
          <p:nvSpPr>
            <p:cNvPr id="212" name="Google Shape;212;p20"/>
            <p:cNvSpPr/>
            <p:nvPr/>
          </p:nvSpPr>
          <p:spPr>
            <a:xfrm>
              <a:off x="438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66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Superación por Bloques</a:t>
              </a:r>
              <a:endParaRPr b="1" sz="15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Para superar el módulo profesional es requisito indispensable aprobar todas y cada una de las unidades didácticas evaluadas.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Nota Final Ponderada</a:t>
              </a:r>
              <a:endParaRPr b="1" sz="15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La calificación se calcula mediante la ponderación oficial de los 5 resultados de aprendizaje (RA) del currículo.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8279625" y="1466838"/>
            <a:ext cx="3429000" cy="4381500"/>
            <a:chOff x="8191500" y="1524000"/>
            <a:chExt cx="3429000" cy="4381500"/>
          </a:xfrm>
        </p:grpSpPr>
        <p:sp>
          <p:nvSpPr>
            <p:cNvPr id="215" name="Google Shape;215;p20"/>
            <p:cNvSpPr/>
            <p:nvPr/>
          </p:nvSpPr>
          <p:spPr>
            <a:xfrm>
              <a:off x="8191500" y="1524000"/>
              <a:ext cx="3429000" cy="4381500"/>
            </a:xfrm>
            <a:prstGeom prst="roundRect">
              <a:avLst>
                <a:gd fmla="val 4444" name="adj"/>
              </a:avLst>
            </a:prstGeom>
            <a:solidFill>
              <a:srgbClr val="EFF6FF"/>
            </a:solidFill>
            <a:ln cap="flat" cmpd="sng" w="1905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8477250" y="2333625"/>
              <a:ext cx="2857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Moodle Centros</a:t>
              </a:r>
              <a:endParaRPr b="1" sz="155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Toda la actividad académica, seguimiento de entregas y retroalimentación se centralizan en la plataforma oficial de la Junta de Andalucía.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550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Calificador por RAs</a:t>
              </a:r>
              <a:endParaRPr b="1" sz="155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El cuaderno de calificaciones está estrictamente organizado mediante carpetas correspondientes a cada Resultado de Aprendizaje.</a:t>
              </a:r>
              <a:endParaRPr b="0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00" y="133558"/>
            <a:ext cx="666000" cy="88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1"/>
          <p:cNvGrpSpPr/>
          <p:nvPr/>
        </p:nvGrpSpPr>
        <p:grpSpPr>
          <a:xfrm>
            <a:off x="900150" y="474050"/>
            <a:ext cx="2904300" cy="323100"/>
            <a:chOff x="900150" y="474050"/>
            <a:chExt cx="2904300" cy="323100"/>
          </a:xfrm>
        </p:grpSpPr>
        <p:sp>
          <p:nvSpPr>
            <p:cNvPr id="223" name="Google Shape;223;p21"/>
            <p:cNvSpPr/>
            <p:nvPr/>
          </p:nvSpPr>
          <p:spPr>
            <a:xfrm>
              <a:off x="900150" y="474050"/>
              <a:ext cx="2904300" cy="323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900150" y="474050"/>
              <a:ext cx="29043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IES Celia Viñas | Dpto. Informática (Almería)</a:t>
              </a:r>
              <a:endParaRPr b="0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90" r="80" t="0"/>
          <a:stretch/>
        </p:blipFill>
        <p:spPr>
          <a:xfrm>
            <a:off x="581025" y="6296025"/>
            <a:ext cx="11030100" cy="36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1"/>
          <p:cNvGrpSpPr/>
          <p:nvPr/>
        </p:nvGrpSpPr>
        <p:grpSpPr>
          <a:xfrm>
            <a:off x="581025" y="6456455"/>
            <a:ext cx="2959800" cy="138600"/>
            <a:chOff x="581025" y="6456455"/>
            <a:chExt cx="2959800" cy="138600"/>
          </a:xfrm>
        </p:grpSpPr>
        <p:sp>
          <p:nvSpPr>
            <p:cNvPr id="227" name="Google Shape;227;p21"/>
            <p:cNvSpPr/>
            <p:nvPr/>
          </p:nvSpPr>
          <p:spPr>
            <a:xfrm>
              <a:off x="581025" y="6456455"/>
              <a:ext cx="2959800" cy="13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581025" y="6456455"/>
              <a:ext cx="29598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F81BD"/>
                  </a:solidFill>
                  <a:latin typeface="Lato"/>
                  <a:ea typeface="Lato"/>
                  <a:cs typeface="Lato"/>
                  <a:sym typeface="Lato"/>
                </a:rPr>
                <a:t>2º ASIR • Administración de Sistemas Informáticos en Red</a:t>
              </a:r>
              <a:endParaRPr b="0" sz="900">
                <a:solidFill>
                  <a:srgbClr val="4F81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29" name="Google Shape;229;p21"/>
          <p:cNvSpPr/>
          <p:nvPr/>
        </p:nvSpPr>
        <p:spPr>
          <a:xfrm>
            <a:off x="3407674" y="304863"/>
            <a:ext cx="47700" cy="543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21"/>
          <p:cNvGrpSpPr/>
          <p:nvPr/>
        </p:nvGrpSpPr>
        <p:grpSpPr>
          <a:xfrm>
            <a:off x="3665153" y="378175"/>
            <a:ext cx="6642300" cy="438600"/>
            <a:chOff x="3665153" y="378175"/>
            <a:chExt cx="6642300" cy="438600"/>
          </a:xfrm>
        </p:grpSpPr>
        <p:sp>
          <p:nvSpPr>
            <p:cNvPr id="231" name="Google Shape;231;p21"/>
            <p:cNvSpPr/>
            <p:nvPr/>
          </p:nvSpPr>
          <p:spPr>
            <a:xfrm>
              <a:off x="3665153" y="378175"/>
              <a:ext cx="6642300" cy="43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3665153" y="378175"/>
              <a:ext cx="6642300" cy="4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Calificación</a:t>
              </a:r>
              <a:endParaRPr b="1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571575" y="2133588"/>
            <a:ext cx="5334000" cy="3048000"/>
            <a:chOff x="0" y="0"/>
            <a:chExt cx="5334000" cy="3048000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5" name="Google Shape;23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 txBox="1"/>
            <p:nvPr/>
          </p:nvSpPr>
          <p:spPr>
            <a:xfrm>
              <a:off x="190500" y="1143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FÓRMULAS DE CALIFICACIÓN TRIMESTRAL</a:t>
              </a:r>
              <a:endParaRPr b="1" sz="1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228600" y="666750"/>
              <a:ext cx="4876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Primer Trimestre (1ºT)</a:t>
              </a:r>
              <a:endParaRPr b="0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Evaluación de RA1 (10%), RA2 (15%) y RA3 (15%).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1ºT = (RA1×10 + RA2×15 + RA3×15) / 40</a:t>
              </a:r>
              <a:endParaRPr b="1" sz="1364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8" name="Google Shape;238;p21"/>
            <p:cNvSpPr txBox="1"/>
            <p:nvPr/>
          </p:nvSpPr>
          <p:spPr>
            <a:xfrm>
              <a:off x="228600" y="1857375"/>
              <a:ext cx="48768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Segundo Trimestre (2ºT)</a:t>
              </a:r>
              <a:endParaRPr b="0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Evaluación de RA4 (25%) y RA5 parcial (10%).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2ºT = (RA4×25 + RA5×10) / 35</a:t>
              </a:r>
              <a:endParaRPr b="1" sz="1364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39" name="Google Shape;239;p21"/>
          <p:cNvGrpSpPr/>
          <p:nvPr/>
        </p:nvGrpSpPr>
        <p:grpSpPr>
          <a:xfrm>
            <a:off x="6286575" y="2133588"/>
            <a:ext cx="5334000" cy="3048000"/>
            <a:chOff x="0" y="0"/>
            <a:chExt cx="5334000" cy="3048000"/>
          </a:xfrm>
        </p:grpSpPr>
        <p:sp>
          <p:nvSpPr>
            <p:cNvPr id="240" name="Google Shape;240;p21"/>
            <p:cNvSpPr/>
            <p:nvPr/>
          </p:nvSpPr>
          <p:spPr>
            <a:xfrm>
              <a:off x="0" y="0"/>
              <a:ext cx="5334000" cy="3048000"/>
            </a:xfrm>
            <a:prstGeom prst="roundRect">
              <a:avLst>
                <a:gd fmla="val 5000" name="adj"/>
              </a:avLst>
            </a:prstGeom>
            <a:solidFill>
              <a:srgbClr val="EFF6FF"/>
            </a:solidFill>
            <a:ln cap="flat" cmpd="sng" w="19050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1" name="Google Shape;24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5334000" cy="47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1"/>
            <p:cNvSpPr txBox="1"/>
            <p:nvPr/>
          </p:nvSpPr>
          <p:spPr>
            <a:xfrm>
              <a:off x="190500" y="1143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INTEGRACIÓN DE ALTERNANCIA DUAL</a:t>
              </a:r>
              <a:endParaRPr b="1" sz="1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228600" y="666750"/>
              <a:ext cx="48768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Cálculo de Nota Final de RA3</a:t>
              </a:r>
              <a:endParaRPr b="0" sz="16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18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El peso de la estancia en empresa (20%) se integra formalmente en la nota final del Resultado de Aprendizaje 3 (RA3-c).</a:t>
              </a:r>
              <a:endParaRPr b="0" sz="131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64">
                  <a:solidFill>
                    <a:srgbClr val="1E3A8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 Final RA3 = (Centro RA3 × 0.8) + (Empresa × 0.2)</a:t>
              </a:r>
              <a:endParaRPr b="1" sz="1364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1E3B8B"/>
                  </a:solidFill>
                  <a:latin typeface="Lato"/>
                  <a:ea typeface="Lato"/>
                  <a:cs typeface="Lato"/>
                  <a:sym typeface="Lato"/>
                </a:rPr>
                <a:t>Requisito de Aprobación: Para superar el módulo se exige nota final general &gt;= 5 y tener aprobados todos los RAs evaluados en el centro con nota mínima de 5 de forma independiente.</a:t>
              </a:r>
              <a:endParaRPr b="1" sz="1350">
                <a:solidFill>
                  <a:srgbClr val="1E3B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/>
        </p:nvSpPr>
        <p:spPr>
          <a:xfrm>
            <a:off x="941563" y="2228376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Asistencia mínima (8</a:t>
            </a:r>
            <a:r>
              <a:rPr b="1" lang="en-US" sz="15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%):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Según el Decreto 147/2025, la pérdida del derecho a evaluación continua se produce al superar las 38 horas de inasistencia.</a:t>
            </a:r>
            <a:endParaRPr sz="1700"/>
          </a:p>
        </p:txBody>
      </p:sp>
      <p:sp>
        <p:nvSpPr>
          <p:cNvPr id="249" name="Google Shape;249;p22"/>
          <p:cNvSpPr txBox="1"/>
          <p:nvPr/>
        </p:nvSpPr>
        <p:spPr>
          <a:xfrm>
            <a:off x="868113" y="3082870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Integridad académica: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Cualquier plagio o código duplicado en pruebas o proyectos supondrá la calificación inmediata de 0 en el trimestre afectado.</a:t>
            </a:r>
            <a:endParaRPr sz="1700"/>
          </a:p>
        </p:txBody>
      </p:sp>
      <p:sp>
        <p:nvSpPr>
          <p:cNvPr id="250" name="Google Shape;250;p22"/>
          <p:cNvSpPr txBox="1"/>
          <p:nvPr/>
        </p:nvSpPr>
        <p:spPr>
          <a:xfrm>
            <a:off x="868113" y="3866862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Defensa de código: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Todas las prácticas entregadas a través de Moodle serán susceptibles de requerir defensa oral para validar su autoría.</a:t>
            </a:r>
            <a:endParaRPr sz="1700"/>
          </a:p>
        </p:txBody>
      </p:sp>
      <p:sp>
        <p:nvSpPr>
          <p:cNvPr id="251" name="Google Shape;251;p22"/>
          <p:cNvSpPr txBox="1"/>
          <p:nvPr/>
        </p:nvSpPr>
        <p:spPr>
          <a:xfrm>
            <a:off x="868113" y="4650817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Recuperación trimestral: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final de cada periodo se realizará una prueba de recuperación de los contenidos no superados.</a:t>
            </a:r>
            <a:endParaRPr sz="1700"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188" y="225218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188" y="308286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375" y="38787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738" y="467463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3665150" y="368000"/>
            <a:ext cx="598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Requisitos de Aprobación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/>
          <p:nvPr/>
        </p:nvSpPr>
        <p:spPr>
          <a:xfrm>
            <a:off x="571500" y="2033587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Del Concepto al Modelo Relacional</a:t>
            </a:r>
            <a:endParaRPr sz="1600"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2481262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Diagramas E/R: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Abstracción avanzada de procesos de negocio utilizando la notación Chen, identificando entidades, atributos, relaciones y jerarquías de especialización.</a:t>
            </a:r>
            <a:endParaRPr sz="1600"/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3574220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Transformación Lógica: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Reglas estrictas de mapeo de cardinalidad para la conversión formal del diagrama conceptual a tablas relacionales.</a:t>
            </a:r>
            <a:endParaRPr sz="1600"/>
          </a:p>
        </p:txBody>
      </p:sp>
      <p:sp>
        <p:nvSpPr>
          <p:cNvPr id="264" name="Google Shape;264;p23"/>
          <p:cNvSpPr txBox="1"/>
          <p:nvPr/>
        </p:nvSpPr>
        <p:spPr>
          <a:xfrm>
            <a:off x="571500" y="4766892"/>
            <a:ext cx="53340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Normalización:</a:t>
            </a:r>
            <a:r>
              <a:rPr b="0" i="0" lang="en-US" sz="14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Aplicación de dependencias funcionales para validar esquemas en 3FN, minimizando redundancias en el almacenamiento físico.</a:t>
            </a:r>
            <a:endParaRPr sz="1600"/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8900" y="2109052"/>
            <a:ext cx="4351600" cy="29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3654975" y="378175"/>
            <a:ext cx="703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I: Diseño y Modelado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3675325" y="327300"/>
            <a:ext cx="8768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II: Explotación de Datos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13202"/>
          <a:stretch/>
        </p:blipFill>
        <p:spPr>
          <a:xfrm>
            <a:off x="7193900" y="905575"/>
            <a:ext cx="4998100" cy="5078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571500" y="194310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Lenguaje de Manipulación DML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2390775"/>
            <a:ext cx="52863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Sentencias de manipulación: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Inserción masiva de registros, actualizaciones condicionales robustas y borrado de información con integridad referencial en cascada.</a:t>
            </a:r>
            <a:endParaRPr sz="1700"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3898082"/>
            <a:ext cx="5286300" cy="14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Consultas de Alto Rendimiento: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Uso experto de composiciones (INNER, LEFT/RIGHT JOIN) y agrupaciones con filtros HAVING para responder a demandas complejas de negocio en entornos de producción real.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15475"/>
            <a:ext cx="5334000" cy="323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75" y="1915475"/>
            <a:ext cx="5334000" cy="32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866775" y="2080072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Programación de BD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866700" y="263853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Lógica de negocio: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Desarrollo de automatismos directamente en el SGBD mediante Disparadores (Triggers) para auditoría de acciones.</a:t>
            </a:r>
            <a:endParaRPr sz="1700"/>
          </a:p>
        </p:txBody>
      </p:sp>
      <p:sp>
        <p:nvSpPr>
          <p:cNvPr id="284" name="Google Shape;284;p25"/>
          <p:cNvSpPr txBox="1"/>
          <p:nvPr/>
        </p:nvSpPr>
        <p:spPr>
          <a:xfrm>
            <a:off x="866775" y="3937694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Módulos almacenados: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Codificación de procedimientos y funciones para centralizar procesos, garantizando la escalabilidad de la arquitectura.</a:t>
            </a:r>
            <a:endParaRPr sz="1700"/>
          </a:p>
        </p:txBody>
      </p:sp>
      <p:sp>
        <p:nvSpPr>
          <p:cNvPr id="285" name="Google Shape;285;p25"/>
          <p:cNvSpPr txBox="1"/>
          <p:nvPr/>
        </p:nvSpPr>
        <p:spPr>
          <a:xfrm>
            <a:off x="6581775" y="2080072"/>
            <a:ext cx="498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Seguridad y Administración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6581775" y="2638535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Gestión de accesos: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 de privilegios y seguridad mediante definición de roles de usuario (GRANT y REVOKE).</a:t>
            </a:r>
            <a:endParaRPr sz="1700"/>
          </a:p>
        </p:txBody>
      </p:sp>
      <p:sp>
        <p:nvSpPr>
          <p:cNvPr id="287" name="Google Shape;287;p25"/>
          <p:cNvSpPr txBox="1"/>
          <p:nvPr/>
        </p:nvSpPr>
        <p:spPr>
          <a:xfrm>
            <a:off x="6581775" y="3937694"/>
            <a:ext cx="4743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Planes de Contingencia: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Estrategias para copias de seguridad consistentes en frío/caliente e importación de grandes conjuntos de datos.</a:t>
            </a:r>
            <a:endParaRPr sz="1700"/>
          </a:p>
        </p:txBody>
      </p:sp>
      <p:sp>
        <p:nvSpPr>
          <p:cNvPr id="288" name="Google Shape;288;p25"/>
          <p:cNvSpPr txBox="1"/>
          <p:nvPr/>
        </p:nvSpPr>
        <p:spPr>
          <a:xfrm>
            <a:off x="3665150" y="378175"/>
            <a:ext cx="7212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Bloque III: Lógica de Servidor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/>
        </p:nvSpPr>
        <p:spPr>
          <a:xfrm>
            <a:off x="571500" y="2033587"/>
            <a:ext cx="56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</a:t>
            </a: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Trabajo en el aula - taller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2481262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Puestos Fijos de Trabajo: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Cada alumno tendrá asignado un ordenador exclusivo durante todo el curso</a:t>
            </a:r>
            <a:r>
              <a:rPr lang="en-US" sz="15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hacer un uso responsable del mismo.</a:t>
            </a:r>
            <a:endParaRPr sz="1700"/>
          </a:p>
        </p:txBody>
      </p:sp>
      <p:sp>
        <p:nvSpPr>
          <p:cNvPr id="295" name="Google Shape;295;p26"/>
          <p:cNvSpPr txBox="1"/>
          <p:nvPr/>
        </p:nvSpPr>
        <p:spPr>
          <a:xfrm>
            <a:off x="571500" y="3531321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Responsabilidad en Backups: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copias de seguridad de las máquinas virtuales y código SQL son total responsabilidad del alumno.</a:t>
            </a:r>
            <a:endParaRPr sz="1700"/>
          </a:p>
        </p:txBody>
      </p:sp>
      <p:sp>
        <p:nvSpPr>
          <p:cNvPr id="296" name="Google Shape;296;p26"/>
          <p:cNvSpPr txBox="1"/>
          <p:nvPr/>
        </p:nvSpPr>
        <p:spPr>
          <a:xfrm>
            <a:off x="571500" y="4581381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Incidencias de Hardware: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Cualquier fallo técnico detectado en el puesto debe comunicarse inmediatamente al profesor.</a:t>
            </a:r>
            <a:endParaRPr sz="1700"/>
          </a:p>
        </p:txBody>
      </p:sp>
      <p:sp>
        <p:nvSpPr>
          <p:cNvPr id="297" name="Google Shape;297;p26"/>
          <p:cNvSpPr txBox="1"/>
          <p:nvPr/>
        </p:nvSpPr>
        <p:spPr>
          <a:xfrm>
            <a:off x="571500" y="5359678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 del Móvil:</a:t>
            </a: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Prohibido estrictamente salvo indicación expresa de uso pedagógico guiado.</a:t>
            </a:r>
            <a:endParaRPr sz="1700"/>
          </a:p>
        </p:txBody>
      </p:sp>
      <p:pic>
        <p:nvPicPr>
          <p:cNvPr descr="image.png"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925" y="2043102"/>
            <a:ext cx="4582050" cy="31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3654975" y="337475"/>
            <a:ext cx="666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Normas del aula-taller de ASIR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1764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6286500" y="2447297"/>
            <a:ext cx="56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369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Compromiso Profesional Dual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6286500" y="2953747"/>
            <a:ext cx="5334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actividades del módulo se vinculan directamente con los requisitos del tejido empresarial tecnológico de Almería.</a:t>
            </a:r>
            <a:endParaRPr sz="1700"/>
          </a:p>
        </p:txBody>
      </p:sp>
      <p:sp>
        <p:nvSpPr>
          <p:cNvPr id="307" name="Google Shape;307;p27"/>
          <p:cNvSpPr txBox="1"/>
          <p:nvPr/>
        </p:nvSpPr>
        <p:spPr>
          <a:xfrm>
            <a:off x="6286500" y="3937694"/>
            <a:ext cx="53340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Simulamos un entorno corporativo real en el taller diario: puntualidad impecable, documentación técnica clara de cada despliegue e integridad en el desarrollo de scripts SQL.</a:t>
            </a:r>
            <a:endParaRPr sz="1700"/>
          </a:p>
        </p:txBody>
      </p:sp>
      <p:pic>
        <p:nvPicPr>
          <p:cNvPr descr="image.png" id="308" name="Google Shape;3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2185987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7"/>
          <p:cNvSpPr txBox="1"/>
          <p:nvPr/>
        </p:nvSpPr>
        <p:spPr>
          <a:xfrm>
            <a:off x="3644800" y="378175"/>
            <a:ext cx="683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Integración Dual en Empresa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/>
        </p:nvSpPr>
        <p:spPr>
          <a:xfrm>
            <a:off x="1828800" y="2766119"/>
            <a:ext cx="85344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informática no se aprende memorizando comandos o viendo capturas; se aprende instalando los servicios, configurando sus parámetros, analizando los logs de error y resolviendo los fallos por uno mismo.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1400175" y="4711005"/>
            <a:ext cx="9391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Acuerdo Pedagógico de Aula, Dpto. Informática IES Celia Viñas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1304925" y="2956619"/>
            <a:ext cx="28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10601325" y="4568135"/>
            <a:ext cx="28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BAE6FD"/>
                </a:solidFill>
                <a:latin typeface="Poppins"/>
                <a:ea typeface="Poppins"/>
                <a:cs typeface="Poppins"/>
                <a:sym typeface="Poppins"/>
              </a:rPr>
              <a:t>”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3654975" y="388350"/>
            <a:ext cx="609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Filosofía del Aula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1300" y="3572916"/>
            <a:ext cx="6629400" cy="17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2585561" y="1559421"/>
            <a:ext cx="702087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¿Alguna Pregunta?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2824797" y="2844325"/>
            <a:ext cx="654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¡Bienvenidos al Módulo de Gestión de Bases de Datos!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2781300" y="3772941"/>
            <a:ext cx="6629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jsansan766@g.educaand.es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2781300" y="4281487"/>
            <a:ext cx="6629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Aula Virtual Moodle Centros Almería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2781300" y="4790033"/>
            <a:ext cx="662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Aula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 • IES Celia Viñas (Almería)</a:t>
            </a:r>
            <a:endParaRPr/>
          </a:p>
        </p:txBody>
      </p:sp>
      <p:pic>
        <p:nvPicPr>
          <p:cNvPr descr="image.png" id="329" name="Google Shape;3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383961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987" y="43481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4856708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