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92000"/>
  <p:notesSz cx="6858000" cy="9144000"/>
  <p:embeddedFontLst>
    <p:embeddedFont>
      <p:font typeface="Lato"/>
      <p:regular r:id="rId21"/>
      <p:bold r:id="rId22"/>
      <p:italic r:id="rId23"/>
      <p:boldItalic r:id="rId24"/>
    </p:embeddedFont>
    <p:embeddedFont>
      <p:font typeface="Poppins"/>
      <p:regular r:id="rId25"/>
      <p:bold r:id="rId26"/>
      <p:italic r:id="rId27"/>
      <p:boldItalic r:id="rId28"/>
    </p:embeddedFont>
    <p:embeddedFont>
      <p:font typeface="Poppins SemiBold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1723F11-812D-4EFC-920F-2803E3DCA564}">
  <a:tblStyle styleId="{F1723F11-812D-4EFC-920F-2803E3DCA56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Lato-bold.fntdata"/><Relationship Id="rId21" Type="http://schemas.openxmlformats.org/officeDocument/2006/relationships/font" Target="fonts/Lato-regular.fntdata"/><Relationship Id="rId24" Type="http://schemas.openxmlformats.org/officeDocument/2006/relationships/font" Target="fonts/Lato-boldItalic.fntdata"/><Relationship Id="rId23" Type="http://schemas.openxmlformats.org/officeDocument/2006/relationships/font" Target="fonts/La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oppins-bold.fntdata"/><Relationship Id="rId25" Type="http://schemas.openxmlformats.org/officeDocument/2006/relationships/font" Target="fonts/Poppins-regular.fntdata"/><Relationship Id="rId28" Type="http://schemas.openxmlformats.org/officeDocument/2006/relationships/font" Target="fonts/Poppins-boldItalic.fntdata"/><Relationship Id="rId27" Type="http://schemas.openxmlformats.org/officeDocument/2006/relationships/font" Target="fonts/Poppins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SemiBold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SemiBold-italic.fntdata"/><Relationship Id="rId30" Type="http://schemas.openxmlformats.org/officeDocument/2006/relationships/font" Target="fonts/PoppinsSemiBold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font" Target="fonts/PoppinsSemiBold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e86f0ed9dd_40_1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e86f0ed9dd_4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e857d84948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g3e857d84948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" name="Google Shape;15;p2" title="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6400" y="133558"/>
            <a:ext cx="665900" cy="88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7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5" name="Google Shape;45;p7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7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8" name="Google Shape;58;p9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9" name="Google Shape;59;p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10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6" name="Google Shape;66;p1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2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 (g3e86f0ed9dd_32_0)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86f0ed9dd_51_0)">
  <p:cSld name="Generated (g3e86f0ed9dd_51_0)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0.png"/><Relationship Id="rId10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9" Type="http://schemas.openxmlformats.org/officeDocument/2006/relationships/image" Target="../media/image14.png"/><Relationship Id="rId5" Type="http://schemas.openxmlformats.org/officeDocument/2006/relationships/image" Target="../media/image7.png"/><Relationship Id="rId6" Type="http://schemas.openxmlformats.org/officeDocument/2006/relationships/image" Target="../media/image1.png"/><Relationship Id="rId7" Type="http://schemas.openxmlformats.org/officeDocument/2006/relationships/image" Target="../media/image5.png"/><Relationship Id="rId8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29.png"/><Relationship Id="rId6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0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image" Target="../media/image4.png"/><Relationship Id="rId5" Type="http://schemas.openxmlformats.org/officeDocument/2006/relationships/image" Target="../media/image35.png"/><Relationship Id="rId6" Type="http://schemas.openxmlformats.org/officeDocument/2006/relationships/image" Target="../media/image19.png"/><Relationship Id="rId7" Type="http://schemas.openxmlformats.org/officeDocument/2006/relationships/image" Target="../media/image21.png"/><Relationship Id="rId8" Type="http://schemas.openxmlformats.org/officeDocument/2006/relationships/image" Target="../media/image13.jpg"/></Relationships>
</file>

<file path=ppt/slides/_rels/slide6.xml.rels><?xml version="1.0" encoding="UTF-8" standalone="yes"?><Relationships xmlns="http://schemas.openxmlformats.org/package/2006/relationships"><Relationship Id="rId10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20.png"/><Relationship Id="rId9" Type="http://schemas.openxmlformats.org/officeDocument/2006/relationships/image" Target="../media/image23.png"/><Relationship Id="rId5" Type="http://schemas.openxmlformats.org/officeDocument/2006/relationships/image" Target="../media/image17.png"/><Relationship Id="rId6" Type="http://schemas.openxmlformats.org/officeDocument/2006/relationships/image" Target="../media/image33.png"/><Relationship Id="rId7" Type="http://schemas.openxmlformats.org/officeDocument/2006/relationships/image" Target="../media/image4.png"/><Relationship Id="rId8" Type="http://schemas.openxmlformats.org/officeDocument/2006/relationships/image" Target="../media/image2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8.png"/><Relationship Id="rId4" Type="http://schemas.openxmlformats.org/officeDocument/2006/relationships/image" Target="../media/image16.png"/><Relationship Id="rId5" Type="http://schemas.openxmlformats.org/officeDocument/2006/relationships/image" Target="../media/image4.png"/><Relationship Id="rId6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2.png"/><Relationship Id="rId4" Type="http://schemas.openxmlformats.org/officeDocument/2006/relationships/image" Target="../media/image4.png"/><Relationship Id="rId5" Type="http://schemas.openxmlformats.org/officeDocument/2006/relationships/image" Target="../media/image38.png"/><Relationship Id="rId6" Type="http://schemas.openxmlformats.org/officeDocument/2006/relationships/image" Target="../media/image41.png"/><Relationship Id="rId7" Type="http://schemas.openxmlformats.org/officeDocument/2006/relationships/image" Target="../media/image32.png"/><Relationship Id="rId8" Type="http://schemas.openxmlformats.org/officeDocument/2006/relationships/image" Target="../media/image3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7.png"/><Relationship Id="rId4" Type="http://schemas.openxmlformats.org/officeDocument/2006/relationships/image" Target="../media/image40.png"/><Relationship Id="rId5" Type="http://schemas.openxmlformats.org/officeDocument/2006/relationships/image" Target="../media/image39.png"/><Relationship Id="rId6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6.png"/><Relationship Id="rId4" Type="http://schemas.openxmlformats.org/officeDocument/2006/relationships/image" Target="../media/image4.png"/><Relationship Id="rId5" Type="http://schemas.openxmlformats.org/officeDocument/2006/relationships/image" Target="../media/image53.png"/><Relationship Id="rId6" Type="http://schemas.openxmlformats.org/officeDocument/2006/relationships/image" Target="../media/image37.png"/><Relationship Id="rId7" Type="http://schemas.openxmlformats.org/officeDocument/2006/relationships/image" Target="../media/image5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7.png"/><Relationship Id="rId6" Type="http://schemas.openxmlformats.org/officeDocument/2006/relationships/image" Target="../media/image5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2.png"/><Relationship Id="rId4" Type="http://schemas.openxmlformats.org/officeDocument/2006/relationships/image" Target="../media/image40.png"/><Relationship Id="rId5" Type="http://schemas.openxmlformats.org/officeDocument/2006/relationships/image" Target="../media/image39.png"/><Relationship Id="rId6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2.png"/><Relationship Id="rId4" Type="http://schemas.openxmlformats.org/officeDocument/2006/relationships/image" Target="../media/image4.png"/><Relationship Id="rId5" Type="http://schemas.openxmlformats.org/officeDocument/2006/relationships/image" Target="../media/image49.jpg"/></Relationships>
</file>

<file path=ppt/slides/_rels/slide14.xml.rels><?xml version="1.0" encoding="UTF-8" standalone="yes"?><Relationships xmlns="http://schemas.openxmlformats.org/package/2006/relationships"><Relationship Id="rId10" Type="http://schemas.openxmlformats.org/officeDocument/2006/relationships/image" Target="../media/image5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2.png"/><Relationship Id="rId4" Type="http://schemas.openxmlformats.org/officeDocument/2006/relationships/image" Target="../media/image4.png"/><Relationship Id="rId9" Type="http://schemas.openxmlformats.org/officeDocument/2006/relationships/image" Target="../media/image51.png"/><Relationship Id="rId5" Type="http://schemas.openxmlformats.org/officeDocument/2006/relationships/image" Target="../media/image43.png"/><Relationship Id="rId6" Type="http://schemas.openxmlformats.org/officeDocument/2006/relationships/image" Target="../media/image50.png"/><Relationship Id="rId7" Type="http://schemas.openxmlformats.org/officeDocument/2006/relationships/image" Target="../media/image46.png"/><Relationship Id="rId8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0" name="Google Shape;9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55126" y="6257925"/>
            <a:ext cx="355848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1" name="Google Shape;9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6105525"/>
            <a:ext cx="1102995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5"/>
          <p:cNvSpPr txBox="1"/>
          <p:nvPr/>
        </p:nvSpPr>
        <p:spPr>
          <a:xfrm>
            <a:off x="226751" y="1888082"/>
            <a:ext cx="115815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Introducción a la Programación y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36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Estructuras de Datos con </a:t>
            </a:r>
            <a:r>
              <a:rPr b="0" i="0" lang="en-US" sz="3600" u="none" cap="none" strike="noStrike">
                <a:solidFill>
                  <a:srgbClr val="05966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Python</a:t>
            </a:r>
            <a:endParaRPr/>
          </a:p>
        </p:txBody>
      </p:sp>
      <p:sp>
        <p:nvSpPr>
          <p:cNvPr id="93" name="Google Shape;93;p15"/>
          <p:cNvSpPr txBox="1"/>
          <p:nvPr/>
        </p:nvSpPr>
        <p:spPr>
          <a:xfrm>
            <a:off x="1969300" y="3429005"/>
            <a:ext cx="8096400" cy="5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Presentación de inicio del curso para el alumnado de </a:t>
            </a:r>
            <a:r>
              <a:rPr lang="en-US" sz="155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2º</a:t>
            </a:r>
            <a:r>
              <a:rPr b="0" i="0" lang="en-US" sz="15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ASIR. </a:t>
            </a:r>
            <a:endParaRPr b="0" i="0" sz="1550" u="none" cap="none" strike="noStrike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Planificación didáctica, alternancia dual y criterios de calificación para el curso 2026/2027.</a:t>
            </a:r>
            <a:endParaRPr sz="1600"/>
          </a:p>
        </p:txBody>
      </p:sp>
      <p:sp>
        <p:nvSpPr>
          <p:cNvPr id="94" name="Google Shape;94;p15"/>
          <p:cNvSpPr txBox="1"/>
          <p:nvPr/>
        </p:nvSpPr>
        <p:spPr>
          <a:xfrm>
            <a:off x="581025" y="6296025"/>
            <a:ext cx="3590100" cy="184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Módulo Optativo • Curso Académico 2026/2027</a:t>
            </a:r>
            <a:endParaRPr sz="1700"/>
          </a:p>
        </p:txBody>
      </p:sp>
      <p:sp>
        <p:nvSpPr>
          <p:cNvPr id="95" name="Google Shape;95;p15"/>
          <p:cNvSpPr txBox="1"/>
          <p:nvPr/>
        </p:nvSpPr>
        <p:spPr>
          <a:xfrm>
            <a:off x="1266825" y="600075"/>
            <a:ext cx="2904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IES Celia Viñas | Dpto. Informática (Almería)</a:t>
            </a:r>
            <a:endParaRPr/>
          </a:p>
        </p:txBody>
      </p:sp>
      <p:pic>
        <p:nvPicPr>
          <p:cNvPr descr="image.png" id="96" name="Google Shape;9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95450" y="4491746"/>
            <a:ext cx="2357437" cy="10429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43387" y="4491746"/>
            <a:ext cx="2357437" cy="10429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325" y="4491746"/>
            <a:ext cx="2357437" cy="10429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39262" y="4491746"/>
            <a:ext cx="2357437" cy="10429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169393" y="4644146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 txBox="1"/>
          <p:nvPr/>
        </p:nvSpPr>
        <p:spPr>
          <a:xfrm>
            <a:off x="1196534" y="4929896"/>
            <a:ext cx="21552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CARGA HORARIA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1247850" y="5168021"/>
            <a:ext cx="20526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r>
              <a:rPr b="1" i="0" lang="en-US" sz="1425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 Horas Semanales</a:t>
            </a:r>
            <a:endParaRPr sz="1700"/>
          </a:p>
        </p:txBody>
      </p:sp>
      <p:pic>
        <p:nvPicPr>
          <p:cNvPr descr="image.png" id="103" name="Google Shape;103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88756" y="4644146"/>
            <a:ext cx="2667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3744471" y="4929896"/>
            <a:ext cx="21552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CICLO PROFESIONAL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3795787" y="5168021"/>
            <a:ext cx="20526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2º ASIR </a:t>
            </a:r>
            <a:endParaRPr sz="1700"/>
          </a:p>
        </p:txBody>
      </p:sp>
      <p:pic>
        <p:nvPicPr>
          <p:cNvPr descr="image.png" id="106" name="Google Shape;106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236693" y="4644146"/>
            <a:ext cx="2667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6292409" y="4929896"/>
            <a:ext cx="21552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CENTRO EDUCATIVO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6343725" y="5168021"/>
            <a:ext cx="20526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IES Celia Viñas</a:t>
            </a:r>
            <a:endParaRPr sz="1700"/>
          </a:p>
        </p:txBody>
      </p:sp>
      <p:pic>
        <p:nvPicPr>
          <p:cNvPr descr="image.png" id="109" name="Google Shape;109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827493" y="4644146"/>
            <a:ext cx="18097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8840346" y="4929896"/>
            <a:ext cx="21552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DOCENTE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8891662" y="5168021"/>
            <a:ext cx="20526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J. Simón Sánchez</a:t>
            </a:r>
            <a:endParaRPr sz="1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6" name="Google Shape;11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55126" y="6257925"/>
            <a:ext cx="355848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500312"/>
            <a:ext cx="5324475" cy="2771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500312"/>
            <a:ext cx="5324475" cy="2771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6105525"/>
            <a:ext cx="1102995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1266825" y="600075"/>
            <a:ext cx="1902321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Contextualización Normativa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876300" y="2795587"/>
            <a:ext cx="497062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Base Legislativa Oficial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876300" y="3205162"/>
            <a:ext cx="4734000" cy="1015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Módulo adaptado al **Decreto 165/2024** de ordenación de la FP en Andalucía y regulado bajo la **Ley Orgánica 3/2022**.</a:t>
            </a:r>
            <a:endParaRPr sz="1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3" name="Google Shape;123;p16"/>
          <p:cNvSpPr txBox="1"/>
          <p:nvPr/>
        </p:nvSpPr>
        <p:spPr>
          <a:xfrm>
            <a:off x="6581775" y="2795587"/>
            <a:ext cx="497062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Distribución Horaria del Curso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6581775" y="3205162"/>
            <a:ext cx="47340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Carga semanal:</a:t>
            </a:r>
            <a:r>
              <a:rPr b="0" i="0" lang="en-US" sz="17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i="0" lang="en-US" sz="17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3 Horas Lectivas.</a:t>
            </a:r>
            <a:endParaRPr sz="1800"/>
          </a:p>
        </p:txBody>
      </p:sp>
      <p:sp>
        <p:nvSpPr>
          <p:cNvPr id="125" name="Google Shape;125;p16"/>
          <p:cNvSpPr txBox="1"/>
          <p:nvPr/>
        </p:nvSpPr>
        <p:spPr>
          <a:xfrm>
            <a:off x="6581775" y="3576637"/>
            <a:ext cx="47340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Horas totales:</a:t>
            </a:r>
            <a:r>
              <a:rPr b="0" i="0" lang="en-US" sz="17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7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63</a:t>
            </a:r>
            <a:r>
              <a:rPr b="0" i="0" lang="en-US" sz="17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horas de currículo.</a:t>
            </a:r>
            <a:endParaRPr sz="1800"/>
          </a:p>
        </p:txBody>
      </p:sp>
      <p:sp>
        <p:nvSpPr>
          <p:cNvPr id="126" name="Google Shape;126;p16"/>
          <p:cNvSpPr txBox="1"/>
          <p:nvPr/>
        </p:nvSpPr>
        <p:spPr>
          <a:xfrm>
            <a:off x="6581775" y="3948100"/>
            <a:ext cx="4818300" cy="1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Horas presenciales en Centro:</a:t>
            </a:r>
            <a:r>
              <a:rPr b="0" i="0" lang="en-US" sz="17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concentradas en el 1º y 2º Trimestre antes de la alternancia dual general.</a:t>
            </a:r>
            <a:endParaRPr sz="1800"/>
          </a:p>
        </p:txBody>
      </p:sp>
      <p:sp>
        <p:nvSpPr>
          <p:cNvPr id="127" name="Google Shape;127;p16"/>
          <p:cNvSpPr txBox="1"/>
          <p:nvPr/>
        </p:nvSpPr>
        <p:spPr>
          <a:xfrm>
            <a:off x="581025" y="1019175"/>
            <a:ext cx="11581447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Marco de Referencia y </a:t>
            </a:r>
            <a:r>
              <a:rPr b="0" i="0" lang="en-US" sz="2850" u="none" cap="none" strike="noStrike">
                <a:solidFill>
                  <a:srgbClr val="05966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Carga Horaria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581025" y="6296025"/>
            <a:ext cx="3590100" cy="184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Módulo Optativo • Curso Académico 2026/2027</a:t>
            </a:r>
            <a:endParaRPr sz="1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3" name="Google Shape;13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55126" y="6257925"/>
            <a:ext cx="355848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6105525"/>
            <a:ext cx="1102995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7"/>
          <p:cNvSpPr txBox="1"/>
          <p:nvPr/>
        </p:nvSpPr>
        <p:spPr>
          <a:xfrm>
            <a:off x="1266825" y="600075"/>
            <a:ext cx="117901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Currículo Técnico</a:t>
            </a:r>
            <a:endParaRPr/>
          </a:p>
        </p:txBody>
      </p:sp>
      <p:graphicFrame>
        <p:nvGraphicFramePr>
          <p:cNvPr id="136" name="Google Shape;136;p17"/>
          <p:cNvGraphicFramePr/>
          <p:nvPr/>
        </p:nvGraphicFramePr>
        <p:xfrm>
          <a:off x="581025" y="23717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{F1723F11-812D-4EFC-920F-2803E3DCA564}</a:tableStyleId>
              </a:tblPr>
              <a:tblGrid>
                <a:gridCol w="1102975"/>
                <a:gridCol w="8272450"/>
                <a:gridCol w="1654525"/>
              </a:tblGrid>
              <a:tr h="504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E3A8A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RA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E3A8A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Resultado de Aprendizaje (Normativa Oficial)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E3A8A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Peso en Séneca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RA1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Análisis de problemas, pensamiento computacional y algoritmos lógicos básicos.</a:t>
                      </a:r>
                      <a:endParaRPr b="1" sz="17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596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15%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RA2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Programación estructurada, funciones, modularización y ficheros lógicos en Python.</a:t>
                      </a:r>
                      <a:endParaRPr b="1" sz="17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596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25%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RA3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Diseño y programación de objetos (POO), encapsulamiento, herencia y excepciones.</a:t>
                      </a:r>
                      <a:endParaRPr b="1" sz="17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596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25%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RA4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Estructuras de datos lineales y no lineales, arrays y análisis de eficiencia (Big-O).</a:t>
                      </a:r>
                      <a:endParaRPr b="1" sz="17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596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25%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RA5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Entornos integrados de depuración, pruebas unitarias y Git colaborativo.</a:t>
                      </a:r>
                      <a:endParaRPr b="1" sz="17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596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10%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7" name="Google Shape;137;p17"/>
          <p:cNvSpPr/>
          <p:nvPr/>
        </p:nvSpPr>
        <p:spPr>
          <a:xfrm>
            <a:off x="581025" y="2862262"/>
            <a:ext cx="11029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7"/>
          <p:cNvSpPr/>
          <p:nvPr/>
        </p:nvSpPr>
        <p:spPr>
          <a:xfrm>
            <a:off x="1683990" y="2862262"/>
            <a:ext cx="82724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7"/>
          <p:cNvSpPr/>
          <p:nvPr/>
        </p:nvSpPr>
        <p:spPr>
          <a:xfrm>
            <a:off x="9956452" y="2862262"/>
            <a:ext cx="165452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/>
          <p:nvPr/>
        </p:nvSpPr>
        <p:spPr>
          <a:xfrm>
            <a:off x="581025" y="3367087"/>
            <a:ext cx="11029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1683990" y="3367087"/>
            <a:ext cx="82724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9956452" y="3367087"/>
            <a:ext cx="165452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581025" y="3871912"/>
            <a:ext cx="11029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1683990" y="3871912"/>
            <a:ext cx="82724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9956452" y="3871912"/>
            <a:ext cx="165452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/>
          <p:nvPr/>
        </p:nvSpPr>
        <p:spPr>
          <a:xfrm>
            <a:off x="581025" y="4376737"/>
            <a:ext cx="11029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1683990" y="4376737"/>
            <a:ext cx="82724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9956452" y="4376737"/>
            <a:ext cx="165452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581025" y="4881562"/>
            <a:ext cx="11029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1683990" y="4881562"/>
            <a:ext cx="82724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9956452" y="4881562"/>
            <a:ext cx="165452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581025" y="5386387"/>
            <a:ext cx="11029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1683990" y="5386387"/>
            <a:ext cx="82724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9956452" y="5386387"/>
            <a:ext cx="165452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 txBox="1"/>
          <p:nvPr/>
        </p:nvSpPr>
        <p:spPr>
          <a:xfrm>
            <a:off x="581025" y="1019175"/>
            <a:ext cx="11581447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Resultados de Aprendizaje y </a:t>
            </a:r>
            <a:r>
              <a:rPr b="0" i="0" lang="en-US" sz="2850" u="none" cap="none" strike="noStrike">
                <a:solidFill>
                  <a:srgbClr val="05966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Ponderaciones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581025" y="6296025"/>
            <a:ext cx="3590100" cy="184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Módulo Optativo • Curso Académico 2026/2027</a:t>
            </a:r>
            <a:endParaRPr sz="1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1" name="Google Shape;16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55126" y="6257925"/>
            <a:ext cx="355848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6105525"/>
            <a:ext cx="1102995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 txBox="1"/>
          <p:nvPr/>
        </p:nvSpPr>
        <p:spPr>
          <a:xfrm>
            <a:off x="1266825" y="600075"/>
            <a:ext cx="1461343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Distribución Temporal</a:t>
            </a:r>
            <a:endParaRPr/>
          </a:p>
        </p:txBody>
      </p:sp>
      <p:graphicFrame>
        <p:nvGraphicFramePr>
          <p:cNvPr id="164" name="Google Shape;164;p18"/>
          <p:cNvGraphicFramePr/>
          <p:nvPr/>
        </p:nvGraphicFramePr>
        <p:xfrm>
          <a:off x="581025" y="22574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{F1723F11-812D-4EFC-920F-2803E3DCA564}</a:tableStyleId>
              </a:tblPr>
              <a:tblGrid>
                <a:gridCol w="1102975"/>
                <a:gridCol w="6621925"/>
                <a:gridCol w="890950"/>
                <a:gridCol w="2414100"/>
              </a:tblGrid>
              <a:tr h="54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E3A8A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U.T.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E3A8A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Unidad de Trabajo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E3A8A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Horas 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E3A8A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Período Estimado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UT1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Lógica de programación, algoritmia y pensamiento computacional (RA1).</a:t>
                      </a:r>
                      <a:endParaRPr b="1" sz="17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 horas</a:t>
                      </a:r>
                      <a:endParaRPr b="1" sz="17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15 Sep - 10 Oct 2026</a:t>
                      </a:r>
                      <a:endParaRPr b="1" sz="17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UT2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Programación estructurada, modularidad y ficheros en Python (RA2).</a:t>
                      </a:r>
                      <a:endParaRPr b="1" sz="17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20 horas</a:t>
                      </a:r>
                      <a:endParaRPr b="1" sz="17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11 Oct - </a:t>
                      </a:r>
                      <a:r>
                        <a:rPr b="1" lang="en-US" sz="150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</a:t>
                      </a: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 Nov 2026</a:t>
                      </a:r>
                      <a:endParaRPr b="1" sz="17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UT3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Arrays, colecciones de datos lineales, diccionarios y Big-O (RA4).</a:t>
                      </a:r>
                      <a:endParaRPr b="1" sz="17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20 horas</a:t>
                      </a:r>
                      <a:endParaRPr b="1" sz="17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23 Nov</a:t>
                      </a: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- 22 Dic</a:t>
                      </a:r>
                      <a:r>
                        <a:rPr b="1" lang="en-US" sz="150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2026</a:t>
                      </a:r>
                      <a:endParaRPr b="1" sz="1500">
                        <a:solidFill>
                          <a:srgbClr val="334155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solidFill>
                          <a:srgbClr val="334155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UT4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Paradigma de programación orientada a objetos (POO) y excepciones (RA3).</a:t>
                      </a:r>
                      <a:endParaRPr b="1" sz="17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16 horas</a:t>
                      </a:r>
                      <a:endParaRPr b="1" sz="17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7</a:t>
                      </a: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Ene - </a:t>
                      </a:r>
                      <a:r>
                        <a:rPr b="1" lang="en-US" sz="150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28</a:t>
                      </a: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</a:t>
                      </a:r>
                      <a:r>
                        <a:rPr b="1" lang="en-US" sz="150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Ene</a:t>
                      </a: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2027</a:t>
                      </a:r>
                      <a:endParaRPr b="1" sz="17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UT5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Entornos de desarrollo, control de versiones (Git) y testing (RA5).</a:t>
                      </a:r>
                      <a:endParaRPr b="1" sz="17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 horas</a:t>
                      </a:r>
                      <a:endParaRPr b="1" sz="17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28</a:t>
                      </a: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</a:t>
                      </a:r>
                      <a:r>
                        <a:rPr b="1" lang="en-US" sz="150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Ene</a:t>
                      </a: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- </a:t>
                      </a:r>
                      <a:r>
                        <a:rPr b="1" lang="en-US" sz="150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14</a:t>
                      </a: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</a:t>
                      </a:r>
                      <a:r>
                        <a:rPr b="1" lang="en-US" sz="150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Feb</a:t>
                      </a: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2027</a:t>
                      </a:r>
                      <a:endParaRPr b="1" sz="17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5" name="Google Shape;165;p18"/>
          <p:cNvSpPr/>
          <p:nvPr/>
        </p:nvSpPr>
        <p:spPr>
          <a:xfrm>
            <a:off x="581025" y="2747962"/>
            <a:ext cx="11029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1683990" y="2747962"/>
            <a:ext cx="55149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7198965" y="2747962"/>
            <a:ext cx="16543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8853338" y="2747962"/>
            <a:ext cx="27576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581025" y="3252787"/>
            <a:ext cx="11029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1683990" y="3252787"/>
            <a:ext cx="55149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7198965" y="3252787"/>
            <a:ext cx="16543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8853338" y="3252787"/>
            <a:ext cx="27576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581025" y="3757612"/>
            <a:ext cx="11029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1683990" y="3757612"/>
            <a:ext cx="55149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/>
          <p:nvPr/>
        </p:nvSpPr>
        <p:spPr>
          <a:xfrm>
            <a:off x="7198965" y="3757612"/>
            <a:ext cx="16543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/>
          <p:nvPr/>
        </p:nvSpPr>
        <p:spPr>
          <a:xfrm>
            <a:off x="8853338" y="3757612"/>
            <a:ext cx="27576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581025" y="4262437"/>
            <a:ext cx="11029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/>
          <p:nvPr/>
        </p:nvSpPr>
        <p:spPr>
          <a:xfrm>
            <a:off x="1683990" y="4262437"/>
            <a:ext cx="55149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/>
          <p:nvPr/>
        </p:nvSpPr>
        <p:spPr>
          <a:xfrm>
            <a:off x="7198965" y="4262437"/>
            <a:ext cx="16543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/>
          <p:nvPr/>
        </p:nvSpPr>
        <p:spPr>
          <a:xfrm>
            <a:off x="8853338" y="4262437"/>
            <a:ext cx="27576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/>
          <p:nvPr/>
        </p:nvSpPr>
        <p:spPr>
          <a:xfrm>
            <a:off x="581025" y="4995862"/>
            <a:ext cx="11029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8"/>
          <p:cNvSpPr/>
          <p:nvPr/>
        </p:nvSpPr>
        <p:spPr>
          <a:xfrm>
            <a:off x="1683990" y="4995862"/>
            <a:ext cx="55149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8"/>
          <p:cNvSpPr/>
          <p:nvPr/>
        </p:nvSpPr>
        <p:spPr>
          <a:xfrm>
            <a:off x="7198965" y="4995862"/>
            <a:ext cx="16543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8"/>
          <p:cNvSpPr/>
          <p:nvPr/>
        </p:nvSpPr>
        <p:spPr>
          <a:xfrm>
            <a:off x="8853338" y="4995862"/>
            <a:ext cx="27576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8"/>
          <p:cNvSpPr/>
          <p:nvPr/>
        </p:nvSpPr>
        <p:spPr>
          <a:xfrm>
            <a:off x="581025" y="5500687"/>
            <a:ext cx="11029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8"/>
          <p:cNvSpPr/>
          <p:nvPr/>
        </p:nvSpPr>
        <p:spPr>
          <a:xfrm>
            <a:off x="1683990" y="5500687"/>
            <a:ext cx="55149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8"/>
          <p:cNvSpPr/>
          <p:nvPr/>
        </p:nvSpPr>
        <p:spPr>
          <a:xfrm>
            <a:off x="7198965" y="5500687"/>
            <a:ext cx="16543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8"/>
          <p:cNvSpPr/>
          <p:nvPr/>
        </p:nvSpPr>
        <p:spPr>
          <a:xfrm>
            <a:off x="8853338" y="5500687"/>
            <a:ext cx="27576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8"/>
          <p:cNvSpPr txBox="1"/>
          <p:nvPr/>
        </p:nvSpPr>
        <p:spPr>
          <a:xfrm>
            <a:off x="581025" y="1019175"/>
            <a:ext cx="11581447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Secuenciación de Unidades y </a:t>
            </a:r>
            <a:r>
              <a:rPr b="0" i="0" lang="en-US" sz="2850" u="none" cap="none" strike="noStrike">
                <a:solidFill>
                  <a:srgbClr val="05966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Calendario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581025" y="6296025"/>
            <a:ext cx="3590100" cy="184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Módulo Optativo • Curso Académico 2026/2027</a:t>
            </a:r>
            <a:endParaRPr sz="1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5" name="Google Shape;19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55126" y="6257925"/>
            <a:ext cx="355848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6105525"/>
            <a:ext cx="1102995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9"/>
          <p:cNvSpPr txBox="1"/>
          <p:nvPr/>
        </p:nvSpPr>
        <p:spPr>
          <a:xfrm>
            <a:off x="1266825" y="600075"/>
            <a:ext cx="203611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Formación en Alternancia Dual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914400" y="2076450"/>
            <a:ext cx="5792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Criterio de Evaluación Dualizado:</a:t>
            </a: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Se ha seleccionado un único CE para la alternancia laboral (RA5 - CE a): "Uso de herramientas de depuración integradas (debuggers)".</a:t>
            </a:r>
            <a:endParaRPr b="1" sz="1700"/>
          </a:p>
        </p:txBody>
      </p:sp>
      <p:sp>
        <p:nvSpPr>
          <p:cNvPr id="199" name="Google Shape;199;p19"/>
          <p:cNvSpPr txBox="1"/>
          <p:nvPr/>
        </p:nvSpPr>
        <p:spPr>
          <a:xfrm>
            <a:off x="914400" y="3264700"/>
            <a:ext cx="5387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Actividad Práctica Real:</a:t>
            </a: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Depuración y análisis de scripts del entorno laboral (Python, Bash o PowerShell) utilizados para backups, logs o automatizaciones.</a:t>
            </a:r>
            <a:endParaRPr b="1" sz="1700"/>
          </a:p>
        </p:txBody>
      </p:sp>
      <p:sp>
        <p:nvSpPr>
          <p:cNvPr id="200" name="Google Shape;200;p19"/>
          <p:cNvSpPr txBox="1"/>
          <p:nvPr/>
        </p:nvSpPr>
        <p:spPr>
          <a:xfrm>
            <a:off x="914400" y="4452938"/>
            <a:ext cx="4991100" cy="13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Alineamiento Profesional:</a:t>
            </a: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Inspeccionar variables y trazas de ejecución en el IDE de la empresa (p. ej. VS Code) para resolver bugs e integrar control de excepciones robusto.</a:t>
            </a:r>
            <a:endParaRPr b="1" sz="17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image.png" id="201" name="Google Shape;20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1950" y="217961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1950" y="3338525"/>
            <a:ext cx="2190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8150" y="4564862"/>
            <a:ext cx="1905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9"/>
          <p:cNvSpPr txBox="1"/>
          <p:nvPr/>
        </p:nvSpPr>
        <p:spPr>
          <a:xfrm>
            <a:off x="581025" y="1019175"/>
            <a:ext cx="11581447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Actuación y Criterio Técnico </a:t>
            </a:r>
            <a:r>
              <a:rPr b="0" i="0" lang="en-US" sz="2850" u="none" cap="none" strike="noStrike">
                <a:solidFill>
                  <a:srgbClr val="05966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en la Empresa</a:t>
            </a:r>
            <a:endParaRPr/>
          </a:p>
        </p:txBody>
      </p:sp>
      <p:pic>
        <p:nvPicPr>
          <p:cNvPr descr="empresa con empleados trabajando en una sala con sus puestos de trabajo con ordenadores" id="205" name="Google Shape;205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962700" y="2447000"/>
            <a:ext cx="4497000" cy="304777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9"/>
          <p:cNvSpPr txBox="1"/>
          <p:nvPr/>
        </p:nvSpPr>
        <p:spPr>
          <a:xfrm>
            <a:off x="581025" y="6296025"/>
            <a:ext cx="3590100" cy="184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Módulo Optativo • Curso Académico 2026/2027</a:t>
            </a:r>
            <a:endParaRPr sz="17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1" name="Google Shape;21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55126" y="6257925"/>
            <a:ext cx="355848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505075"/>
            <a:ext cx="3517850" cy="3283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7000" y="2505075"/>
            <a:ext cx="3517850" cy="3283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2975" y="2505075"/>
            <a:ext cx="3517850" cy="3283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6105525"/>
            <a:ext cx="1102995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0"/>
          <p:cNvSpPr txBox="1"/>
          <p:nvPr/>
        </p:nvSpPr>
        <p:spPr>
          <a:xfrm>
            <a:off x="1266825" y="600075"/>
            <a:ext cx="1434554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Evaluación Curricular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828675" y="3295650"/>
            <a:ext cx="3173677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Pruebas de Código</a:t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828675" y="3638550"/>
            <a:ext cx="30225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60%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828675" y="4133850"/>
            <a:ext cx="3022500" cy="13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Controles e hitos de programación individuales realizados directamente en los equipos del taller.</a:t>
            </a:r>
            <a:endParaRPr b="1" sz="1600"/>
          </a:p>
        </p:txBody>
      </p:sp>
      <p:sp>
        <p:nvSpPr>
          <p:cNvPr id="220" name="Google Shape;220;p20"/>
          <p:cNvSpPr txBox="1"/>
          <p:nvPr/>
        </p:nvSpPr>
        <p:spPr>
          <a:xfrm>
            <a:off x="4584650" y="3295650"/>
            <a:ext cx="3173677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Tareas en Moodle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4584650" y="3638550"/>
            <a:ext cx="30225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59669"/>
                </a:solidFill>
                <a:latin typeface="Lato"/>
                <a:ea typeface="Lato"/>
                <a:cs typeface="Lato"/>
                <a:sym typeface="Lato"/>
              </a:rPr>
              <a:t>30%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4584650" y="4133850"/>
            <a:ext cx="3022500" cy="13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Laboratorios sistemáticos obligatorios entregados semanalmente con código estructurado y depurado.</a:t>
            </a:r>
            <a:endParaRPr b="1" sz="1600"/>
          </a:p>
        </p:txBody>
      </p:sp>
      <p:sp>
        <p:nvSpPr>
          <p:cNvPr id="223" name="Google Shape;223;p20"/>
          <p:cNvSpPr txBox="1"/>
          <p:nvPr/>
        </p:nvSpPr>
        <p:spPr>
          <a:xfrm>
            <a:off x="8340625" y="3295650"/>
            <a:ext cx="3173677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Foros y Actitud</a:t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8340625" y="3638550"/>
            <a:ext cx="30225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284C7"/>
                </a:solidFill>
                <a:latin typeface="Lato"/>
                <a:ea typeface="Lato"/>
                <a:cs typeface="Lato"/>
                <a:sym typeface="Lato"/>
              </a:rPr>
              <a:t>10%</a:t>
            </a:r>
            <a:endParaRPr/>
          </a:p>
        </p:txBody>
      </p:sp>
      <p:sp>
        <p:nvSpPr>
          <p:cNvPr id="225" name="Google Shape;225;p20"/>
          <p:cNvSpPr txBox="1"/>
          <p:nvPr/>
        </p:nvSpPr>
        <p:spPr>
          <a:xfrm>
            <a:off x="8340625" y="4133850"/>
            <a:ext cx="3022500" cy="13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Participación activa resolviendo dudas de compañeros de forma colaborativa en los hilos de Moodle Centros.</a:t>
            </a:r>
            <a:endParaRPr b="1" sz="1600"/>
          </a:p>
        </p:txBody>
      </p:sp>
      <p:pic>
        <p:nvPicPr>
          <p:cNvPr descr="image.png" id="226" name="Google Shape;226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28675" y="2771775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584650" y="2771775"/>
            <a:ext cx="3905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340625" y="2771775"/>
            <a:ext cx="4286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0"/>
          <p:cNvSpPr txBox="1"/>
          <p:nvPr/>
        </p:nvSpPr>
        <p:spPr>
          <a:xfrm>
            <a:off x="581025" y="1019175"/>
            <a:ext cx="115815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Estrategia de Calificación RA e </a:t>
            </a:r>
            <a:r>
              <a:rPr b="0" i="0" lang="en-US" sz="2850" u="none" cap="none" strike="noStrike">
                <a:solidFill>
                  <a:srgbClr val="05966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Instrumentos</a:t>
            </a:r>
            <a:endParaRPr/>
          </a:p>
        </p:txBody>
      </p:sp>
      <p:sp>
        <p:nvSpPr>
          <p:cNvPr id="230" name="Google Shape;230;p20"/>
          <p:cNvSpPr txBox="1"/>
          <p:nvPr/>
        </p:nvSpPr>
        <p:spPr>
          <a:xfrm>
            <a:off x="581025" y="6296025"/>
            <a:ext cx="3590100" cy="184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Módulo Optativo • Curso Académico 2026/2027</a:t>
            </a:r>
            <a:endParaRPr sz="17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6" name="Google Shape;23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2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1"/>
          <p:cNvPicPr preferRelativeResize="0"/>
          <p:nvPr/>
        </p:nvPicPr>
        <p:blipFill rotWithShape="1">
          <a:blip r:embed="rId4">
            <a:alphaModFix/>
          </a:blip>
          <a:srcRect b="30" l="0" r="0" t="40"/>
          <a:stretch/>
        </p:blipFill>
        <p:spPr>
          <a:xfrm>
            <a:off x="146399" y="133540"/>
            <a:ext cx="665700" cy="8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1"/>
          <p:cNvSpPr txBox="1"/>
          <p:nvPr/>
        </p:nvSpPr>
        <p:spPr>
          <a:xfrm>
            <a:off x="1266825" y="600075"/>
            <a:ext cx="2857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Evaluación Curricular</a:t>
            </a:r>
            <a:endParaRPr b="0" sz="1050">
              <a:solidFill>
                <a:srgbClr val="1E3A8A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39" name="Google Shape;239;p21"/>
          <p:cNvSpPr txBox="1"/>
          <p:nvPr/>
        </p:nvSpPr>
        <p:spPr>
          <a:xfrm>
            <a:off x="581025" y="1019175"/>
            <a:ext cx="110301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5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Cálculo de Calificaciones y </a:t>
            </a:r>
            <a:r>
              <a:rPr b="0" lang="en-US" sz="2850">
                <a:solidFill>
                  <a:srgbClr val="05966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Fórmulas Finales</a:t>
            </a:r>
            <a:endParaRPr b="0" sz="2850">
              <a:solidFill>
                <a:srgbClr val="0F172A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240" name="Google Shape;240;p21"/>
          <p:cNvGrpSpPr/>
          <p:nvPr/>
        </p:nvGrpSpPr>
        <p:grpSpPr>
          <a:xfrm>
            <a:off x="581025" y="1714500"/>
            <a:ext cx="5334000" cy="1905000"/>
            <a:chOff x="0" y="0"/>
            <a:chExt cx="5334000" cy="1905000"/>
          </a:xfrm>
        </p:grpSpPr>
        <p:sp>
          <p:nvSpPr>
            <p:cNvPr id="241" name="Google Shape;241;p21"/>
            <p:cNvSpPr/>
            <p:nvPr/>
          </p:nvSpPr>
          <p:spPr>
            <a:xfrm>
              <a:off x="0" y="0"/>
              <a:ext cx="5334000" cy="19050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9525">
              <a:solidFill>
                <a:srgbClr val="F1F5F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21"/>
            <p:cNvSpPr txBox="1"/>
            <p:nvPr/>
          </p:nvSpPr>
          <p:spPr>
            <a:xfrm>
              <a:off x="238125" y="190500"/>
              <a:ext cx="4857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50">
                  <a:solidFill>
                    <a:srgbClr val="1E3A8A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Calificación Trimestral (1ºT / 2ºT)</a:t>
              </a:r>
              <a:endParaRPr b="0" sz="1650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243" name="Google Shape;243;p21"/>
            <p:cNvSpPr txBox="1"/>
            <p:nvPr/>
          </p:nvSpPr>
          <p:spPr>
            <a:xfrm>
              <a:off x="238125" y="571500"/>
              <a:ext cx="4857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Media ponderada de los Resultados de Aprendizaje (RA) impartidos en el periodo según los instrumentos.</a:t>
              </a:r>
              <a:endParaRPr b="1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44" name="Google Shape;244;p21"/>
            <p:cNvSpPr/>
            <p:nvPr/>
          </p:nvSpPr>
          <p:spPr>
            <a:xfrm>
              <a:off x="238125" y="1190625"/>
              <a:ext cx="4857900" cy="476400"/>
            </a:xfrm>
            <a:prstGeom prst="roundRect">
              <a:avLst>
                <a:gd fmla="val 12000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21"/>
            <p:cNvSpPr txBox="1"/>
            <p:nvPr/>
          </p:nvSpPr>
          <p:spPr>
            <a:xfrm>
              <a:off x="238125" y="1190625"/>
              <a:ext cx="48579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8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Nota_T = Σ (Nota_RA_i × Peso_RA_i)</a:t>
              </a:r>
              <a:endParaRPr b="1" sz="148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246" name="Google Shape;246;p21"/>
          <p:cNvGrpSpPr/>
          <p:nvPr/>
        </p:nvGrpSpPr>
        <p:grpSpPr>
          <a:xfrm>
            <a:off x="6286500" y="1714500"/>
            <a:ext cx="5334000" cy="1905000"/>
            <a:chOff x="0" y="0"/>
            <a:chExt cx="5334000" cy="1905000"/>
          </a:xfrm>
        </p:grpSpPr>
        <p:sp>
          <p:nvSpPr>
            <p:cNvPr id="247" name="Google Shape;247;p21"/>
            <p:cNvSpPr/>
            <p:nvPr/>
          </p:nvSpPr>
          <p:spPr>
            <a:xfrm>
              <a:off x="0" y="0"/>
              <a:ext cx="5334000" cy="19050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9525">
              <a:solidFill>
                <a:srgbClr val="F1F5F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21"/>
            <p:cNvSpPr txBox="1"/>
            <p:nvPr/>
          </p:nvSpPr>
          <p:spPr>
            <a:xfrm>
              <a:off x="238125" y="190500"/>
              <a:ext cx="4857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50">
                  <a:solidFill>
                    <a:srgbClr val="1E3A8A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Evaluación Final </a:t>
              </a:r>
              <a:r>
                <a:rPr lang="en-US" sz="1650">
                  <a:solidFill>
                    <a:srgbClr val="1E3A8A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Primera</a:t>
              </a:r>
              <a:endParaRPr b="0" sz="1650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249" name="Google Shape;249;p21"/>
            <p:cNvSpPr txBox="1"/>
            <p:nvPr/>
          </p:nvSpPr>
          <p:spPr>
            <a:xfrm>
              <a:off x="238125" y="571500"/>
              <a:ext cx="4857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Integración de la formación en centro con el 20% de la valoración Dual en los RAs seleccionados (RA5).</a:t>
              </a:r>
              <a:endParaRPr b="1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50" name="Google Shape;250;p21"/>
            <p:cNvSpPr/>
            <p:nvPr/>
          </p:nvSpPr>
          <p:spPr>
            <a:xfrm>
              <a:off x="238125" y="1190625"/>
              <a:ext cx="4857900" cy="476400"/>
            </a:xfrm>
            <a:prstGeom prst="roundRect">
              <a:avLst>
                <a:gd fmla="val 12000" name="adj"/>
              </a:avLst>
            </a:prstGeom>
            <a:solidFill>
              <a:srgbClr val="ECFDF5"/>
            </a:solidFill>
            <a:ln cap="flat" cmpd="sng" w="9525">
              <a:solidFill>
                <a:srgbClr val="10B9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21"/>
            <p:cNvSpPr txBox="1"/>
            <p:nvPr/>
          </p:nvSpPr>
          <p:spPr>
            <a:xfrm>
              <a:off x="238125" y="1190625"/>
              <a:ext cx="48579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8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Final_Ord = Σ (RA_Centro × 0.8 + Dual × 0.2)</a:t>
              </a:r>
              <a:endParaRPr b="1" sz="148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252" name="Google Shape;252;p21"/>
          <p:cNvGrpSpPr/>
          <p:nvPr/>
        </p:nvGrpSpPr>
        <p:grpSpPr>
          <a:xfrm>
            <a:off x="581025" y="3810000"/>
            <a:ext cx="11039400" cy="2095500"/>
            <a:chOff x="0" y="0"/>
            <a:chExt cx="11039400" cy="2095500"/>
          </a:xfrm>
        </p:grpSpPr>
        <p:sp>
          <p:nvSpPr>
            <p:cNvPr id="253" name="Google Shape;253;p21"/>
            <p:cNvSpPr/>
            <p:nvPr/>
          </p:nvSpPr>
          <p:spPr>
            <a:xfrm>
              <a:off x="0" y="0"/>
              <a:ext cx="11039400" cy="2095500"/>
            </a:xfrm>
            <a:prstGeom prst="roundRect">
              <a:avLst>
                <a:gd fmla="val 5454" name="adj"/>
              </a:avLst>
            </a:prstGeom>
            <a:solidFill>
              <a:srgbClr val="FFFFFF"/>
            </a:solidFill>
            <a:ln cap="flat" cmpd="sng" w="9525">
              <a:solidFill>
                <a:srgbClr val="F1F5F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21"/>
            <p:cNvSpPr txBox="1"/>
            <p:nvPr/>
          </p:nvSpPr>
          <p:spPr>
            <a:xfrm>
              <a:off x="238125" y="190500"/>
              <a:ext cx="10477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50">
                  <a:solidFill>
                    <a:srgbClr val="1E3A8A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Evaluación Final Segunda</a:t>
              </a:r>
              <a:endParaRPr b="0" sz="1650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255" name="Google Shape;255;p21"/>
            <p:cNvSpPr txBox="1"/>
            <p:nvPr/>
          </p:nvSpPr>
          <p:spPr>
            <a:xfrm>
              <a:off x="238125" y="571500"/>
              <a:ext cx="51435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Para el alumnado con RAs suspensos (&lt; 5) o pérdida de evaluación continua.</a:t>
              </a:r>
              <a:endParaRPr b="1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1. Prueba global de RAs suspensos.</a:t>
              </a:r>
              <a:endParaRPr b="1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2. Entrega y defensa de prácticas Moodle.</a:t>
              </a:r>
              <a:endParaRPr b="1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56" name="Google Shape;256;p21"/>
            <p:cNvSpPr/>
            <p:nvPr/>
          </p:nvSpPr>
          <p:spPr>
            <a:xfrm>
              <a:off x="5619750" y="666750"/>
              <a:ext cx="5143500" cy="1143000"/>
            </a:xfrm>
            <a:prstGeom prst="roundRect">
              <a:avLst>
                <a:gd fmla="val 5000" name="adj"/>
              </a:avLst>
            </a:prstGeom>
            <a:solidFill>
              <a:srgbClr val="FFF7ED"/>
            </a:solidFill>
            <a:ln cap="flat" cmpd="sng" w="9525">
              <a:solidFill>
                <a:srgbClr val="F973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21"/>
            <p:cNvSpPr txBox="1"/>
            <p:nvPr/>
          </p:nvSpPr>
          <p:spPr>
            <a:xfrm>
              <a:off x="5619750" y="666750"/>
              <a:ext cx="5143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8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Nota_RA_Final = Max(Prueba_Sufic, Nota_Orig)</a:t>
              </a:r>
              <a:endParaRPr b="1" sz="148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48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Final_Ext = Σ (Nota_RA_Final_i × Peso_RA_i)</a:t>
              </a:r>
              <a:endParaRPr b="1" sz="148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pic>
        <p:nvPicPr>
          <p:cNvPr id="258" name="Google Shape;258;p21"/>
          <p:cNvPicPr preferRelativeResize="0"/>
          <p:nvPr/>
        </p:nvPicPr>
        <p:blipFill rotWithShape="1">
          <a:blip r:embed="rId5">
            <a:alphaModFix/>
          </a:blip>
          <a:srcRect b="0" l="90" r="80" t="0"/>
          <a:stretch/>
        </p:blipFill>
        <p:spPr>
          <a:xfrm>
            <a:off x="581025" y="6105525"/>
            <a:ext cx="11030100" cy="36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1"/>
          <p:cNvPicPr preferRelativeResize="0"/>
          <p:nvPr/>
        </p:nvPicPr>
        <p:blipFill rotWithShape="1">
          <a:blip r:embed="rId6">
            <a:alphaModFix/>
          </a:blip>
          <a:srcRect b="0" l="923" r="923" t="0"/>
          <a:stretch/>
        </p:blipFill>
        <p:spPr>
          <a:xfrm>
            <a:off x="11254740" y="6257925"/>
            <a:ext cx="355200" cy="20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1"/>
          <p:cNvSpPr txBox="1"/>
          <p:nvPr/>
        </p:nvSpPr>
        <p:spPr>
          <a:xfrm>
            <a:off x="581025" y="6296025"/>
            <a:ext cx="3590100" cy="184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Módulo Optativo • Curso Académico 2026/2027</a:t>
            </a:r>
            <a:endParaRPr sz="17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5" name="Google Shape;26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55126" y="6257925"/>
            <a:ext cx="355848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6" name="Google Shape;26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6105525"/>
            <a:ext cx="1102995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2"/>
          <p:cNvSpPr txBox="1"/>
          <p:nvPr/>
        </p:nvSpPr>
        <p:spPr>
          <a:xfrm>
            <a:off x="1266825" y="600075"/>
            <a:ext cx="128274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Normas del Módulo</a:t>
            </a:r>
            <a:endParaRPr/>
          </a:p>
        </p:txBody>
      </p:sp>
      <p:sp>
        <p:nvSpPr>
          <p:cNvPr id="268" name="Google Shape;268;p22"/>
          <p:cNvSpPr txBox="1"/>
          <p:nvPr/>
        </p:nvSpPr>
        <p:spPr>
          <a:xfrm>
            <a:off x="914400" y="2571750"/>
            <a:ext cx="106965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Nota Mínima por Bloque:</a:t>
            </a: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Se requiere obtener obligatoriamente una calificación </a:t>
            </a:r>
            <a:r>
              <a:rPr b="1" i="0" lang="en-US" sz="16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&gt;= 5.0</a:t>
            </a: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tanto en las pruebas de código como en las tareas prácticas de Moodle.</a:t>
            </a:r>
            <a:endParaRPr b="1" sz="1700"/>
          </a:p>
        </p:txBody>
      </p:sp>
      <p:sp>
        <p:nvSpPr>
          <p:cNvPr id="269" name="Google Shape;269;p22"/>
          <p:cNvSpPr txBox="1"/>
          <p:nvPr/>
        </p:nvSpPr>
        <p:spPr>
          <a:xfrm>
            <a:off x="914400" y="3228975"/>
            <a:ext cx="106965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Sin Recuperaciones Parciales:</a:t>
            </a: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Al ser evaluación continua de código incremental, el progreso se mide de forma global a través de entregas consecutivas en Moodle Centros.</a:t>
            </a:r>
            <a:endParaRPr b="1" sz="1700"/>
          </a:p>
        </p:txBody>
      </p:sp>
      <p:sp>
        <p:nvSpPr>
          <p:cNvPr id="270" name="Google Shape;270;p22"/>
          <p:cNvSpPr txBox="1"/>
          <p:nvPr/>
        </p:nvSpPr>
        <p:spPr>
          <a:xfrm>
            <a:off x="914400" y="3886200"/>
            <a:ext cx="106965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Pérdida de Evaluación Continua:</a:t>
            </a: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Superar el </a:t>
            </a:r>
            <a:r>
              <a:rPr b="1" lang="en-US" sz="165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20</a:t>
            </a:r>
            <a:r>
              <a:rPr b="1" i="0" lang="en-US" sz="16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% de faltas sin justificar</a:t>
            </a: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(1</a:t>
            </a:r>
            <a:r>
              <a:rPr b="1" lang="en-US" sz="16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3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horas lectivas) invalida el derecho a entregas y obliga a realizar una prueba global en la Convocatoria de Suficiencia.</a:t>
            </a:r>
            <a:endParaRPr b="1" sz="1700"/>
          </a:p>
        </p:txBody>
      </p:sp>
      <p:sp>
        <p:nvSpPr>
          <p:cNvPr id="271" name="Google Shape;271;p22"/>
          <p:cNvSpPr txBox="1"/>
          <p:nvPr/>
        </p:nvSpPr>
        <p:spPr>
          <a:xfrm>
            <a:off x="914400" y="4543425"/>
            <a:ext cx="106965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Suficiencia (Final Segunda):</a:t>
            </a: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En caso de suspenso, se irá a examen global en Junio defendiendo de manera oral ante el profesorado todas las prácticas pendientes.</a:t>
            </a:r>
            <a:endParaRPr b="1" sz="1700"/>
          </a:p>
        </p:txBody>
      </p:sp>
      <p:pic>
        <p:nvPicPr>
          <p:cNvPr descr="image.png" id="272" name="Google Shape;272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" y="260508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3" name="Google Shape;273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" y="326231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4" name="Google Shape;274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650" y="391953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5" name="Google Shape;275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8650" y="4576762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2"/>
          <p:cNvSpPr txBox="1"/>
          <p:nvPr/>
        </p:nvSpPr>
        <p:spPr>
          <a:xfrm>
            <a:off x="581025" y="1019175"/>
            <a:ext cx="11581447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Requisitos para Superar el </a:t>
            </a:r>
            <a:r>
              <a:rPr b="0" i="0" lang="en-US" sz="2850" u="none" cap="none" strike="noStrike">
                <a:solidFill>
                  <a:srgbClr val="05966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Módulo</a:t>
            </a:r>
            <a:endParaRPr/>
          </a:p>
        </p:txBody>
      </p:sp>
      <p:sp>
        <p:nvSpPr>
          <p:cNvPr id="277" name="Google Shape;277;p22"/>
          <p:cNvSpPr txBox="1"/>
          <p:nvPr/>
        </p:nvSpPr>
        <p:spPr>
          <a:xfrm>
            <a:off x="581025" y="6296025"/>
            <a:ext cx="3590100" cy="184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Módulo Optativo • Curso Académico 2026/2027</a:t>
            </a:r>
            <a:endParaRPr sz="17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2" name="Google Shape;28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55126" y="6257925"/>
            <a:ext cx="355848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3" name="Google Shape;28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156575"/>
            <a:ext cx="5324474" cy="3715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4" name="Google Shape;284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156575"/>
            <a:ext cx="5324474" cy="3715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5" name="Google Shape;285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6105525"/>
            <a:ext cx="1102995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3"/>
          <p:cNvSpPr txBox="1"/>
          <p:nvPr/>
        </p:nvSpPr>
        <p:spPr>
          <a:xfrm>
            <a:off x="1266825" y="600075"/>
            <a:ext cx="1481881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Estrategias Didácticas</a:t>
            </a:r>
            <a:endParaRPr/>
          </a:p>
        </p:txBody>
      </p:sp>
      <p:sp>
        <p:nvSpPr>
          <p:cNvPr id="287" name="Google Shape;287;p23"/>
          <p:cNvSpPr txBox="1"/>
          <p:nvPr/>
        </p:nvSpPr>
        <p:spPr>
          <a:xfrm>
            <a:off x="876300" y="2432437"/>
            <a:ext cx="4970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ABP: Herramienta CLI de Red</a:t>
            </a:r>
            <a:endParaRPr/>
          </a:p>
        </p:txBody>
      </p:sp>
      <p:sp>
        <p:nvSpPr>
          <p:cNvPr id="288" name="Google Shape;288;p23"/>
          <p:cNvSpPr txBox="1"/>
          <p:nvPr/>
        </p:nvSpPr>
        <p:spPr>
          <a:xfrm>
            <a:off x="876300" y="2945612"/>
            <a:ext cx="4734000" cy="17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Desarrollo secuencial de un proyecto de administración real: por ejemplo, una utilidad de consola en Python para auditar la red, interactuar con el sistema operativo y leer logs dinámicamente.</a:t>
            </a:r>
            <a:endParaRPr b="1" sz="1700"/>
          </a:p>
        </p:txBody>
      </p:sp>
      <p:sp>
        <p:nvSpPr>
          <p:cNvPr id="289" name="Google Shape;289;p23"/>
          <p:cNvSpPr txBox="1"/>
          <p:nvPr/>
        </p:nvSpPr>
        <p:spPr>
          <a:xfrm>
            <a:off x="876300" y="4723412"/>
            <a:ext cx="4734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Combina bases de datos SQL y principios sólidos de POO para modelar la infraestructura de sistemas.</a:t>
            </a:r>
            <a:endParaRPr b="1" sz="1700"/>
          </a:p>
        </p:txBody>
      </p:sp>
      <p:sp>
        <p:nvSpPr>
          <p:cNvPr id="290" name="Google Shape;290;p23"/>
          <p:cNvSpPr txBox="1"/>
          <p:nvPr/>
        </p:nvSpPr>
        <p:spPr>
          <a:xfrm>
            <a:off x="6581775" y="2437687"/>
            <a:ext cx="4970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Taller Práctico y Flipped</a:t>
            </a:r>
            <a:endParaRPr/>
          </a:p>
        </p:txBody>
      </p:sp>
      <p:sp>
        <p:nvSpPr>
          <p:cNvPr id="291" name="Google Shape;291;p23"/>
          <p:cNvSpPr txBox="1"/>
          <p:nvPr/>
        </p:nvSpPr>
        <p:spPr>
          <a:xfrm>
            <a:off x="6581775" y="2945612"/>
            <a:ext cx="4734000" cy="13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Sintaxis y conceptos básicos delegados a píldoras de </a:t>
            </a:r>
            <a:r>
              <a:rPr b="1" lang="en-US" sz="16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vídeo</a:t>
            </a: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en casa. El tiempo de clase se destina </a:t>
            </a:r>
            <a:r>
              <a:rPr b="1" lang="en-US" sz="16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especialmente</a:t>
            </a: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al laboratorio guiado, depuración y desarrollo activo.</a:t>
            </a:r>
            <a:endParaRPr b="1" sz="1700"/>
          </a:p>
        </p:txBody>
      </p:sp>
      <p:sp>
        <p:nvSpPr>
          <p:cNvPr id="292" name="Google Shape;292;p23"/>
          <p:cNvSpPr txBox="1"/>
          <p:nvPr/>
        </p:nvSpPr>
        <p:spPr>
          <a:xfrm>
            <a:off x="6629925" y="4635725"/>
            <a:ext cx="4874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Simulaciones de fallos:</a:t>
            </a: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Tareas con bugs introducidos intencionadamente para dominar el debugador (vuelcos de pila, KeyErrors, desbordamientos).</a:t>
            </a:r>
            <a:endParaRPr b="1" sz="1700"/>
          </a:p>
        </p:txBody>
      </p:sp>
      <p:sp>
        <p:nvSpPr>
          <p:cNvPr id="293" name="Google Shape;293;p23"/>
          <p:cNvSpPr txBox="1"/>
          <p:nvPr/>
        </p:nvSpPr>
        <p:spPr>
          <a:xfrm>
            <a:off x="581025" y="1019175"/>
            <a:ext cx="11581447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Metodología de Trabajo en el </a:t>
            </a:r>
            <a:r>
              <a:rPr b="0" i="0" lang="en-US" sz="2850" u="none" cap="none" strike="noStrike">
                <a:solidFill>
                  <a:srgbClr val="05966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Aula</a:t>
            </a:r>
            <a:endParaRPr/>
          </a:p>
        </p:txBody>
      </p:sp>
      <p:sp>
        <p:nvSpPr>
          <p:cNvPr id="294" name="Google Shape;294;p23"/>
          <p:cNvSpPr txBox="1"/>
          <p:nvPr/>
        </p:nvSpPr>
        <p:spPr>
          <a:xfrm>
            <a:off x="581025" y="6296025"/>
            <a:ext cx="3590100" cy="184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Módulo Optativo • Curso Académico 2026/2027</a:t>
            </a:r>
            <a:endParaRPr sz="17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9" name="Google Shape;29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55126" y="6257925"/>
            <a:ext cx="355848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0" name="Google Shape;30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6105525"/>
            <a:ext cx="1102995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4"/>
          <p:cNvSpPr txBox="1"/>
          <p:nvPr/>
        </p:nvSpPr>
        <p:spPr>
          <a:xfrm>
            <a:off x="1266825" y="600075"/>
            <a:ext cx="181838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Infraestructura Tecnológica</a:t>
            </a:r>
            <a:endParaRPr/>
          </a:p>
        </p:txBody>
      </p:sp>
      <p:sp>
        <p:nvSpPr>
          <p:cNvPr id="302" name="Google Shape;302;p24"/>
          <p:cNvSpPr txBox="1"/>
          <p:nvPr/>
        </p:nvSpPr>
        <p:spPr>
          <a:xfrm>
            <a:off x="914400" y="2011463"/>
            <a:ext cx="106965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Requisito de Hardware:</a:t>
            </a: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Equipos del </a:t>
            </a:r>
            <a:r>
              <a:rPr b="1" lang="en-US" sz="16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aula</a:t>
            </a: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y portátiles con soporte de virtualización, mínimo </a:t>
            </a:r>
            <a:r>
              <a:rPr b="1" i="0" lang="en-US" sz="16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16 GB de RAM</a:t>
            </a: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(crítico para ejecutar contenedores Docker y el IDE sin bloqueos) y disco </a:t>
            </a:r>
            <a:r>
              <a:rPr b="1" i="0" lang="en-US" sz="16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SSD</a:t>
            </a: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b="1" sz="1700"/>
          </a:p>
        </p:txBody>
      </p:sp>
      <p:sp>
        <p:nvSpPr>
          <p:cNvPr id="303" name="Google Shape;303;p24"/>
          <p:cNvSpPr txBox="1"/>
          <p:nvPr/>
        </p:nvSpPr>
        <p:spPr>
          <a:xfrm>
            <a:off x="914400" y="2828925"/>
            <a:ext cx="106965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Pila de Software Principal:</a:t>
            </a: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Intérprete oficial de Python 3.10+, Visual Studio Code / PyCharm como IDE unificado con extensiones de depuración, formateo y análisis estático (linters).</a:t>
            </a:r>
            <a:endParaRPr b="1" sz="1700"/>
          </a:p>
        </p:txBody>
      </p:sp>
      <p:sp>
        <p:nvSpPr>
          <p:cNvPr id="304" name="Google Shape;304;p24"/>
          <p:cNvSpPr txBox="1"/>
          <p:nvPr/>
        </p:nvSpPr>
        <p:spPr>
          <a:xfrm>
            <a:off x="914400" y="3686175"/>
            <a:ext cx="106965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Sistemas de Soporte de Código:</a:t>
            </a: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Utilización local y remota de </a:t>
            </a:r>
            <a:r>
              <a:rPr b="1" i="0" lang="en-US" sz="16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Git</a:t>
            </a: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para el control de versiones e interacción con el repositorio de entrega colaborativa GitHub.</a:t>
            </a:r>
            <a:endParaRPr b="1" sz="1700"/>
          </a:p>
        </p:txBody>
      </p:sp>
      <p:sp>
        <p:nvSpPr>
          <p:cNvPr id="305" name="Google Shape;305;p24"/>
          <p:cNvSpPr txBox="1"/>
          <p:nvPr/>
        </p:nvSpPr>
        <p:spPr>
          <a:xfrm>
            <a:off x="914400" y="4543425"/>
            <a:ext cx="106965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Entornos y Contenedores:</a:t>
            </a: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Entornos virtuales nativos (venv), gestores de paquetes (pip) y contenedores ligeros en Docker para simular servidores MySQL/PostgreSQL locales.</a:t>
            </a:r>
            <a:endParaRPr b="1" sz="1700"/>
          </a:p>
        </p:txBody>
      </p:sp>
      <p:pic>
        <p:nvPicPr>
          <p:cNvPr descr="image.png" id="306" name="Google Shape;306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" y="204480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7" name="Google Shape;307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4838" y="3676662"/>
            <a:ext cx="2190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8" name="Google Shape;308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650" y="4576762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4"/>
          <p:cNvSpPr txBox="1"/>
          <p:nvPr/>
        </p:nvSpPr>
        <p:spPr>
          <a:xfrm>
            <a:off x="581025" y="1019175"/>
            <a:ext cx="11581447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Entorno de Desarrollo y </a:t>
            </a:r>
            <a:r>
              <a:rPr b="0" i="0" lang="en-US" sz="2850" u="none" cap="none" strike="noStrike">
                <a:solidFill>
                  <a:srgbClr val="05966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Hardware</a:t>
            </a:r>
            <a:endParaRPr/>
          </a:p>
        </p:txBody>
      </p:sp>
      <p:sp>
        <p:nvSpPr>
          <p:cNvPr id="310" name="Google Shape;310;p24"/>
          <p:cNvSpPr txBox="1"/>
          <p:nvPr/>
        </p:nvSpPr>
        <p:spPr>
          <a:xfrm>
            <a:off x="581025" y="6296025"/>
            <a:ext cx="3590100" cy="184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Módulo Optativo • Curso Académico 2026/2027</a:t>
            </a:r>
            <a:endParaRPr sz="17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5" name="Google Shape;31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6219825"/>
            <a:ext cx="52768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6" name="Google Shape;31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99509" y="6324600"/>
            <a:ext cx="25836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7" name="Google Shape;317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9525"/>
            <a:ext cx="58483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5"/>
          <p:cNvSpPr txBox="1"/>
          <p:nvPr/>
        </p:nvSpPr>
        <p:spPr>
          <a:xfrm>
            <a:off x="581025" y="1272328"/>
            <a:ext cx="5540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5966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Eficiencia de Algoritmos en CPDs</a:t>
            </a:r>
            <a:endParaRPr/>
          </a:p>
        </p:txBody>
      </p:sp>
      <p:sp>
        <p:nvSpPr>
          <p:cNvPr id="319" name="Google Shape;319;p25"/>
          <p:cNvSpPr txBox="1"/>
          <p:nvPr/>
        </p:nvSpPr>
        <p:spPr>
          <a:xfrm>
            <a:off x="581025" y="1779678"/>
            <a:ext cx="5277000" cy="10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 administrador de sistemas no solo escribe código para automatizar; también debe auditar la carga en el centro de datos.</a:t>
            </a:r>
            <a:endParaRPr b="1" sz="1800"/>
          </a:p>
        </p:txBody>
      </p:sp>
      <p:sp>
        <p:nvSpPr>
          <p:cNvPr id="320" name="Google Shape;320;p25"/>
          <p:cNvSpPr txBox="1"/>
          <p:nvPr/>
        </p:nvSpPr>
        <p:spPr>
          <a:xfrm>
            <a:off x="581025" y="2964339"/>
            <a:ext cx="5277000" cy="10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La diferencia en el consumo de recursos al optimizar algoritmos desde una complejidad temporal cuadrática a una logarítmica reduce de forma notable el uso de CPU.</a:t>
            </a:r>
            <a:endParaRPr b="1" sz="1800"/>
          </a:p>
        </p:txBody>
      </p:sp>
      <p:sp>
        <p:nvSpPr>
          <p:cNvPr id="321" name="Google Shape;321;p25"/>
          <p:cNvSpPr txBox="1"/>
          <p:nvPr/>
        </p:nvSpPr>
        <p:spPr>
          <a:xfrm>
            <a:off x="581025" y="4149030"/>
            <a:ext cx="5277000" cy="14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Esto se traduce en un menor consumo energético en los servidores de producción y una reducción directa de las necesidades de refrigeración térmica en los racks críticos del centro de datos.</a:t>
            </a:r>
            <a:endParaRPr b="1" sz="1800"/>
          </a:p>
        </p:txBody>
      </p:sp>
      <p:sp>
        <p:nvSpPr>
          <p:cNvPr id="322" name="Google Shape;322;p25"/>
          <p:cNvSpPr txBox="1"/>
          <p:nvPr/>
        </p:nvSpPr>
        <p:spPr>
          <a:xfrm>
            <a:off x="1123950" y="571500"/>
            <a:ext cx="178444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Green Computing y Sostenibilidad</a:t>
            </a:r>
            <a:endParaRPr/>
          </a:p>
        </p:txBody>
      </p:sp>
      <p:pic>
        <p:nvPicPr>
          <p:cNvPr descr="informático trabajando en un cpd" id="323" name="Google Shape;323;p25"/>
          <p:cNvPicPr preferRelativeResize="0"/>
          <p:nvPr/>
        </p:nvPicPr>
        <p:blipFill rotWithShape="1">
          <a:blip r:embed="rId6">
            <a:alphaModFix/>
          </a:blip>
          <a:srcRect b="0" l="0" r="7621" t="0"/>
          <a:stretch/>
        </p:blipFill>
        <p:spPr>
          <a:xfrm>
            <a:off x="6334125" y="9525"/>
            <a:ext cx="584834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25"/>
          <p:cNvSpPr txBox="1"/>
          <p:nvPr/>
        </p:nvSpPr>
        <p:spPr>
          <a:xfrm>
            <a:off x="581025" y="6296025"/>
            <a:ext cx="3590100" cy="184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Módulo Optativo • Curso Académico 2026/2027</a:t>
            </a:r>
            <a:endParaRPr sz="17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9" name="Google Shape;32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61526" y="6257925"/>
            <a:ext cx="349448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0" name="Google Shape;33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969547"/>
            <a:ext cx="5324474" cy="3483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1" name="Google Shape;331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38" y="1969550"/>
            <a:ext cx="5324474" cy="3409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2" name="Google Shape;332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6105525"/>
            <a:ext cx="1102995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6"/>
          <p:cNvSpPr txBox="1"/>
          <p:nvPr/>
        </p:nvSpPr>
        <p:spPr>
          <a:xfrm>
            <a:off x="1266825" y="600075"/>
            <a:ext cx="1475928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Coordinación Docente</a:t>
            </a:r>
            <a:endParaRPr/>
          </a:p>
        </p:txBody>
      </p:sp>
      <p:sp>
        <p:nvSpPr>
          <p:cNvPr id="334" name="Google Shape;334;p26"/>
          <p:cNvSpPr txBox="1"/>
          <p:nvPr/>
        </p:nvSpPr>
        <p:spPr>
          <a:xfrm>
            <a:off x="876300" y="2730612"/>
            <a:ext cx="4734000" cy="13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 establece **Python 3.x** como lenguaje estándar unificado para el desarrollo de módulos optativos en el ciclo de ASIR, usando **VS Code** como editor común.</a:t>
            </a:r>
            <a:endParaRPr b="1" sz="1700"/>
          </a:p>
        </p:txBody>
      </p:sp>
      <p:sp>
        <p:nvSpPr>
          <p:cNvPr id="335" name="Google Shape;335;p26"/>
          <p:cNvSpPr txBox="1"/>
          <p:nvPr/>
        </p:nvSpPr>
        <p:spPr>
          <a:xfrm>
            <a:off x="876300" y="4297687"/>
            <a:ext cx="4734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 obligatorio el uso sistemático de **Git** como sistema de versiones, excluyendo la carpeta `.venv/` en el `.gitignore` de todas las tareas.</a:t>
            </a:r>
            <a:endParaRPr b="1" sz="1700"/>
          </a:p>
        </p:txBody>
      </p:sp>
      <p:sp>
        <p:nvSpPr>
          <p:cNvPr id="336" name="Google Shape;336;p26"/>
          <p:cNvSpPr txBox="1"/>
          <p:nvPr/>
        </p:nvSpPr>
        <p:spPr>
          <a:xfrm>
            <a:off x="6581775" y="2755849"/>
            <a:ext cx="4734000" cy="13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La asignación del alumnado a las plazas de empresas concertadas se basará estrictamente en el rendimiento académico de los dos primeros trimestres del módulo presencial.</a:t>
            </a:r>
            <a:endParaRPr b="1" sz="1700"/>
          </a:p>
        </p:txBody>
      </p:sp>
      <p:sp>
        <p:nvSpPr>
          <p:cNvPr id="337" name="Google Shape;337;p26"/>
          <p:cNvSpPr txBox="1"/>
          <p:nvPr/>
        </p:nvSpPr>
        <p:spPr>
          <a:xfrm>
            <a:off x="6581775" y="4348162"/>
            <a:ext cx="4734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 exige un mínimo controlado de asistencia a clase del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95%</a:t>
            </a: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y actitud colaborativa en el portafolio de Moodle Centros.</a:t>
            </a:r>
            <a:endParaRPr b="1" sz="1700"/>
          </a:p>
        </p:txBody>
      </p:sp>
      <p:sp>
        <p:nvSpPr>
          <p:cNvPr id="338" name="Google Shape;338;p26"/>
          <p:cNvSpPr txBox="1"/>
          <p:nvPr/>
        </p:nvSpPr>
        <p:spPr>
          <a:xfrm>
            <a:off x="581025" y="1019175"/>
            <a:ext cx="115815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Acuerdos del Departamento de </a:t>
            </a:r>
            <a:r>
              <a:rPr b="0" i="0" lang="en-US" sz="2850" u="none" cap="none" strike="noStrike">
                <a:solidFill>
                  <a:srgbClr val="05966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Informática</a:t>
            </a:r>
            <a:endParaRPr/>
          </a:p>
        </p:txBody>
      </p:sp>
      <p:sp>
        <p:nvSpPr>
          <p:cNvPr id="339" name="Google Shape;339;p26"/>
          <p:cNvSpPr txBox="1"/>
          <p:nvPr/>
        </p:nvSpPr>
        <p:spPr>
          <a:xfrm>
            <a:off x="876300" y="2283125"/>
            <a:ext cx="4970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Estándares de Codificación</a:t>
            </a:r>
            <a:endParaRPr/>
          </a:p>
        </p:txBody>
      </p:sp>
      <p:sp>
        <p:nvSpPr>
          <p:cNvPr id="340" name="Google Shape;340;p26"/>
          <p:cNvSpPr txBox="1"/>
          <p:nvPr/>
        </p:nvSpPr>
        <p:spPr>
          <a:xfrm>
            <a:off x="6581775" y="2283125"/>
            <a:ext cx="4970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Baremo de Estancia Dual</a:t>
            </a:r>
            <a:endParaRPr/>
          </a:p>
        </p:txBody>
      </p:sp>
      <p:sp>
        <p:nvSpPr>
          <p:cNvPr id="341" name="Google Shape;341;p26"/>
          <p:cNvSpPr txBox="1"/>
          <p:nvPr/>
        </p:nvSpPr>
        <p:spPr>
          <a:xfrm>
            <a:off x="581025" y="6296025"/>
            <a:ext cx="3590100" cy="184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Módulo Optativo • Curso Académico 2026/2027</a:t>
            </a:r>
            <a:endParaRPr sz="17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6" name="Google Shape;34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55126" y="6257925"/>
            <a:ext cx="355848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7" name="Google Shape;347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6105525"/>
            <a:ext cx="11029950" cy="3619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8" name="Google Shape;348;p27"/>
          <p:cNvGrpSpPr/>
          <p:nvPr/>
        </p:nvGrpSpPr>
        <p:grpSpPr>
          <a:xfrm>
            <a:off x="581025" y="1714500"/>
            <a:ext cx="11030100" cy="3333900"/>
            <a:chOff x="581025" y="1714500"/>
            <a:chExt cx="11030100" cy="3333900"/>
          </a:xfrm>
        </p:grpSpPr>
        <p:sp>
          <p:nvSpPr>
            <p:cNvPr id="349" name="Google Shape;349;p27"/>
            <p:cNvSpPr/>
            <p:nvPr/>
          </p:nvSpPr>
          <p:spPr>
            <a:xfrm>
              <a:off x="581025" y="1714500"/>
              <a:ext cx="11030100" cy="3333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27"/>
            <p:cNvSpPr txBox="1"/>
            <p:nvPr/>
          </p:nvSpPr>
          <p:spPr>
            <a:xfrm>
              <a:off x="581025" y="1714500"/>
              <a:ext cx="11030100" cy="333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34290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334155"/>
                </a:buClr>
                <a:buSzPts val="1800"/>
                <a:buFont typeface="Poppins"/>
                <a:buChar char="●"/>
              </a:pPr>
              <a:r>
                <a:rPr b="0" lang="en-US" sz="1800">
                  <a:solidFill>
                    <a:srgbClr val="059669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Puestos fijos:</a:t>
              </a:r>
              <a:r>
                <a:rPr b="0" lang="en-US" sz="1800">
                  <a:solidFill>
                    <a:srgbClr val="334155"/>
                  </a:solidFill>
                  <a:latin typeface="Poppins"/>
                  <a:ea typeface="Poppins"/>
                  <a:cs typeface="Poppins"/>
                  <a:sym typeface="Poppins"/>
                </a:rPr>
                <a:t> Mantener siempre el mismo lugar asignado.</a:t>
              </a:r>
              <a:endParaRPr b="0" sz="18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-3429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800"/>
                <a:buFont typeface="Poppins"/>
                <a:buChar char="●"/>
              </a:pPr>
              <a:r>
                <a:rPr b="0" lang="en-US" sz="1800">
                  <a:solidFill>
                    <a:srgbClr val="059669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Uso responsable:</a:t>
              </a:r>
              <a:r>
                <a:rPr b="0" lang="en-US" sz="1800">
                  <a:solidFill>
                    <a:srgbClr val="334155"/>
                  </a:solidFill>
                  <a:latin typeface="Poppins"/>
                  <a:ea typeface="Poppins"/>
                  <a:cs typeface="Poppins"/>
                  <a:sym typeface="Poppins"/>
                </a:rPr>
                <a:t> Cuidar el equipamiento y los recursos del aula.</a:t>
              </a:r>
              <a:endParaRPr b="0" sz="18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-3429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800"/>
                <a:buFont typeface="Poppins"/>
                <a:buChar char="●"/>
              </a:pPr>
              <a:r>
                <a:rPr b="0" lang="en-US" sz="1800">
                  <a:solidFill>
                    <a:srgbClr val="059669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Incidencias:</a:t>
              </a:r>
              <a:r>
                <a:rPr b="0" lang="en-US" sz="1800">
                  <a:solidFill>
                    <a:srgbClr val="334155"/>
                  </a:solidFill>
                  <a:latin typeface="Poppins"/>
                  <a:ea typeface="Poppins"/>
                  <a:cs typeface="Poppins"/>
                  <a:sym typeface="Poppins"/>
                </a:rPr>
                <a:t> Avisar inmediatamente de cualquier fallo o anomalía.</a:t>
              </a:r>
              <a:endParaRPr b="0" sz="18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-3429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800"/>
                <a:buFont typeface="Poppins"/>
                <a:buChar char="●"/>
              </a:pPr>
              <a:r>
                <a:rPr b="0" lang="en-US" sz="1800">
                  <a:solidFill>
                    <a:srgbClr val="059669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Copias de seguridad:</a:t>
              </a:r>
              <a:r>
                <a:rPr b="0" lang="en-US" sz="1800">
                  <a:solidFill>
                    <a:srgbClr val="334155"/>
                  </a:solidFill>
                  <a:latin typeface="Poppins"/>
                  <a:ea typeface="Poppins"/>
                  <a:cs typeface="Poppins"/>
                  <a:sym typeface="Poppins"/>
                </a:rPr>
                <a:t> Responsabilidad del alumno sobre sus máquinas virtuales.</a:t>
              </a:r>
              <a:endParaRPr b="0" sz="18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-3429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800"/>
                <a:buFont typeface="Poppins"/>
                <a:buChar char="●"/>
              </a:pPr>
              <a:r>
                <a:rPr b="0" lang="en-US" sz="1800">
                  <a:solidFill>
                    <a:srgbClr val="059669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Uso de portátiles:</a:t>
              </a:r>
              <a:r>
                <a:rPr b="0" lang="en-US" sz="1800">
                  <a:solidFill>
                    <a:srgbClr val="334155"/>
                  </a:solidFill>
                  <a:latin typeface="Poppins"/>
                  <a:ea typeface="Poppins"/>
                  <a:cs typeface="Poppins"/>
                  <a:sym typeface="Poppins"/>
                </a:rPr>
                <a:t> Permitido únicamente para fines académicos bajo supervisión.</a:t>
              </a:r>
              <a:endParaRPr b="0" sz="18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-3429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800"/>
                <a:buFont typeface="Poppins"/>
                <a:buChar char="●"/>
              </a:pPr>
              <a:r>
                <a:rPr b="0" lang="en-US" sz="1800">
                  <a:solidFill>
                    <a:srgbClr val="059669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Uso de móviles:</a:t>
              </a:r>
              <a:r>
                <a:rPr b="0" lang="en-US" sz="1800">
                  <a:solidFill>
                    <a:srgbClr val="334155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b="1" lang="en-US" sz="1800">
                  <a:solidFill>
                    <a:srgbClr val="DC2626"/>
                  </a:solidFill>
                  <a:latin typeface="Poppins"/>
                  <a:ea typeface="Poppins"/>
                  <a:cs typeface="Poppins"/>
                  <a:sym typeface="Poppins"/>
                </a:rPr>
                <a:t>PROHIBIDO</a:t>
              </a:r>
              <a:r>
                <a:rPr b="0" lang="en-US" sz="1800">
                  <a:solidFill>
                    <a:srgbClr val="334155"/>
                  </a:solidFill>
                  <a:latin typeface="Poppins"/>
                  <a:ea typeface="Poppins"/>
                  <a:cs typeface="Poppins"/>
                  <a:sym typeface="Poppins"/>
                </a:rPr>
                <a:t> durante toda la sesión lectiva.</a:t>
              </a:r>
              <a:endParaRPr b="0" sz="18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-3429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800"/>
                <a:buFont typeface="Poppins"/>
                <a:buChar char="●"/>
              </a:pPr>
              <a:r>
                <a:rPr b="0" lang="en-US" sz="1800">
                  <a:solidFill>
                    <a:srgbClr val="059669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Entrada / Salida:</a:t>
              </a:r>
              <a:r>
                <a:rPr b="0" lang="en-US" sz="1800">
                  <a:solidFill>
                    <a:srgbClr val="334155"/>
                  </a:solidFill>
                  <a:latin typeface="Poppins"/>
                  <a:ea typeface="Poppins"/>
                  <a:cs typeface="Poppins"/>
                  <a:sym typeface="Poppins"/>
                </a:rPr>
                <a:t> Respetar los turnos y el orden al entrar o salir del aula.</a:t>
              </a:r>
              <a:endParaRPr b="0" sz="18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351" name="Google Shape;351;p27"/>
          <p:cNvSpPr txBox="1"/>
          <p:nvPr/>
        </p:nvSpPr>
        <p:spPr>
          <a:xfrm>
            <a:off x="1266825" y="600075"/>
            <a:ext cx="5715000" cy="40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36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Normas en el </a:t>
            </a:r>
            <a:r>
              <a:rPr b="0" i="0" lang="en-US" sz="2636">
                <a:solidFill>
                  <a:srgbClr val="05966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aula</a:t>
            </a:r>
            <a:endParaRPr b="0" i="0" sz="2636">
              <a:solidFill>
                <a:srgbClr val="0F172A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descr="utiliza iconos en la lista" id="352" name="Google Shape;352;p27"/>
          <p:cNvPicPr preferRelativeResize="0"/>
          <p:nvPr/>
        </p:nvPicPr>
        <p:blipFill rotWithShape="1">
          <a:blip r:embed="rId5">
            <a:alphaModFix/>
          </a:blip>
          <a:srcRect b="21559" l="2065" r="92103" t="25196"/>
          <a:stretch/>
        </p:blipFill>
        <p:spPr>
          <a:xfrm>
            <a:off x="314625" y="1816050"/>
            <a:ext cx="592000" cy="3016699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27"/>
          <p:cNvSpPr txBox="1"/>
          <p:nvPr/>
        </p:nvSpPr>
        <p:spPr>
          <a:xfrm>
            <a:off x="581025" y="6296025"/>
            <a:ext cx="3590100" cy="184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Módulo Optativo • Curso Académico 2026/2027</a:t>
            </a:r>
            <a:endParaRPr sz="17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8" name="Google Shape;35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55126" y="6257925"/>
            <a:ext cx="355848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9" name="Google Shape;35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6105525"/>
            <a:ext cx="1102995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28"/>
          <p:cNvSpPr txBox="1"/>
          <p:nvPr/>
        </p:nvSpPr>
        <p:spPr>
          <a:xfrm>
            <a:off x="305251" y="1815962"/>
            <a:ext cx="11581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05966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¿Preguntas o Comentarios?</a:t>
            </a:r>
            <a:endParaRPr/>
          </a:p>
        </p:txBody>
      </p:sp>
      <p:sp>
        <p:nvSpPr>
          <p:cNvPr id="361" name="Google Shape;361;p28"/>
          <p:cNvSpPr txBox="1"/>
          <p:nvPr/>
        </p:nvSpPr>
        <p:spPr>
          <a:xfrm>
            <a:off x="489450" y="2837312"/>
            <a:ext cx="110301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Toda la documentación teórica, foros de soporte e hitos de entrega de tareas semanales están disponibles en el aula oficial.</a:t>
            </a:r>
            <a:endParaRPr b="1"/>
          </a:p>
        </p:txBody>
      </p:sp>
      <p:sp>
        <p:nvSpPr>
          <p:cNvPr id="362" name="Google Shape;362;p28"/>
          <p:cNvSpPr txBox="1"/>
          <p:nvPr/>
        </p:nvSpPr>
        <p:spPr>
          <a:xfrm>
            <a:off x="1266825" y="600075"/>
            <a:ext cx="1245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Dudas y Consultas</a:t>
            </a:r>
            <a:endParaRPr/>
          </a:p>
        </p:txBody>
      </p:sp>
      <p:pic>
        <p:nvPicPr>
          <p:cNvPr descr="image.png" id="363" name="Google Shape;363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2250" y="4011200"/>
            <a:ext cx="2817450" cy="1314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4" name="Google Shape;364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05375" y="3996625"/>
            <a:ext cx="2521800" cy="1314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5" name="Google Shape;365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24750" y="3996625"/>
            <a:ext cx="2953800" cy="1314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6" name="Google Shape;366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096650" y="424428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28"/>
          <p:cNvSpPr txBox="1"/>
          <p:nvPr/>
        </p:nvSpPr>
        <p:spPr>
          <a:xfrm>
            <a:off x="2220826" y="4587180"/>
            <a:ext cx="1980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CORREO ELECTRÓNICO</a:t>
            </a:r>
            <a:endParaRPr/>
          </a:p>
        </p:txBody>
      </p:sp>
      <p:sp>
        <p:nvSpPr>
          <p:cNvPr id="368" name="Google Shape;368;p28"/>
          <p:cNvSpPr txBox="1"/>
          <p:nvPr/>
        </p:nvSpPr>
        <p:spPr>
          <a:xfrm>
            <a:off x="1897800" y="4863175"/>
            <a:ext cx="2521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jsansan766@g.educaand.es</a:t>
            </a:r>
            <a:endParaRPr sz="1700"/>
          </a:p>
        </p:txBody>
      </p:sp>
      <p:pic>
        <p:nvPicPr>
          <p:cNvPr descr="image.png" id="369" name="Google Shape;369;p2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953125" y="4244280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28"/>
          <p:cNvSpPr txBox="1"/>
          <p:nvPr/>
        </p:nvSpPr>
        <p:spPr>
          <a:xfrm>
            <a:off x="5105876" y="4587180"/>
            <a:ext cx="1980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AULA VIRTUAL</a:t>
            </a:r>
            <a:endParaRPr/>
          </a:p>
        </p:txBody>
      </p:sp>
      <p:sp>
        <p:nvSpPr>
          <p:cNvPr id="371" name="Google Shape;371;p28"/>
          <p:cNvSpPr txBox="1"/>
          <p:nvPr/>
        </p:nvSpPr>
        <p:spPr>
          <a:xfrm>
            <a:off x="5086200" y="4863175"/>
            <a:ext cx="2219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Moodle Centros Almería</a:t>
            </a:r>
            <a:endParaRPr sz="1700"/>
          </a:p>
        </p:txBody>
      </p:sp>
      <p:pic>
        <p:nvPicPr>
          <p:cNvPr descr="image.png" id="372" name="Google Shape;372;p2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629650" y="4244280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28"/>
          <p:cNvSpPr txBox="1"/>
          <p:nvPr/>
        </p:nvSpPr>
        <p:spPr>
          <a:xfrm>
            <a:off x="7725251" y="4587180"/>
            <a:ext cx="1980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UBICACIÓN FÍSICA</a:t>
            </a:r>
            <a:endParaRPr/>
          </a:p>
        </p:txBody>
      </p:sp>
      <p:sp>
        <p:nvSpPr>
          <p:cNvPr id="374" name="Google Shape;374;p28"/>
          <p:cNvSpPr txBox="1"/>
          <p:nvPr/>
        </p:nvSpPr>
        <p:spPr>
          <a:xfrm>
            <a:off x="7772400" y="4834825"/>
            <a:ext cx="244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Aula 8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• IES Celia Viñas</a:t>
            </a:r>
            <a:endParaRPr sz="1700"/>
          </a:p>
        </p:txBody>
      </p:sp>
      <p:sp>
        <p:nvSpPr>
          <p:cNvPr id="375" name="Google Shape;375;p28"/>
          <p:cNvSpPr txBox="1"/>
          <p:nvPr/>
        </p:nvSpPr>
        <p:spPr>
          <a:xfrm>
            <a:off x="581025" y="6296025"/>
            <a:ext cx="3590100" cy="184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Módulo Optativo • Curso Académico 2026/2027</a:t>
            </a:r>
            <a:endParaRPr sz="1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