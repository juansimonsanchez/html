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6858000" cy="9144000"/>
  <p:embeddedFontLst>
    <p:embeddedFont>
      <p:font typeface="Lato"/>
      <p:regular r:id="rId21"/>
      <p:bold r:id="rId22"/>
      <p:italic r:id="rId23"/>
      <p:boldItalic r:id="rId24"/>
    </p:embeddedFont>
    <p:embeddedFont>
      <p:font typeface="Poppins"/>
      <p:regular r:id="rId25"/>
      <p:bold r:id="rId26"/>
      <p:italic r:id="rId27"/>
      <p:boldItalic r:id="rId28"/>
    </p:embeddedFont>
    <p:embeddedFont>
      <p:font typeface="Poppins SemiBold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D78724-9BB7-4637-B703-F6587A70F137}">
  <a:tblStyle styleId="{3FD78724-9BB7-4637-B703-F6587A70F13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oppins-bold.fntdata"/><Relationship Id="rId25" Type="http://schemas.openxmlformats.org/officeDocument/2006/relationships/font" Target="fonts/Poppins-regular.fntdata"/><Relationship Id="rId28" Type="http://schemas.openxmlformats.org/officeDocument/2006/relationships/font" Target="fonts/Poppins-boldItalic.fntdata"/><Relationship Id="rId27" Type="http://schemas.openxmlformats.org/officeDocument/2006/relationships/font" Target="fonts/Poppins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SemiBol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italic.fntdata"/><Relationship Id="rId30" Type="http://schemas.openxmlformats.org/officeDocument/2006/relationships/font" Target="fonts/PoppinsSemi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font" Target="fonts/PoppinsSemiBol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86f0ed9dd_40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e86f0ed9dd_4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e857d84948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e857d84948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2" title="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6400" y="133558"/>
            <a:ext cx="665900" cy="88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body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7"/>
          <p:cNvSpPr txBox="1"/>
          <p:nvPr>
            <p:ph idx="2" type="body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5" name="Google Shape;45;p7"/>
          <p:cNvSpPr txBox="1"/>
          <p:nvPr>
            <p:ph idx="3" type="body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7"/>
          <p:cNvSpPr txBox="1"/>
          <p:nvPr>
            <p:ph idx="4" type="body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" type="body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8" name="Google Shape;58;p9"/>
          <p:cNvSpPr txBox="1"/>
          <p:nvPr>
            <p:ph idx="2" type="body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9" name="Google Shape;59;p9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/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6" name="Google Shape;66;p1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" type="body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 (g3e86f0ed9dd_32_0)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86f0ed9dd_51_0)">
  <p:cSld name="Generated (g3e86f0ed9dd_51_0)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2.png"/><Relationship Id="rId1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9" Type="http://schemas.openxmlformats.org/officeDocument/2006/relationships/image" Target="../media/image21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19.png"/><Relationship Id="rId8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26.png"/><Relationship Id="rId6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41.png"/><Relationship Id="rId6" Type="http://schemas.openxmlformats.org/officeDocument/2006/relationships/image" Target="../media/image14.png"/><Relationship Id="rId7" Type="http://schemas.openxmlformats.org/officeDocument/2006/relationships/image" Target="../media/image11.png"/><Relationship Id="rId8" Type="http://schemas.openxmlformats.org/officeDocument/2006/relationships/image" Target="../media/image15.jp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Relationship Id="rId5" Type="http://schemas.openxmlformats.org/officeDocument/2006/relationships/image" Target="../media/image18.png"/><Relationship Id="rId6" Type="http://schemas.openxmlformats.org/officeDocument/2006/relationships/image" Target="../media/image20.png"/><Relationship Id="rId7" Type="http://schemas.openxmlformats.org/officeDocument/2006/relationships/image" Target="../media/image4.png"/><Relationship Id="rId8" Type="http://schemas.openxmlformats.org/officeDocument/2006/relationships/image" Target="../media/image2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5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4.png"/><Relationship Id="rId5" Type="http://schemas.openxmlformats.org/officeDocument/2006/relationships/image" Target="../media/image33.png"/><Relationship Id="rId6" Type="http://schemas.openxmlformats.org/officeDocument/2006/relationships/image" Target="../media/image51.png"/><Relationship Id="rId7" Type="http://schemas.openxmlformats.org/officeDocument/2006/relationships/image" Target="../media/image30.png"/><Relationship Id="rId8" Type="http://schemas.openxmlformats.org/officeDocument/2006/relationships/image" Target="../media/image2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7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png"/><Relationship Id="rId4" Type="http://schemas.openxmlformats.org/officeDocument/2006/relationships/image" Target="../media/image4.png"/><Relationship Id="rId5" Type="http://schemas.openxmlformats.org/officeDocument/2006/relationships/image" Target="../media/image43.png"/><Relationship Id="rId6" Type="http://schemas.openxmlformats.org/officeDocument/2006/relationships/image" Target="../media/image56.png"/><Relationship Id="rId7" Type="http://schemas.openxmlformats.org/officeDocument/2006/relationships/image" Target="../media/image3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4.png"/><Relationship Id="rId4" Type="http://schemas.openxmlformats.org/officeDocument/2006/relationships/image" Target="../media/image42.png"/><Relationship Id="rId5" Type="http://schemas.openxmlformats.org/officeDocument/2006/relationships/image" Target="../media/image37.png"/><Relationship Id="rId6" Type="http://schemas.openxmlformats.org/officeDocument/2006/relationships/image" Target="../media/image40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39.jpg"/></Relationships>
</file>

<file path=ppt/slides/_rels/slide14.xml.rels><?xml version="1.0" encoding="UTF-8" standalone="yes"?><Relationships xmlns="http://schemas.openxmlformats.org/package/2006/relationships"><Relationship Id="rId10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9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9.png"/><Relationship Id="rId7" Type="http://schemas.openxmlformats.org/officeDocument/2006/relationships/image" Target="../media/image48.png"/><Relationship Id="rId8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0" name="Google Shape;9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/>
        </p:nvSpPr>
        <p:spPr>
          <a:xfrm>
            <a:off x="226751" y="1888082"/>
            <a:ext cx="115815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Introducción a la Programación y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6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Estructuras de Datos con </a:t>
            </a:r>
            <a:r>
              <a:rPr b="0" i="0" lang="en-US" sz="36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Python</a:t>
            </a:r>
            <a:endParaRPr/>
          </a:p>
        </p:txBody>
      </p:sp>
      <p:sp>
        <p:nvSpPr>
          <p:cNvPr id="93" name="Google Shape;93;p15"/>
          <p:cNvSpPr txBox="1"/>
          <p:nvPr/>
        </p:nvSpPr>
        <p:spPr>
          <a:xfrm>
            <a:off x="1969300" y="3429005"/>
            <a:ext cx="80964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Presentación de inicio del curso para el alumnado de </a:t>
            </a:r>
            <a:r>
              <a:rPr lang="en-US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2º</a:t>
            </a: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ASIR. </a:t>
            </a:r>
            <a:endParaRPr b="0" i="0" sz="1550" u="none" cap="none" strike="noStrik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Planificación didáctica, alternancia dual y criterios de calificación para el curso 2026/2027.</a:t>
            </a:r>
            <a:endParaRPr sz="1600"/>
          </a:p>
        </p:txBody>
      </p:sp>
      <p:sp>
        <p:nvSpPr>
          <p:cNvPr id="94" name="Google Shape;94;p15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  <p:sp>
        <p:nvSpPr>
          <p:cNvPr id="95" name="Google Shape;95;p15"/>
          <p:cNvSpPr txBox="1"/>
          <p:nvPr/>
        </p:nvSpPr>
        <p:spPr>
          <a:xfrm>
            <a:off x="1266825" y="600075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/>
          </a:p>
        </p:txBody>
      </p:sp>
      <p:pic>
        <p:nvPicPr>
          <p:cNvPr descr="image.png" id="96" name="Google Shape;9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5450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43387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325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39262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9393" y="4644146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1196534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CARGA HORARIA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1247850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 Horas Semanales</a:t>
            </a:r>
            <a:endParaRPr sz="1700"/>
          </a:p>
        </p:txBody>
      </p:sp>
      <p:pic>
        <p:nvPicPr>
          <p:cNvPr descr="image.png" id="103" name="Google Shape;103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88756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3744471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CICLO PROFESIONAL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3795787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2º ASIR </a:t>
            </a:r>
            <a:endParaRPr sz="1700"/>
          </a:p>
        </p:txBody>
      </p:sp>
      <p:pic>
        <p:nvPicPr>
          <p:cNvPr descr="image.png" id="106" name="Google Shape;10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236693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6292409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CENTRO EDUCATIVO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343725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IES Celia Viñas</a:t>
            </a:r>
            <a:endParaRPr sz="1700"/>
          </a:p>
        </p:txBody>
      </p:sp>
      <p:pic>
        <p:nvPicPr>
          <p:cNvPr descr="image.png" id="109" name="Google Shape;109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827493" y="4644146"/>
            <a:ext cx="1809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840346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DOCENTE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891662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J. Simón Sánchez</a:t>
            </a:r>
            <a:endParaRPr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" name="Google Shape;1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00312"/>
            <a:ext cx="5324475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500312"/>
            <a:ext cx="5324475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1266825" y="600075"/>
            <a:ext cx="190232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Contextualización Normativa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76300" y="2795587"/>
            <a:ext cx="497062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Base Legislativa Oficial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876300" y="3205162"/>
            <a:ext cx="4734000" cy="1015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Módulo adaptado al **Decreto 165/2024** de ordenación de la FP en Andalucía y regulado bajo la **Ley Orgánica 3/2022**.</a:t>
            </a:r>
            <a:endParaRPr sz="17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6581775" y="2795587"/>
            <a:ext cx="497062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Distribución Horaria del Curso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6581775" y="3205162"/>
            <a:ext cx="4734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Carga semanal: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3 Horas Lectivas.</a:t>
            </a:r>
            <a:endParaRPr sz="1800"/>
          </a:p>
        </p:txBody>
      </p:sp>
      <p:sp>
        <p:nvSpPr>
          <p:cNvPr id="125" name="Google Shape;125;p16"/>
          <p:cNvSpPr txBox="1"/>
          <p:nvPr/>
        </p:nvSpPr>
        <p:spPr>
          <a:xfrm>
            <a:off x="6581775" y="3576637"/>
            <a:ext cx="4734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Horas totales: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63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horas de currículo.</a:t>
            </a:r>
            <a:endParaRPr sz="1800"/>
          </a:p>
        </p:txBody>
      </p:sp>
      <p:sp>
        <p:nvSpPr>
          <p:cNvPr id="126" name="Google Shape;126;p16"/>
          <p:cNvSpPr txBox="1"/>
          <p:nvPr/>
        </p:nvSpPr>
        <p:spPr>
          <a:xfrm>
            <a:off x="6581775" y="3948100"/>
            <a:ext cx="4818300" cy="10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Horas presenciales en Centro: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concentradas en el 1º y 2º Trimestre antes de la alternancia dual general.</a:t>
            </a:r>
            <a:endParaRPr sz="1800"/>
          </a:p>
        </p:txBody>
      </p:sp>
      <p:sp>
        <p:nvSpPr>
          <p:cNvPr id="127" name="Google Shape;127;p16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Marco de Referencia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Carga Horaria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1266825" y="600075"/>
            <a:ext cx="117901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Currículo Técnico</a:t>
            </a:r>
            <a:endParaRPr/>
          </a:p>
        </p:txBody>
      </p:sp>
      <p:graphicFrame>
        <p:nvGraphicFramePr>
          <p:cNvPr id="136" name="Google Shape;136;p17"/>
          <p:cNvGraphicFramePr/>
          <p:nvPr/>
        </p:nvGraphicFramePr>
        <p:xfrm>
          <a:off x="581025" y="23717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{3FD78724-9BB7-4637-B703-F6587A70F137}</a:tableStyleId>
              </a:tblPr>
              <a:tblGrid>
                <a:gridCol w="1102975"/>
                <a:gridCol w="8272450"/>
                <a:gridCol w="1654525"/>
              </a:tblGrid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RA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Resultado de Aprendizaje (Normativa Oficial)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Peso en Séneca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RA1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Análisis de problemas, pensamiento computacional y algoritmos lógicos básicos.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RA2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Programación estructurada, funciones, modularización y ficheros lógicos en Python.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RA3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Diseño y programación de objetos (POO), encapsulamiento, herencia y excepciones.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RA4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Estructuras de datos lineales y no lineales, arrays y análisis de eficiencia (Big-O).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RA5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Entornos integrados de depuración, pruebas unitarias y Git colaborativo.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7" name="Google Shape;137;p17"/>
          <p:cNvSpPr/>
          <p:nvPr/>
        </p:nvSpPr>
        <p:spPr>
          <a:xfrm>
            <a:off x="581025" y="28622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1683990" y="286226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956452" y="286226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81025" y="33670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1683990" y="336708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9956452" y="336708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81025" y="387191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1683990" y="387191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9956452" y="387191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81025" y="437673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1683990" y="437673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956452" y="437673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81025" y="48815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1683990" y="488156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9956452" y="488156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581025" y="53863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1683990" y="538638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956452" y="538638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Resultados de Aprendizaje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Ponderaciones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1" name="Google Shape;16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1266825" y="600075"/>
            <a:ext cx="146134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Distribución Temporal</a:t>
            </a:r>
            <a:endParaRPr/>
          </a:p>
        </p:txBody>
      </p:sp>
      <p:graphicFrame>
        <p:nvGraphicFramePr>
          <p:cNvPr id="164" name="Google Shape;164;p18"/>
          <p:cNvGraphicFramePr/>
          <p:nvPr/>
        </p:nvGraphicFramePr>
        <p:xfrm>
          <a:off x="581025" y="22574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{3FD78724-9BB7-4637-B703-F6587A70F137}</a:tableStyleId>
              </a:tblPr>
              <a:tblGrid>
                <a:gridCol w="1102975"/>
                <a:gridCol w="6621925"/>
                <a:gridCol w="890950"/>
                <a:gridCol w="2414100"/>
              </a:tblGrid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U.T.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Unidad de Trabajo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Horas 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Período Estimado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UT1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Lógica de programación, algoritmia y pensamiento computacional (RA1).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Sep - 10 Oct 2026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UT2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Programación estructurada, modularidad y ficheros en Python (RA2).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 Oct - 30 Nov 2026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UT3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Arrays, colecciones de datos lineales, diccionarios y Big-O (RA4).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 Dic 2026 - 22 Ene 2027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UT4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Paradigma de programación orientada a objetos (POO) y excepciones (RA3).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16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23 Ene - 23 Feb 2027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UT5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Entornos de desarrollo, control de versiones (Git) y testing (RA5).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24 Feb - 12 Mar 2027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5" name="Google Shape;165;p18"/>
          <p:cNvSpPr/>
          <p:nvPr/>
        </p:nvSpPr>
        <p:spPr>
          <a:xfrm>
            <a:off x="581025" y="27479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1683990" y="274796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7198965" y="274796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853338" y="274796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81025" y="32527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1683990" y="325278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7198965" y="325278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853338" y="325278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81025" y="375761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1683990" y="375761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7198965" y="375761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8853338" y="375761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81025" y="426243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1683990" y="426243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7198965" y="426243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8853338" y="426243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81025" y="49958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1683990" y="499586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7198965" y="499586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8853338" y="499586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581025" y="55006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1683990" y="550068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7198965" y="550068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853338" y="550068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Secuenciación de Unidades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Calendario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1266825" y="600075"/>
            <a:ext cx="203611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Formación en Alternancia Dual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914400" y="2076450"/>
            <a:ext cx="5792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Criterio de Evaluación Dualizado: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ha seleccionado un único CE para la alternancia laboral (RA5 - CE a): "Uso de herramientas de depuración integradas (debuggers)".</a:t>
            </a:r>
            <a:endParaRPr b="1" sz="1700"/>
          </a:p>
        </p:txBody>
      </p:sp>
      <p:sp>
        <p:nvSpPr>
          <p:cNvPr id="199" name="Google Shape;199;p19"/>
          <p:cNvSpPr txBox="1"/>
          <p:nvPr/>
        </p:nvSpPr>
        <p:spPr>
          <a:xfrm>
            <a:off x="914400" y="3264700"/>
            <a:ext cx="5387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Actividad Práctica Real: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Depuración y análisis de scripts del entorno laboral (Python, Bash o PowerShell) utilizados para backups, logs o automatizaciones.</a:t>
            </a:r>
            <a:endParaRPr b="1" sz="1700"/>
          </a:p>
        </p:txBody>
      </p:sp>
      <p:sp>
        <p:nvSpPr>
          <p:cNvPr id="200" name="Google Shape;200;p19"/>
          <p:cNvSpPr txBox="1"/>
          <p:nvPr/>
        </p:nvSpPr>
        <p:spPr>
          <a:xfrm>
            <a:off x="914400" y="4452938"/>
            <a:ext cx="49911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Alineamiento Profesional: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Inspeccionar variables y trazas de ejecución en el IDE de la empresa (p. ej. VS Code) para resolver bugs e integrar control de excepciones robusto.</a:t>
            </a:r>
            <a:endParaRPr b="1" sz="170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201" name="Google Shape;20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1950" y="21796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1950" y="3338525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" y="456486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Actuación y Criterio Técnico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la Empresa</a:t>
            </a:r>
            <a:endParaRPr/>
          </a:p>
        </p:txBody>
      </p:sp>
      <p:pic>
        <p:nvPicPr>
          <p:cNvPr descr="empresa con empleados trabajando en una sala con sus puestos de trabajo con ordenadores" id="205" name="Google Shape;205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62700" y="2447000"/>
            <a:ext cx="4497000" cy="30477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9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266825" y="600075"/>
            <a:ext cx="143455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Evaluación Curricular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828675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Pruebas de Código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828675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60%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828675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Controles e hitos de programación individuales realizados directamente en los equipos del taller.</a:t>
            </a:r>
            <a:endParaRPr b="1" sz="1600"/>
          </a:p>
        </p:txBody>
      </p:sp>
      <p:sp>
        <p:nvSpPr>
          <p:cNvPr id="220" name="Google Shape;220;p20"/>
          <p:cNvSpPr txBox="1"/>
          <p:nvPr/>
        </p:nvSpPr>
        <p:spPr>
          <a:xfrm>
            <a:off x="4584650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Tareas en Moodle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4584650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59669"/>
                </a:solidFill>
                <a:latin typeface="Lato"/>
                <a:ea typeface="Lato"/>
                <a:cs typeface="Lato"/>
                <a:sym typeface="Lato"/>
              </a:rPr>
              <a:t>30%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4584650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Laboratorios sistemáticos obligatorios entregados semanalmente con código estructurado y depurado.</a:t>
            </a:r>
            <a:endParaRPr b="1" sz="1600"/>
          </a:p>
        </p:txBody>
      </p:sp>
      <p:sp>
        <p:nvSpPr>
          <p:cNvPr id="223" name="Google Shape;223;p20"/>
          <p:cNvSpPr txBox="1"/>
          <p:nvPr/>
        </p:nvSpPr>
        <p:spPr>
          <a:xfrm>
            <a:off x="8340625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Foros y Actitud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8340625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10%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8340625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Participación activa resolviendo dudas de compañeros de forma colaborativa en los hilos de Moodle Centros.</a:t>
            </a:r>
            <a:endParaRPr b="1" sz="1600"/>
          </a:p>
        </p:txBody>
      </p:sp>
      <p:pic>
        <p:nvPicPr>
          <p:cNvPr descr="image.png" id="226" name="Google Shape;226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867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84650" y="2771775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4062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581025" y="10191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Estrategia de Calificación RA e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Instrumentos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/>
          <p:cNvPicPr preferRelativeResize="0"/>
          <p:nvPr/>
        </p:nvPicPr>
        <p:blipFill rotWithShape="1">
          <a:blip r:embed="rId4">
            <a:alphaModFix/>
          </a:blip>
          <a:srcRect b="30" l="0" r="0" t="40"/>
          <a:stretch/>
        </p:blipFill>
        <p:spPr>
          <a:xfrm>
            <a:off x="146399" y="133540"/>
            <a:ext cx="665700" cy="8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1266825" y="600075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Evaluación Curricular</a:t>
            </a:r>
            <a:endParaRPr b="0" sz="1050">
              <a:solidFill>
                <a:srgbClr val="1E3A8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9" name="Google Shape;239;p21"/>
          <p:cNvSpPr txBox="1"/>
          <p:nvPr/>
        </p:nvSpPr>
        <p:spPr>
          <a:xfrm>
            <a:off x="581025" y="1019175"/>
            <a:ext cx="11030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Cálculo de Calificaciones y </a:t>
            </a:r>
            <a:r>
              <a:rPr b="0"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Fórmulas Finales</a:t>
            </a:r>
            <a:endParaRPr b="0" sz="2850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grpSp>
        <p:nvGrpSpPr>
          <p:cNvPr id="240" name="Google Shape;240;p21"/>
          <p:cNvGrpSpPr/>
          <p:nvPr/>
        </p:nvGrpSpPr>
        <p:grpSpPr>
          <a:xfrm>
            <a:off x="581025" y="1714500"/>
            <a:ext cx="5334000" cy="1905000"/>
            <a:chOff x="0" y="0"/>
            <a:chExt cx="5334000" cy="1905000"/>
          </a:xfrm>
        </p:grpSpPr>
        <p:sp>
          <p:nvSpPr>
            <p:cNvPr id="241" name="Google Shape;241;p21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1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Calificación Trimestral (1ºT / 2ºT)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43" name="Google Shape;243;p21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Media ponderada de los Resultados de Aprendizaje (RA) impartidos en el periodo según los instrumentos.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44" name="Google Shape;244;p21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1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Nota_T = Σ (Nota_RA_i × Peso_RA_i)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46" name="Google Shape;246;p21"/>
          <p:cNvGrpSpPr/>
          <p:nvPr/>
        </p:nvGrpSpPr>
        <p:grpSpPr>
          <a:xfrm>
            <a:off x="6286500" y="1714500"/>
            <a:ext cx="5334000" cy="1905000"/>
            <a:chOff x="0" y="0"/>
            <a:chExt cx="5334000" cy="1905000"/>
          </a:xfrm>
        </p:grpSpPr>
        <p:sp>
          <p:nvSpPr>
            <p:cNvPr id="247" name="Google Shape;247;p21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1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</a:t>
              </a:r>
              <a:r>
                <a:rPr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Primera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Integración de la formación en centro con el 20% de la valoración Dual en los RAs seleccionados (RA5).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50" name="Google Shape;250;p21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ECFDF5"/>
            </a:solidFill>
            <a:ln cap="flat" cmpd="sng" w="9525">
              <a:solidFill>
                <a:srgbClr val="10B98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1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Final_Ord = Σ (RA_Centro × 0.8 + Dual × 0.2)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52" name="Google Shape;252;p21"/>
          <p:cNvGrpSpPr/>
          <p:nvPr/>
        </p:nvGrpSpPr>
        <p:grpSpPr>
          <a:xfrm>
            <a:off x="581025" y="3810000"/>
            <a:ext cx="11039400" cy="2095500"/>
            <a:chOff x="0" y="0"/>
            <a:chExt cx="11039400" cy="2095500"/>
          </a:xfrm>
        </p:grpSpPr>
        <p:sp>
          <p:nvSpPr>
            <p:cNvPr id="253" name="Google Shape;253;p21"/>
            <p:cNvSpPr/>
            <p:nvPr/>
          </p:nvSpPr>
          <p:spPr>
            <a:xfrm>
              <a:off x="0" y="0"/>
              <a:ext cx="11039400" cy="2095500"/>
            </a:xfrm>
            <a:prstGeom prst="roundRect">
              <a:avLst>
                <a:gd fmla="val 5454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1"/>
            <p:cNvSpPr txBox="1"/>
            <p:nvPr/>
          </p:nvSpPr>
          <p:spPr>
            <a:xfrm>
              <a:off x="238125" y="190500"/>
              <a:ext cx="10477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Segunda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55" name="Google Shape;255;p21"/>
            <p:cNvSpPr txBox="1"/>
            <p:nvPr/>
          </p:nvSpPr>
          <p:spPr>
            <a:xfrm>
              <a:off x="238125" y="571500"/>
              <a:ext cx="5143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Para el alumnado con RAs suspensos (&lt; 5) o pérdida de evaluación continua.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1. Prueba global de RAs suspensos.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2. Entrega y defensa de prácticas Moodle.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56" name="Google Shape;256;p21"/>
            <p:cNvSpPr/>
            <p:nvPr/>
          </p:nvSpPr>
          <p:spPr>
            <a:xfrm>
              <a:off x="5619750" y="666750"/>
              <a:ext cx="5143500" cy="1143000"/>
            </a:xfrm>
            <a:prstGeom prst="roundRect">
              <a:avLst>
                <a:gd fmla="val 5000" name="adj"/>
              </a:avLst>
            </a:prstGeom>
            <a:solidFill>
              <a:srgbClr val="FFF7ED"/>
            </a:solidFill>
            <a:ln cap="flat" cmpd="sng" w="9525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1"/>
            <p:cNvSpPr txBox="1"/>
            <p:nvPr/>
          </p:nvSpPr>
          <p:spPr>
            <a:xfrm>
              <a:off x="5619750" y="666750"/>
              <a:ext cx="5143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Nota_RA_Final = Max(Prueba_Sufic, Nota_Orig)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Final_Ext = Σ (Nota_RA_Final_i × Peso_RA_i)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pic>
        <p:nvPicPr>
          <p:cNvPr id="258" name="Google Shape;258;p21"/>
          <p:cNvPicPr preferRelativeResize="0"/>
          <p:nvPr/>
        </p:nvPicPr>
        <p:blipFill rotWithShape="1">
          <a:blip r:embed="rId5">
            <a:alphaModFix/>
          </a:blip>
          <a:srcRect b="0" l="90" r="80" t="0"/>
          <a:stretch/>
        </p:blipFill>
        <p:spPr>
          <a:xfrm>
            <a:off x="581025" y="6105525"/>
            <a:ext cx="11030100" cy="3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1"/>
          <p:cNvPicPr preferRelativeResize="0"/>
          <p:nvPr/>
        </p:nvPicPr>
        <p:blipFill rotWithShape="1">
          <a:blip r:embed="rId6">
            <a:alphaModFix/>
          </a:blip>
          <a:srcRect b="0" l="923" r="923" t="0"/>
          <a:stretch/>
        </p:blipFill>
        <p:spPr>
          <a:xfrm>
            <a:off x="11254740" y="6257925"/>
            <a:ext cx="355200" cy="2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1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5" name="Google Shape;26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2"/>
          <p:cNvSpPr txBox="1"/>
          <p:nvPr/>
        </p:nvSpPr>
        <p:spPr>
          <a:xfrm>
            <a:off x="1266825" y="600075"/>
            <a:ext cx="128274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del Módulo</a:t>
            </a: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914400" y="2571750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por Bloque: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requiere obtener obligatoriamente una calificación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&gt;= 5.0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tanto en las pruebas de código como en las tareas prácticas de Moodle.</a:t>
            </a:r>
            <a:endParaRPr b="1" sz="1700"/>
          </a:p>
        </p:txBody>
      </p:sp>
      <p:sp>
        <p:nvSpPr>
          <p:cNvPr id="269" name="Google Shape;269;p22"/>
          <p:cNvSpPr txBox="1"/>
          <p:nvPr/>
        </p:nvSpPr>
        <p:spPr>
          <a:xfrm>
            <a:off x="914400" y="322897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Sin Recuperaciones Parciales: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Al ser evaluación continua de código incremental, el progreso se mide de forma global a través de entregas consecutivas en Moodle Centros.</a:t>
            </a:r>
            <a:endParaRPr b="1" sz="1700"/>
          </a:p>
        </p:txBody>
      </p:sp>
      <p:sp>
        <p:nvSpPr>
          <p:cNvPr id="270" name="Google Shape;270;p22"/>
          <p:cNvSpPr txBox="1"/>
          <p:nvPr/>
        </p:nvSpPr>
        <p:spPr>
          <a:xfrm>
            <a:off x="914400" y="3886200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Pérdida de Evaluación Continua: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Superar el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15% de faltas sin justificar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(11 horas lectivas) invalida el derecho a entregas y obliga a realizar una prueba global en la Convocatoria de Suficiencia.</a:t>
            </a:r>
            <a:endParaRPr b="1" sz="1700"/>
          </a:p>
        </p:txBody>
      </p:sp>
      <p:sp>
        <p:nvSpPr>
          <p:cNvPr id="271" name="Google Shape;271;p22"/>
          <p:cNvSpPr txBox="1"/>
          <p:nvPr/>
        </p:nvSpPr>
        <p:spPr>
          <a:xfrm>
            <a:off x="914400" y="45434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Suficiencia (Final Segunda):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caso de suspenso, se irá a examen global en Junio defendiendo de manera oral ante el profesorado todas las prácticas pendientes.</a:t>
            </a:r>
            <a:endParaRPr b="1" sz="1700"/>
          </a:p>
        </p:txBody>
      </p:sp>
      <p:pic>
        <p:nvPicPr>
          <p:cNvPr descr="image.png" id="272" name="Google Shape;272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260508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" y="32623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39195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" y="457676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2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Requisitos para Superar el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Módulo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56575"/>
            <a:ext cx="5324474" cy="371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156575"/>
            <a:ext cx="5324474" cy="371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3"/>
          <p:cNvSpPr txBox="1"/>
          <p:nvPr/>
        </p:nvSpPr>
        <p:spPr>
          <a:xfrm>
            <a:off x="1266825" y="600075"/>
            <a:ext cx="148188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Estrategias Didácticas</a:t>
            </a:r>
            <a:endParaRPr/>
          </a:p>
        </p:txBody>
      </p:sp>
      <p:sp>
        <p:nvSpPr>
          <p:cNvPr id="287" name="Google Shape;287;p23"/>
          <p:cNvSpPr txBox="1"/>
          <p:nvPr/>
        </p:nvSpPr>
        <p:spPr>
          <a:xfrm>
            <a:off x="876300" y="2432437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ABP: Herramienta CLI de Red</a:t>
            </a:r>
            <a:endParaRPr/>
          </a:p>
        </p:txBody>
      </p:sp>
      <p:sp>
        <p:nvSpPr>
          <p:cNvPr id="288" name="Google Shape;288;p23"/>
          <p:cNvSpPr txBox="1"/>
          <p:nvPr/>
        </p:nvSpPr>
        <p:spPr>
          <a:xfrm>
            <a:off x="876300" y="2945612"/>
            <a:ext cx="4734000" cy="17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Desarrollo secuencial de un proyecto de administración real: por ejemplo, una utilidad de consola en Python para auditar la red, interactuar con el sistema operativo y leer logs dinámicamente.</a:t>
            </a:r>
            <a:endParaRPr b="1" sz="1700"/>
          </a:p>
        </p:txBody>
      </p:sp>
      <p:sp>
        <p:nvSpPr>
          <p:cNvPr id="289" name="Google Shape;289;p23"/>
          <p:cNvSpPr txBox="1"/>
          <p:nvPr/>
        </p:nvSpPr>
        <p:spPr>
          <a:xfrm>
            <a:off x="876300" y="4723412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Combina bases de datos SQL y principios sólidos de POO para modelar la infraestructura de sistemas.</a:t>
            </a:r>
            <a:endParaRPr b="1" sz="1700"/>
          </a:p>
        </p:txBody>
      </p:sp>
      <p:sp>
        <p:nvSpPr>
          <p:cNvPr id="290" name="Google Shape;290;p23"/>
          <p:cNvSpPr txBox="1"/>
          <p:nvPr/>
        </p:nvSpPr>
        <p:spPr>
          <a:xfrm>
            <a:off x="6581775" y="2437687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Taller Práctico y Flipped</a:t>
            </a:r>
            <a:endParaRPr/>
          </a:p>
        </p:txBody>
      </p:sp>
      <p:sp>
        <p:nvSpPr>
          <p:cNvPr id="291" name="Google Shape;291;p23"/>
          <p:cNvSpPr txBox="1"/>
          <p:nvPr/>
        </p:nvSpPr>
        <p:spPr>
          <a:xfrm>
            <a:off x="6581775" y="2945612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Sintaxis y conceptos básicos delegados a píldoras de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vídeo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casa. El tiempo de clase se destina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especialmente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al laboratorio guiado, depuración y desarrollo activo.</a:t>
            </a:r>
            <a:endParaRPr b="1" sz="1700"/>
          </a:p>
        </p:txBody>
      </p:sp>
      <p:sp>
        <p:nvSpPr>
          <p:cNvPr id="292" name="Google Shape;292;p23"/>
          <p:cNvSpPr txBox="1"/>
          <p:nvPr/>
        </p:nvSpPr>
        <p:spPr>
          <a:xfrm>
            <a:off x="6629925" y="4635725"/>
            <a:ext cx="4874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Simulaciones de fallos: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Tareas con bugs introducidos intencionadamente para dominar el debugador (vuelcos de pila, KeyErrors, desbordamientos).</a:t>
            </a:r>
            <a:endParaRPr b="1" sz="1700"/>
          </a:p>
        </p:txBody>
      </p:sp>
      <p:sp>
        <p:nvSpPr>
          <p:cNvPr id="293" name="Google Shape;293;p23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de Trabajo en el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/>
          </a:p>
        </p:txBody>
      </p:sp>
      <p:sp>
        <p:nvSpPr>
          <p:cNvPr id="294" name="Google Shape;294;p23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9" name="Google Shape;29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0" name="Google Shape;30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4"/>
          <p:cNvSpPr txBox="1"/>
          <p:nvPr/>
        </p:nvSpPr>
        <p:spPr>
          <a:xfrm>
            <a:off x="1266825" y="600075"/>
            <a:ext cx="181838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Infraestructura Tecnológica</a:t>
            </a:r>
            <a:endParaRPr/>
          </a:p>
        </p:txBody>
      </p:sp>
      <p:sp>
        <p:nvSpPr>
          <p:cNvPr id="302" name="Google Shape;302;p24"/>
          <p:cNvSpPr txBox="1"/>
          <p:nvPr/>
        </p:nvSpPr>
        <p:spPr>
          <a:xfrm>
            <a:off x="914400" y="2011463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Requisito de Hardware: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Equipos del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y portátiles con soporte de virtualización, mínimo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16 GB de RAM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(crítico para ejecutar contenedores Docker y el IDE sin bloqueos) y disco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SSD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1" sz="1700"/>
          </a:p>
        </p:txBody>
      </p:sp>
      <p:sp>
        <p:nvSpPr>
          <p:cNvPr id="303" name="Google Shape;303;p24"/>
          <p:cNvSpPr txBox="1"/>
          <p:nvPr/>
        </p:nvSpPr>
        <p:spPr>
          <a:xfrm>
            <a:off x="914400" y="28289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Pila de Software Principal: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Intérprete oficial de Python 3.10+, Visual Studio Code / PyCharm como IDE unificado con extensiones de depuración, formateo y análisis estático (linters).</a:t>
            </a:r>
            <a:endParaRPr b="1" sz="1700"/>
          </a:p>
        </p:txBody>
      </p:sp>
      <p:sp>
        <p:nvSpPr>
          <p:cNvPr id="304" name="Google Shape;304;p24"/>
          <p:cNvSpPr txBox="1"/>
          <p:nvPr/>
        </p:nvSpPr>
        <p:spPr>
          <a:xfrm>
            <a:off x="914400" y="368617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Sistemas de Soporte de Código: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Utilización local y remota de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Git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para el control de versiones e interacción con el repositorio de entrega colaborativa GitHub.</a:t>
            </a:r>
            <a:endParaRPr b="1" sz="1700"/>
          </a:p>
        </p:txBody>
      </p:sp>
      <p:sp>
        <p:nvSpPr>
          <p:cNvPr id="305" name="Google Shape;305;p24"/>
          <p:cNvSpPr txBox="1"/>
          <p:nvPr/>
        </p:nvSpPr>
        <p:spPr>
          <a:xfrm>
            <a:off x="914400" y="45434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Entornos y Contenedores: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Entornos virtuales nativos (venv), gestores de paquetes (pip) y contenedores ligeros en Docker para simular servidores MySQL/PostgreSQL locales.</a:t>
            </a:r>
            <a:endParaRPr b="1" sz="1700"/>
          </a:p>
        </p:txBody>
      </p:sp>
      <p:pic>
        <p:nvPicPr>
          <p:cNvPr descr="image.png" id="306" name="Google Shape;30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204480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4838" y="367666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457676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4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Entorno de Desarrollo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Hardware</a:t>
            </a:r>
            <a:endParaRPr/>
          </a:p>
        </p:txBody>
      </p:sp>
      <p:sp>
        <p:nvSpPr>
          <p:cNvPr id="310" name="Google Shape;310;p24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5" name="Google Shape;31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6219825"/>
            <a:ext cx="52768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99509" y="6324600"/>
            <a:ext cx="25836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9525"/>
            <a:ext cx="58483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5"/>
          <p:cNvSpPr txBox="1"/>
          <p:nvPr/>
        </p:nvSpPr>
        <p:spPr>
          <a:xfrm>
            <a:off x="581025" y="1272328"/>
            <a:ext cx="554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Eficiencia de Algoritmos en CPDs</a:t>
            </a:r>
            <a:endParaRPr/>
          </a:p>
        </p:txBody>
      </p:sp>
      <p:sp>
        <p:nvSpPr>
          <p:cNvPr id="319" name="Google Shape;319;p25"/>
          <p:cNvSpPr txBox="1"/>
          <p:nvPr/>
        </p:nvSpPr>
        <p:spPr>
          <a:xfrm>
            <a:off x="581025" y="1779678"/>
            <a:ext cx="52770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 administrador de sistemas no solo escribe código para automatizar; también debe auditar la carga en el centro de datos.</a:t>
            </a:r>
            <a:endParaRPr b="1" sz="1800"/>
          </a:p>
        </p:txBody>
      </p:sp>
      <p:sp>
        <p:nvSpPr>
          <p:cNvPr id="320" name="Google Shape;320;p25"/>
          <p:cNvSpPr txBox="1"/>
          <p:nvPr/>
        </p:nvSpPr>
        <p:spPr>
          <a:xfrm>
            <a:off x="581025" y="2964339"/>
            <a:ext cx="52770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 diferencia en el consumo de recursos al optimizar algoritmos desde una complejidad temporal cuadrática a una logarítmica reduce de forma notable el uso de CPU.</a:t>
            </a:r>
            <a:endParaRPr b="1" sz="1800"/>
          </a:p>
        </p:txBody>
      </p:sp>
      <p:sp>
        <p:nvSpPr>
          <p:cNvPr id="321" name="Google Shape;321;p25"/>
          <p:cNvSpPr txBox="1"/>
          <p:nvPr/>
        </p:nvSpPr>
        <p:spPr>
          <a:xfrm>
            <a:off x="581025" y="4149030"/>
            <a:ext cx="5277000" cy="14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Esto se traduce en un menor consumo energético en los servidores de producción y una reducción directa de las necesidades de refrigeración térmica en los racks críticos del centro de datos.</a:t>
            </a:r>
            <a:endParaRPr b="1" sz="1800"/>
          </a:p>
        </p:txBody>
      </p:sp>
      <p:sp>
        <p:nvSpPr>
          <p:cNvPr id="322" name="Google Shape;322;p25"/>
          <p:cNvSpPr txBox="1"/>
          <p:nvPr/>
        </p:nvSpPr>
        <p:spPr>
          <a:xfrm>
            <a:off x="1123950" y="571500"/>
            <a:ext cx="178444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Green Computing y Sostenibilidad</a:t>
            </a:r>
            <a:endParaRPr/>
          </a:p>
        </p:txBody>
      </p:sp>
      <p:pic>
        <p:nvPicPr>
          <p:cNvPr descr="informático trabajando en un cpd" id="323" name="Google Shape;323;p25"/>
          <p:cNvPicPr preferRelativeResize="0"/>
          <p:nvPr/>
        </p:nvPicPr>
        <p:blipFill rotWithShape="1">
          <a:blip r:embed="rId6">
            <a:alphaModFix/>
          </a:blip>
          <a:srcRect b="0" l="0" r="7621" t="0"/>
          <a:stretch/>
        </p:blipFill>
        <p:spPr>
          <a:xfrm>
            <a:off x="6334125" y="9525"/>
            <a:ext cx="5848349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5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9" name="Google Shape;32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61526" y="6257925"/>
            <a:ext cx="3494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969547"/>
            <a:ext cx="5324474" cy="3483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38" y="1969550"/>
            <a:ext cx="5324474" cy="3409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6"/>
          <p:cNvSpPr txBox="1"/>
          <p:nvPr/>
        </p:nvSpPr>
        <p:spPr>
          <a:xfrm>
            <a:off x="1266825" y="600075"/>
            <a:ext cx="147592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Coordinación Docente</a:t>
            </a:r>
            <a:endParaRPr/>
          </a:p>
        </p:txBody>
      </p:sp>
      <p:sp>
        <p:nvSpPr>
          <p:cNvPr id="334" name="Google Shape;334;p26"/>
          <p:cNvSpPr txBox="1"/>
          <p:nvPr/>
        </p:nvSpPr>
        <p:spPr>
          <a:xfrm>
            <a:off x="876300" y="2730612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 establece **Python 3.x** como lenguaje estándar unificado para el desarrollo de módulos optativos en el ciclo de ASIR, usando **VS Code** como editor común.</a:t>
            </a:r>
            <a:endParaRPr b="1" sz="1700"/>
          </a:p>
        </p:txBody>
      </p:sp>
      <p:sp>
        <p:nvSpPr>
          <p:cNvPr id="335" name="Google Shape;335;p26"/>
          <p:cNvSpPr txBox="1"/>
          <p:nvPr/>
        </p:nvSpPr>
        <p:spPr>
          <a:xfrm>
            <a:off x="876300" y="4297687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 obligatorio el uso sistemático de **Git** como sistema de versiones, excluyendo la carpeta `.venv/` en el `.gitignore` de todas las tareas.</a:t>
            </a:r>
            <a:endParaRPr b="1" sz="1700"/>
          </a:p>
        </p:txBody>
      </p:sp>
      <p:sp>
        <p:nvSpPr>
          <p:cNvPr id="336" name="Google Shape;336;p26"/>
          <p:cNvSpPr txBox="1"/>
          <p:nvPr/>
        </p:nvSpPr>
        <p:spPr>
          <a:xfrm>
            <a:off x="6581775" y="2755849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 asignación del alumnado a las plazas de empresas concertadas se basará estrictamente en el rendimiento académico de los dos primeros trimestres del módulo presencial.</a:t>
            </a:r>
            <a:endParaRPr b="1" sz="1700"/>
          </a:p>
        </p:txBody>
      </p:sp>
      <p:sp>
        <p:nvSpPr>
          <p:cNvPr id="337" name="Google Shape;337;p26"/>
          <p:cNvSpPr txBox="1"/>
          <p:nvPr/>
        </p:nvSpPr>
        <p:spPr>
          <a:xfrm>
            <a:off x="6581775" y="4348162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 exige un mínimo controlado de asistencia a clase del 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95%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y actitud colaborativa en el portafolio de Moodle Centros.</a:t>
            </a:r>
            <a:endParaRPr b="1" sz="1700"/>
          </a:p>
        </p:txBody>
      </p:sp>
      <p:sp>
        <p:nvSpPr>
          <p:cNvPr id="338" name="Google Shape;338;p26"/>
          <p:cNvSpPr txBox="1"/>
          <p:nvPr/>
        </p:nvSpPr>
        <p:spPr>
          <a:xfrm>
            <a:off x="581025" y="1019175"/>
            <a:ext cx="115815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Acuerdos del Departamento de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Informática</a:t>
            </a:r>
            <a:endParaRPr/>
          </a:p>
        </p:txBody>
      </p:sp>
      <p:sp>
        <p:nvSpPr>
          <p:cNvPr id="339" name="Google Shape;339;p26"/>
          <p:cNvSpPr txBox="1"/>
          <p:nvPr/>
        </p:nvSpPr>
        <p:spPr>
          <a:xfrm>
            <a:off x="876300" y="2283125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Estándares de Codificación</a:t>
            </a:r>
            <a:endParaRPr/>
          </a:p>
        </p:txBody>
      </p:sp>
      <p:sp>
        <p:nvSpPr>
          <p:cNvPr id="340" name="Google Shape;340;p26"/>
          <p:cNvSpPr txBox="1"/>
          <p:nvPr/>
        </p:nvSpPr>
        <p:spPr>
          <a:xfrm>
            <a:off x="6581775" y="2283125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Baremo de Estancia Dual</a:t>
            </a:r>
            <a:endParaRPr/>
          </a:p>
        </p:txBody>
      </p:sp>
      <p:sp>
        <p:nvSpPr>
          <p:cNvPr id="341" name="Google Shape;341;p26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6" name="Google Shape;34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7" name="Google Shape;34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8" name="Google Shape;348;p27"/>
          <p:cNvGrpSpPr/>
          <p:nvPr/>
        </p:nvGrpSpPr>
        <p:grpSpPr>
          <a:xfrm>
            <a:off x="581025" y="1714500"/>
            <a:ext cx="11030100" cy="3333900"/>
            <a:chOff x="581025" y="1714500"/>
            <a:chExt cx="11030100" cy="3333900"/>
          </a:xfrm>
        </p:grpSpPr>
        <p:sp>
          <p:nvSpPr>
            <p:cNvPr id="349" name="Google Shape;349;p27"/>
            <p:cNvSpPr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7"/>
            <p:cNvSpPr txBox="1"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429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Puestos fijos: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Mantener siempre el mismo lugar asignado.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responsable: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Cuidar el equipamiento y los recursos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Incidencias: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Avisar inmediatamente de cualquier fallo o anomalía.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Copias de seguridad: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Responsabilidad del alumno sobre sus máquinas virtuales.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portátiles: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Permitido únicamente para fines académicos bajo supervisión.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móviles: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b="1" lang="en-US" sz="1800">
                  <a:solidFill>
                    <a:srgbClr val="DC2626"/>
                  </a:solidFill>
                  <a:latin typeface="Poppins"/>
                  <a:ea typeface="Poppins"/>
                  <a:cs typeface="Poppins"/>
                  <a:sym typeface="Poppins"/>
                </a:rPr>
                <a:t>PROHIBIDO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durante toda la sesión lectiva.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Entrada / Salida: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Respetar los turnos y el orden al entrar o salir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351" name="Google Shape;351;p27"/>
          <p:cNvSpPr txBox="1"/>
          <p:nvPr/>
        </p:nvSpPr>
        <p:spPr>
          <a:xfrm>
            <a:off x="1266825" y="600075"/>
            <a:ext cx="5715000" cy="4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36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en el </a:t>
            </a:r>
            <a:r>
              <a:rPr b="0" i="0" lang="en-US" sz="2636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 b="0" i="0" sz="2636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descr="utiliza iconos en la lista" id="352" name="Google Shape;352;p27"/>
          <p:cNvPicPr preferRelativeResize="0"/>
          <p:nvPr/>
        </p:nvPicPr>
        <p:blipFill rotWithShape="1">
          <a:blip r:embed="rId5">
            <a:alphaModFix/>
          </a:blip>
          <a:srcRect b="21559" l="2065" r="92103" t="25196"/>
          <a:stretch/>
        </p:blipFill>
        <p:spPr>
          <a:xfrm>
            <a:off x="314625" y="1816050"/>
            <a:ext cx="592000" cy="3016699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27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8" name="Google Shape;35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9" name="Google Shape;359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28"/>
          <p:cNvSpPr txBox="1"/>
          <p:nvPr/>
        </p:nvSpPr>
        <p:spPr>
          <a:xfrm>
            <a:off x="305251" y="1815962"/>
            <a:ext cx="11581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¿Preguntas o Comentarios?</a:t>
            </a:r>
            <a:endParaRPr/>
          </a:p>
        </p:txBody>
      </p:sp>
      <p:sp>
        <p:nvSpPr>
          <p:cNvPr id="361" name="Google Shape;361;p28"/>
          <p:cNvSpPr txBox="1"/>
          <p:nvPr/>
        </p:nvSpPr>
        <p:spPr>
          <a:xfrm>
            <a:off x="489450" y="2837312"/>
            <a:ext cx="110301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Toda la documentación teórica, foros de soporte e hitos de entrega de tareas semanales están disponibles en el aula oficial.</a:t>
            </a:r>
            <a:endParaRPr b="1"/>
          </a:p>
        </p:txBody>
      </p:sp>
      <p:sp>
        <p:nvSpPr>
          <p:cNvPr id="362" name="Google Shape;362;p28"/>
          <p:cNvSpPr txBox="1"/>
          <p:nvPr/>
        </p:nvSpPr>
        <p:spPr>
          <a:xfrm>
            <a:off x="1266825" y="600075"/>
            <a:ext cx="1245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Dudas y Consultas</a:t>
            </a:r>
            <a:endParaRPr/>
          </a:p>
        </p:txBody>
      </p:sp>
      <p:pic>
        <p:nvPicPr>
          <p:cNvPr descr="image.png" id="363" name="Google Shape;363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02250" y="4011200"/>
            <a:ext cx="28174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05375" y="3996625"/>
            <a:ext cx="252180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24750" y="3996625"/>
            <a:ext cx="295380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096650" y="42442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8"/>
          <p:cNvSpPr txBox="1"/>
          <p:nvPr/>
        </p:nvSpPr>
        <p:spPr>
          <a:xfrm>
            <a:off x="2220826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CORREO ELECTRÓNICO</a:t>
            </a:r>
            <a:endParaRPr/>
          </a:p>
        </p:txBody>
      </p:sp>
      <p:sp>
        <p:nvSpPr>
          <p:cNvPr id="368" name="Google Shape;368;p28"/>
          <p:cNvSpPr txBox="1"/>
          <p:nvPr/>
        </p:nvSpPr>
        <p:spPr>
          <a:xfrm>
            <a:off x="1897800" y="4863175"/>
            <a:ext cx="2521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jsansan766@g.educaand.es</a:t>
            </a:r>
            <a:endParaRPr sz="1700"/>
          </a:p>
        </p:txBody>
      </p:sp>
      <p:pic>
        <p:nvPicPr>
          <p:cNvPr descr="image.png" id="369" name="Google Shape;369;p2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53125" y="4244280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8"/>
          <p:cNvSpPr txBox="1"/>
          <p:nvPr/>
        </p:nvSpPr>
        <p:spPr>
          <a:xfrm>
            <a:off x="5105876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AULA VIRTUAL</a:t>
            </a:r>
            <a:endParaRPr/>
          </a:p>
        </p:txBody>
      </p:sp>
      <p:sp>
        <p:nvSpPr>
          <p:cNvPr id="371" name="Google Shape;371;p28"/>
          <p:cNvSpPr txBox="1"/>
          <p:nvPr/>
        </p:nvSpPr>
        <p:spPr>
          <a:xfrm>
            <a:off x="5086200" y="4863175"/>
            <a:ext cx="2219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Moodle Centros Almería</a:t>
            </a:r>
            <a:endParaRPr sz="1700"/>
          </a:p>
        </p:txBody>
      </p:sp>
      <p:pic>
        <p:nvPicPr>
          <p:cNvPr descr="image.png" id="372" name="Google Shape;372;p2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29650" y="424428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8"/>
          <p:cNvSpPr txBox="1"/>
          <p:nvPr/>
        </p:nvSpPr>
        <p:spPr>
          <a:xfrm>
            <a:off x="7725251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UBICACIÓN FÍSICA</a:t>
            </a:r>
            <a:endParaRPr/>
          </a:p>
        </p:txBody>
      </p:sp>
      <p:sp>
        <p:nvSpPr>
          <p:cNvPr id="374" name="Google Shape;374;p28"/>
          <p:cNvSpPr txBox="1"/>
          <p:nvPr/>
        </p:nvSpPr>
        <p:spPr>
          <a:xfrm>
            <a:off x="7772400" y="4834825"/>
            <a:ext cx="244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 XXX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• IES Celia Viñas</a:t>
            </a:r>
            <a:endParaRPr sz="1700"/>
          </a:p>
        </p:txBody>
      </p:sp>
      <p:sp>
        <p:nvSpPr>
          <p:cNvPr id="375" name="Google Shape;375;p28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