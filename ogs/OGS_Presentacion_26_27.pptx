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Lato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21C4AF-B36C-4C85-9D4C-A3037E6F9703}">
  <a:tblStyle styleId="{BD21C4AF-B36C-4C85-9D4C-A3037E6F97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86f0ed9dd_4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e86f0ed9dd_4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857d8494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857d8494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" title="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6400" y="133558"/>
            <a:ext cx="665900" cy="88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(g3e86f0ed9dd_32_0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86f0ed9dd_51_0)">
  <p:cSld name="Generated (g3e86f0ed9dd_51_0)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4.jp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42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7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Relationship Id="rId7" Type="http://schemas.openxmlformats.org/officeDocument/2006/relationships/image" Target="../media/image47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Relationship Id="rId5" Type="http://schemas.openxmlformats.org/officeDocument/2006/relationships/image" Target="../media/image35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7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4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5" Type="http://schemas.openxmlformats.org/officeDocument/2006/relationships/image" Target="../media/image35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7.png"/><Relationship Id="rId5" Type="http://schemas.openxmlformats.org/officeDocument/2006/relationships/image" Target="../media/image48.jp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7.png"/><Relationship Id="rId9" Type="http://schemas.openxmlformats.org/officeDocument/2006/relationships/image" Target="../media/image50.png"/><Relationship Id="rId5" Type="http://schemas.openxmlformats.org/officeDocument/2006/relationships/image" Target="../media/image52.png"/><Relationship Id="rId6" Type="http://schemas.openxmlformats.org/officeDocument/2006/relationships/image" Target="../media/image49.png"/><Relationship Id="rId7" Type="http://schemas.openxmlformats.org/officeDocument/2006/relationships/image" Target="../media/image53.png"/><Relationship Id="rId8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226751" y="1888082"/>
            <a:ext cx="1158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 a la Programación 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Estructuras de Datos con </a:t>
            </a:r>
            <a:r>
              <a:rPr b="0" i="0" lang="en-US" sz="36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1969300" y="3612105"/>
            <a:ext cx="8096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Presentación de inicio del curso para el alumnado de </a:t>
            </a:r>
            <a:r>
              <a:rPr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2º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ASIR. </a:t>
            </a:r>
            <a:endParaRPr b="0" i="0" sz="135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Planificación didáctica, alternancia dual y criterios de calificación para el curso 2026/2027.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581025" y="6296025"/>
            <a:ext cx="359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Optativo • Curso Académico 2026/2027</a:t>
            </a:r>
            <a:endParaRPr sz="1700"/>
          </a:p>
        </p:txBody>
      </p:sp>
      <p:sp>
        <p:nvSpPr>
          <p:cNvPr id="95" name="Google Shape;95;p15"/>
          <p:cNvSpPr txBox="1"/>
          <p:nvPr/>
        </p:nvSpPr>
        <p:spPr>
          <a:xfrm>
            <a:off x="1266825" y="600075"/>
            <a:ext cx="290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IES Celia Viñas | Dpto. Informática (Almería)</a:t>
            </a:r>
            <a:endParaRPr/>
          </a:p>
        </p:txBody>
      </p:sp>
      <p:pic>
        <p:nvPicPr>
          <p:cNvPr descr="image.png" id="96" name="Google Shape;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5450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43387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325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9262" y="4491746"/>
            <a:ext cx="2357437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9393" y="4644146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196534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CARGA HORARIA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247850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Horas Semanales</a:t>
            </a:r>
            <a:endParaRPr sz="1700"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8756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3744471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CICLO PROFESIONAL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795787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2º ASIR </a:t>
            </a:r>
            <a:endParaRPr sz="1700"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36693" y="4644146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292409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CENTRO EDUCATIVO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43725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IES Celia Viñas</a:t>
            </a:r>
            <a:endParaRPr sz="1700"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27493" y="464414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840346" y="4929896"/>
            <a:ext cx="2155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DOCENTE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891662" y="5168021"/>
            <a:ext cx="205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J. Simón Sánchez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0312"/>
            <a:ext cx="53244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00312"/>
            <a:ext cx="53244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81025" y="6296025"/>
            <a:ext cx="2959744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2º ASIR • Administración de Sistemas Informáticos en Red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266825" y="600075"/>
            <a:ext cx="190232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Contextualización Normativa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27955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Legislativa Oficial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3205162"/>
            <a:ext cx="473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Módulo adaptado al **Decreto 165/2024** de ordenación de la FP en Andalucía y regulado bajo la **Ley Orgánica 3/2022**.</a:t>
            </a:r>
            <a:endParaRPr sz="1600"/>
          </a:p>
        </p:txBody>
      </p:sp>
      <p:sp>
        <p:nvSpPr>
          <p:cNvPr id="124" name="Google Shape;124;p16"/>
          <p:cNvSpPr txBox="1"/>
          <p:nvPr/>
        </p:nvSpPr>
        <p:spPr>
          <a:xfrm>
            <a:off x="6581775" y="2795587"/>
            <a:ext cx="497062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Horaria del Curso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581775" y="3205162"/>
            <a:ext cx="47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Carga semanal: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 Horas Lectivas.</a:t>
            </a:r>
            <a:endParaRPr sz="1700"/>
          </a:p>
        </p:txBody>
      </p:sp>
      <p:sp>
        <p:nvSpPr>
          <p:cNvPr id="126" name="Google Shape;126;p16"/>
          <p:cNvSpPr txBox="1"/>
          <p:nvPr/>
        </p:nvSpPr>
        <p:spPr>
          <a:xfrm>
            <a:off x="6581775" y="3576637"/>
            <a:ext cx="4734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Horas totales: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96 horas de currículo.</a:t>
            </a:r>
            <a:endParaRPr sz="1700"/>
          </a:p>
        </p:txBody>
      </p:sp>
      <p:sp>
        <p:nvSpPr>
          <p:cNvPr id="127" name="Google Shape;127;p16"/>
          <p:cNvSpPr txBox="1"/>
          <p:nvPr/>
        </p:nvSpPr>
        <p:spPr>
          <a:xfrm>
            <a:off x="6581775" y="3948100"/>
            <a:ext cx="4818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Horas presenciales en Centro: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72 horas concentradas en el 1º y 2º Trimestre antes de la alternancia dual general.</a:t>
            </a:r>
            <a:endParaRPr sz="1700"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Marco de Referencia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Carga Horaria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6296025"/>
            <a:ext cx="315768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Estructura curricular según programación oficial Séneca 26/27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266825" y="600075"/>
            <a:ext cx="117901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Currículo Técnico</a:t>
            </a:r>
            <a:endParaRPr/>
          </a:p>
        </p:txBody>
      </p:sp>
      <p:graphicFrame>
        <p:nvGraphicFramePr>
          <p:cNvPr id="137" name="Google Shape;137;p17"/>
          <p:cNvGraphicFramePr/>
          <p:nvPr/>
        </p:nvGraphicFramePr>
        <p:xfrm>
          <a:off x="581025" y="2371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{BD21C4AF-B36C-4C85-9D4C-A3037E6F9703}</a:tableStyleId>
              </a:tblPr>
              <a:tblGrid>
                <a:gridCol w="1102975"/>
                <a:gridCol w="8272450"/>
                <a:gridCol w="1654525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Resultado de Aprendizaje (Normativa Oficial)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Peso en Séneca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Análisis de problemas, pensamiento computacional y algoritmos lógicos básicos.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RA2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Programación estructurada, funciones, modularización y ficheros lógicos en Python.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RA3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Diseño y programación de objetos (POO), encapsulamiento, herencia y excepciones.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RA4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Estructuras de datos lineales y no lineales, arrays y análisis de eficiencia (Big-O).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Entornos integrados de depuración, pruebas unitarias y Git colaborativo.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596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10%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7"/>
          <p:cNvSpPr/>
          <p:nvPr/>
        </p:nvSpPr>
        <p:spPr>
          <a:xfrm>
            <a:off x="581025" y="28622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1683990" y="286226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9956452" y="286226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81025" y="33670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1683990" y="336708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956452" y="336708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387191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683990" y="387191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9956452" y="387191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1025" y="437673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683990" y="437673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956452" y="437673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1025" y="48815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683990" y="4881562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9956452" y="4881562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1025" y="53863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683990" y="5386387"/>
            <a:ext cx="82724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9956452" y="5386387"/>
            <a:ext cx="16545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de Aprendizaje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Ponderaciones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81025" y="6296025"/>
            <a:ext cx="40829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Horas Presenciales en Centro: 72 horas. Tercer trimestre destinado a Dual.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266825" y="600075"/>
            <a:ext cx="1461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Distribución Temporal</a:t>
            </a:r>
            <a:endParaRPr/>
          </a:p>
        </p:txBody>
      </p:sp>
      <p:graphicFrame>
        <p:nvGraphicFramePr>
          <p:cNvPr id="165" name="Google Shape;165;p18"/>
          <p:cNvGraphicFramePr/>
          <p:nvPr/>
        </p:nvGraphicFramePr>
        <p:xfrm>
          <a:off x="581025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{BD21C4AF-B36C-4C85-9D4C-A3037E6F9703}</a:tableStyleId>
              </a:tblPr>
              <a:tblGrid>
                <a:gridCol w="1102975"/>
                <a:gridCol w="6621925"/>
                <a:gridCol w="890950"/>
                <a:gridCol w="2414100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U.T.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Unidad de Trabajo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Horas 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3A8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Período Estimado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UT1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Lógica de programación, algoritmia y pensamiento computacional (RA1).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Sep - 10 Oct 2026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UT2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Programación estructurada, modularidad y ficheros en Python (RA2).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 Oct - 30 Nov 2026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UT3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Arrays, colecciones de datos lineales, diccionarios y Big-O (RA4).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Dic 2026 - 22 Ene 2027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UT4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Paradigma de programación orientada a objetos (POO) y excepciones (RA3).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 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 Ene - 23 Feb 2027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UT5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Entornos de desarrollo, control de versiones (Git) y testing (RA5).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horas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 Feb - 12 Mar 2027</a:t>
                      </a:r>
                      <a:endParaRPr sz="17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8"/>
          <p:cNvSpPr/>
          <p:nvPr/>
        </p:nvSpPr>
        <p:spPr>
          <a:xfrm>
            <a:off x="581025" y="27479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683990" y="274796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198965" y="274796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853338" y="274796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81025" y="32527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683990" y="325278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198965" y="325278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853338" y="325278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81025" y="375761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683990" y="375761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198965" y="375761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853338" y="375761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81025" y="426243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683990" y="426243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198965" y="426243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853338" y="426243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81025" y="4995862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683990" y="4995862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198965" y="4995862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53338" y="4995862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81025" y="5500687"/>
            <a:ext cx="11029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1683990" y="5500687"/>
            <a:ext cx="55149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198965" y="5500687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8853338" y="5500687"/>
            <a:ext cx="2757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Secuenciación de Unidades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Calendario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81025" y="6296025"/>
            <a:ext cx="339000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Estancia de Alternancia Dual (3º Trimestre): 400 horas en empresa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66825" y="600075"/>
            <a:ext cx="203611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Formación en Alternancia Dual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14400" y="2076450"/>
            <a:ext cx="579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Criterio de Evaluación Dualizado: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ha seleccionado un único CE para la alternancia laboral (RA5 - CE a): "Uso de herramientas de depuración integradas (debuggers)".</a:t>
            </a:r>
            <a:endParaRPr sz="1700"/>
          </a:p>
        </p:txBody>
      </p:sp>
      <p:sp>
        <p:nvSpPr>
          <p:cNvPr id="200" name="Google Shape;200;p19"/>
          <p:cNvSpPr txBox="1"/>
          <p:nvPr/>
        </p:nvSpPr>
        <p:spPr>
          <a:xfrm>
            <a:off x="914400" y="3264700"/>
            <a:ext cx="499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Actividad Práctica Real: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Depuración y análisis de scripts del entorno laboral (Python, Bash o PowerShell) utilizados para backups, logs o automatizaciones.</a:t>
            </a:r>
            <a:endParaRPr sz="1700"/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4452938"/>
            <a:ext cx="4991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Alineamiento Profesional: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Inspeccionar variables y trazas de ejecución en el IDE de la empresa (p. ej. VS Code) para resolver bugs e integrar control de excepciones robusto.</a:t>
            </a:r>
            <a:endParaRPr sz="1700"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1950" y="21796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950" y="3338525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8150" y="4564862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Actuación y Criterio Técnico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 la Empresa</a:t>
            </a:r>
            <a:endParaRPr/>
          </a:p>
        </p:txBody>
      </p:sp>
      <p:pic>
        <p:nvPicPr>
          <p:cNvPr descr="empresa con empleados trabajando en una sala con sus puestos de trabajo con ordenadores" id="206" name="Google Shape;20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700" y="2447000"/>
            <a:ext cx="4497000" cy="30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7000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975" y="2505075"/>
            <a:ext cx="3517850" cy="328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81025" y="6296025"/>
            <a:ext cx="366623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Ponderación integrada directamente en el calificador de Moodle Centros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266825" y="600075"/>
            <a:ext cx="143455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Curricular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28675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 de Código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828675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28675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Controles e hitos de programación individuales realizados directamente en los equipos del taller.</a:t>
            </a:r>
            <a:endParaRPr sz="1600"/>
          </a:p>
        </p:txBody>
      </p:sp>
      <p:sp>
        <p:nvSpPr>
          <p:cNvPr id="221" name="Google Shape;221;p20"/>
          <p:cNvSpPr txBox="1"/>
          <p:nvPr/>
        </p:nvSpPr>
        <p:spPr>
          <a:xfrm>
            <a:off x="4584650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Tareas en Moodle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584650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59669"/>
                </a:solidFill>
                <a:latin typeface="Lato"/>
                <a:ea typeface="Lato"/>
                <a:cs typeface="Lato"/>
                <a:sym typeface="Lato"/>
              </a:rPr>
              <a:t>30%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584650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Laboratorios sistemáticos obligatorios entregados semanalmente con código estructurado y depurado.</a:t>
            </a:r>
            <a:endParaRPr sz="1600"/>
          </a:p>
        </p:txBody>
      </p:sp>
      <p:sp>
        <p:nvSpPr>
          <p:cNvPr id="224" name="Google Shape;224;p20"/>
          <p:cNvSpPr txBox="1"/>
          <p:nvPr/>
        </p:nvSpPr>
        <p:spPr>
          <a:xfrm>
            <a:off x="8340625" y="3295650"/>
            <a:ext cx="317367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Foros y Actitud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40625" y="3638550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10%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340625" y="4133850"/>
            <a:ext cx="30225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Participación activa resolviendo dudas de compañeros de forma colaborativa en los hilos de Moodle Centros.</a:t>
            </a:r>
            <a:endParaRPr sz="1600"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4650" y="277177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40625" y="277177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81025" y="1019175"/>
            <a:ext cx="1158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 de Calificación RA e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Instrumentos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 rotWithShape="1">
          <a:blip r:embed="rId4">
            <a:alphaModFix/>
          </a:blip>
          <a:srcRect b="30" l="0" r="0" t="40"/>
          <a:stretch/>
        </p:blipFill>
        <p:spPr>
          <a:xfrm>
            <a:off x="146399" y="133540"/>
            <a:ext cx="665700" cy="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1266825" y="600075"/>
            <a:ext cx="285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Evaluación Curricular</a:t>
            </a:r>
            <a:endParaRPr b="0" sz="1050">
              <a:solidFill>
                <a:srgbClr val="1E3A8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1019175"/>
            <a:ext cx="1103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5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Cálculo de Calificaciones y </a:t>
            </a:r>
            <a:r>
              <a:rPr b="0" lang="en-US" sz="2850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Fórmulas Finales</a:t>
            </a:r>
            <a:endParaRPr b="0" sz="285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40" name="Google Shape;240;p21"/>
          <p:cNvGrpSpPr/>
          <p:nvPr/>
        </p:nvGrpSpPr>
        <p:grpSpPr>
          <a:xfrm>
            <a:off x="581025" y="1714500"/>
            <a:ext cx="5334000" cy="1905000"/>
            <a:chOff x="0" y="0"/>
            <a:chExt cx="5334000" cy="1905000"/>
          </a:xfrm>
        </p:grpSpPr>
        <p:sp>
          <p:nvSpPr>
            <p:cNvPr id="241" name="Google Shape;241;p21"/>
            <p:cNvSpPr/>
            <p:nvPr/>
          </p:nvSpPr>
          <p:spPr>
            <a:xfrm>
              <a:off x="0" y="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238125" y="190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Calificación Trimestral (1ºT / 2ºT)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43" name="Google Shape;243;p21"/>
            <p:cNvSpPr txBox="1"/>
            <p:nvPr/>
          </p:nvSpPr>
          <p:spPr>
            <a:xfrm>
              <a:off x="238125" y="57150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Media ponderada de los Resultados de Aprendizaje (RA) impartidos en el periodo según los instrumentos.</a:t>
              </a:r>
              <a:endParaRPr b="0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238125" y="1190625"/>
              <a:ext cx="48579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238125" y="1190625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Nota_T = Σ (Nota_RA_i × Peso_RA_i)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46" name="Google Shape;246;p21"/>
          <p:cNvGrpSpPr/>
          <p:nvPr/>
        </p:nvGrpSpPr>
        <p:grpSpPr>
          <a:xfrm>
            <a:off x="6286500" y="1714500"/>
            <a:ext cx="5334000" cy="1905000"/>
            <a:chOff x="0" y="0"/>
            <a:chExt cx="5334000" cy="1905000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53340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238125" y="19050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Evaluación Final </a:t>
              </a:r>
              <a:r>
                <a:rPr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Primera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49" name="Google Shape;249;p21"/>
            <p:cNvSpPr txBox="1"/>
            <p:nvPr/>
          </p:nvSpPr>
          <p:spPr>
            <a:xfrm>
              <a:off x="238125" y="571500"/>
              <a:ext cx="4857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Integración de la formación en centro con el 20% de la valoración Dual en los RAs seleccionados (RA5).</a:t>
              </a:r>
              <a:endParaRPr b="0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238125" y="1190625"/>
              <a:ext cx="4857900" cy="476400"/>
            </a:xfrm>
            <a:prstGeom prst="roundRect">
              <a:avLst>
                <a:gd fmla="val 12000" name="adj"/>
              </a:avLst>
            </a:prstGeom>
            <a:solidFill>
              <a:srgbClr val="ECFDF5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238125" y="1190625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Final_Ord = Σ (RA_Centro × 0.8 + Dual × 0.2)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581025" y="3810000"/>
            <a:ext cx="11039400" cy="2095500"/>
            <a:chOff x="0" y="0"/>
            <a:chExt cx="11039400" cy="2095500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0"/>
              <a:ext cx="11039400" cy="2095500"/>
            </a:xfrm>
            <a:prstGeom prst="roundRect">
              <a:avLst>
                <a:gd fmla="val 5454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238125" y="190500"/>
              <a:ext cx="1047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Evaluación Final Segunda</a:t>
              </a:r>
              <a:endParaRPr b="0" sz="165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238125" y="571500"/>
              <a:ext cx="5143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Para el alumnado con RAs suspensos (&lt; 5) o pérdida de evaluación continua.</a:t>
              </a:r>
              <a:endParaRPr b="0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1. Prueba global de RAs suspensos.</a:t>
              </a:r>
              <a:endParaRPr b="0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2. Entrega y defensa de prácticas Moodle.</a:t>
              </a:r>
              <a:endParaRPr b="0" sz="13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5619750" y="666750"/>
              <a:ext cx="5143500" cy="1143000"/>
            </a:xfrm>
            <a:prstGeom prst="roundRect">
              <a:avLst>
                <a:gd fmla="val 5000" name="adj"/>
              </a:avLst>
            </a:prstGeom>
            <a:solidFill>
              <a:srgbClr val="FFF7ED"/>
            </a:solidFill>
            <a:ln cap="flat" cmpd="sng" w="9525">
              <a:solidFill>
                <a:srgbClr val="F973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1"/>
            <p:cNvSpPr txBox="1"/>
            <p:nvPr/>
          </p:nvSpPr>
          <p:spPr>
            <a:xfrm>
              <a:off x="5619750" y="66675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Nota_RA_Final = Max(Prueba_Sufic, Nota_Orig)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Final_Ext = Σ (Nota_RA_Final_i × Peso_RA_i)</a:t>
              </a:r>
              <a:endParaRPr b="1" sz="148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58" name="Google Shape;258;p21"/>
          <p:cNvPicPr preferRelativeResize="0"/>
          <p:nvPr/>
        </p:nvPicPr>
        <p:blipFill rotWithShape="1">
          <a:blip r:embed="rId5">
            <a:alphaModFix/>
          </a:blip>
          <a:srcRect b="0" l="90" r="80" t="0"/>
          <a:stretch/>
        </p:blipFill>
        <p:spPr>
          <a:xfrm>
            <a:off x="581025" y="6105525"/>
            <a:ext cx="110301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581025" y="6296025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Cálculos automáticos según pesos oficiales de Séneca y normativa andaluza 2026/2027</a:t>
            </a:r>
            <a:endParaRPr b="0" sz="90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21"/>
          <p:cNvPicPr preferRelativeResize="0"/>
          <p:nvPr/>
        </p:nvPicPr>
        <p:blipFill rotWithShape="1">
          <a:blip r:embed="rId6">
            <a:alphaModFix/>
          </a:blip>
          <a:srcRect b="0" l="923" r="923" t="0"/>
          <a:stretch/>
        </p:blipFill>
        <p:spPr>
          <a:xfrm>
            <a:off x="11254740" y="6257925"/>
            <a:ext cx="355200" cy="2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581025" y="6296025"/>
            <a:ext cx="413027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Control unificado según acuerdo de coordinación de departamento de informática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1266825" y="600075"/>
            <a:ext cx="12827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 del Módulo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914400" y="2571750"/>
            <a:ext cx="106965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Nota Mínima por Bloque: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requiere obtener obligatoriamente una calificación </a:t>
            </a: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&gt;= 5.0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tanto en las pruebas de código como en las tareas prácticas de Moodle.</a:t>
            </a:r>
            <a:endParaRPr sz="1600"/>
          </a:p>
        </p:txBody>
      </p:sp>
      <p:sp>
        <p:nvSpPr>
          <p:cNvPr id="270" name="Google Shape;270;p22"/>
          <p:cNvSpPr txBox="1"/>
          <p:nvPr/>
        </p:nvSpPr>
        <p:spPr>
          <a:xfrm>
            <a:off x="914400" y="3228975"/>
            <a:ext cx="106965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Sin Recuperaciones Parciales: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ser evaluación continua de código incremental, el progreso se mide de forma global a través de entregas consecutivas en Moodle Centros.</a:t>
            </a:r>
            <a:endParaRPr sz="1600"/>
          </a:p>
        </p:txBody>
      </p:sp>
      <p:sp>
        <p:nvSpPr>
          <p:cNvPr id="271" name="Google Shape;271;p22"/>
          <p:cNvSpPr txBox="1"/>
          <p:nvPr/>
        </p:nvSpPr>
        <p:spPr>
          <a:xfrm>
            <a:off x="914400" y="3886200"/>
            <a:ext cx="106965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Pérdida de Evaluación Continua: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Superar el </a:t>
            </a: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15% de faltas sin justificar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(11 horas lectivas) invalida el derecho a entregas y obliga a realizar una prueba global en la Convocatoria de Suficiencia.</a:t>
            </a:r>
            <a:endParaRPr sz="1600"/>
          </a:p>
        </p:txBody>
      </p:sp>
      <p:sp>
        <p:nvSpPr>
          <p:cNvPr id="272" name="Google Shape;272;p22"/>
          <p:cNvSpPr txBox="1"/>
          <p:nvPr/>
        </p:nvSpPr>
        <p:spPr>
          <a:xfrm>
            <a:off x="914400" y="4543425"/>
            <a:ext cx="106965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Suficiencia (Final Segunda):</a:t>
            </a:r>
            <a:r>
              <a:rPr b="0" i="0" lang="en-US" sz="15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caso de suspenso, se irá a examen global en Junio defendiendo de manera oral ante el profesorado todas las prácticas pendientes.</a:t>
            </a:r>
            <a:endParaRPr sz="1600"/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26050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32623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3919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" y="45767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Requisitos para Superar el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Módulo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56575"/>
            <a:ext cx="5324474" cy="371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156575"/>
            <a:ext cx="5324474" cy="371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581025" y="6296025"/>
            <a:ext cx="2719089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Orientación 100% práctica de Systems Administration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266825" y="600075"/>
            <a:ext cx="148188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Estrategias Didácticas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876300" y="2432437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ABP: Herramienta CLI de Red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876300" y="2945612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secuencial de un proyecto de administración real: por ejemplo, una utilidad de consola en Python para auditar la red, interactuar con el sistema operativo y leer logs dinámicamente.</a:t>
            </a:r>
            <a:endParaRPr sz="1700"/>
          </a:p>
        </p:txBody>
      </p:sp>
      <p:sp>
        <p:nvSpPr>
          <p:cNvPr id="290" name="Google Shape;290;p23"/>
          <p:cNvSpPr txBox="1"/>
          <p:nvPr/>
        </p:nvSpPr>
        <p:spPr>
          <a:xfrm>
            <a:off x="876300" y="4723412"/>
            <a:ext cx="4734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Combina bases de datos SQL y principios sólidos de POO para modelar la infraestructura de sistemas.</a:t>
            </a:r>
            <a:endParaRPr sz="1700"/>
          </a:p>
        </p:txBody>
      </p:sp>
      <p:sp>
        <p:nvSpPr>
          <p:cNvPr id="291" name="Google Shape;291;p23"/>
          <p:cNvSpPr txBox="1"/>
          <p:nvPr/>
        </p:nvSpPr>
        <p:spPr>
          <a:xfrm>
            <a:off x="6581775" y="2437687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Taller Práctico y Flipped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6581775" y="2945612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Sintaxis y conceptos básicos delegados a píldoras de </a:t>
            </a: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vídeo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casa. El tiempo de clase se destina </a:t>
            </a: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especialmente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laboratorio guiado, depuración y desarrollo activo.</a:t>
            </a:r>
            <a:endParaRPr sz="1700"/>
          </a:p>
        </p:txBody>
      </p:sp>
      <p:sp>
        <p:nvSpPr>
          <p:cNvPr id="293" name="Google Shape;293;p23"/>
          <p:cNvSpPr txBox="1"/>
          <p:nvPr/>
        </p:nvSpPr>
        <p:spPr>
          <a:xfrm>
            <a:off x="6629925" y="4635725"/>
            <a:ext cx="4874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Simulaciones de fallos: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Tareas con bugs introducidos intencionadamente para dominar el debugador (vuelcos de pila, KeyErrors, desbordamientos).</a:t>
            </a:r>
            <a:endParaRPr sz="1700"/>
          </a:p>
        </p:txBody>
      </p:sp>
      <p:sp>
        <p:nvSpPr>
          <p:cNvPr id="294" name="Google Shape;294;p23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de Trabajo en el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Aula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581025" y="6296025"/>
            <a:ext cx="317703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Software oficial común unificado por acuerdo de departamento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1266825" y="600075"/>
            <a:ext cx="181838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Infraestructura Tecnológica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914400" y="2011463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Requisito de Hardware: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Equipos del </a:t>
            </a: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portátiles con soporte de virtualización, mínimo </a:t>
            </a: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16 GB de RAM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(crítico para ejecutar contenedores Docker y el IDE sin bloqueos) y disco </a:t>
            </a: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SSD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700"/>
          </a:p>
        </p:txBody>
      </p:sp>
      <p:sp>
        <p:nvSpPr>
          <p:cNvPr id="304" name="Google Shape;304;p24"/>
          <p:cNvSpPr txBox="1"/>
          <p:nvPr/>
        </p:nvSpPr>
        <p:spPr>
          <a:xfrm>
            <a:off x="914400" y="282892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Pila de Software Principal: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Intérprete oficial de Python 3.10+, Visual Studio Code / PyCharm como IDE unificado con extensiones de depuración, formateo y análisis estático (linters).</a:t>
            </a:r>
            <a:endParaRPr sz="1700"/>
          </a:p>
        </p:txBody>
      </p:sp>
      <p:sp>
        <p:nvSpPr>
          <p:cNvPr id="305" name="Google Shape;305;p24"/>
          <p:cNvSpPr txBox="1"/>
          <p:nvPr/>
        </p:nvSpPr>
        <p:spPr>
          <a:xfrm>
            <a:off x="914400" y="368617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Sistemas de Soporte de Código: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Utilización local y remota de </a:t>
            </a: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Git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el control de versiones e interacción con el repositorio de entrega colaborativa GitHub.</a:t>
            </a:r>
            <a:endParaRPr sz="1700"/>
          </a:p>
        </p:txBody>
      </p:sp>
      <p:sp>
        <p:nvSpPr>
          <p:cNvPr id="306" name="Google Shape;306;p24"/>
          <p:cNvSpPr txBox="1"/>
          <p:nvPr/>
        </p:nvSpPr>
        <p:spPr>
          <a:xfrm>
            <a:off x="914400" y="4543425"/>
            <a:ext cx="106965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Entornos y Contenedores: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Entornos virtuales nativos (venv), gestores de paquetes (pip) y contenedores ligeros en Docker para simular servidores MySQL/PostgreSQL locales.</a:t>
            </a:r>
            <a:endParaRPr sz="1700"/>
          </a:p>
        </p:txBody>
      </p:sp>
      <p:pic>
        <p:nvPicPr>
          <p:cNvPr descr="image.png" id="307" name="Google Shape;3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20448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838" y="36766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45767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581025" y="10191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Entorno de Desarrollo y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6219825"/>
            <a:ext cx="52768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9509" y="6324600"/>
            <a:ext cx="25836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 txBox="1"/>
          <p:nvPr/>
        </p:nvSpPr>
        <p:spPr>
          <a:xfrm>
            <a:off x="581025" y="1272328"/>
            <a:ext cx="554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Eficiencia de Algoritmos en CPDs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581025" y="1779678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administrador de sistemas no solo escribe código para automatizar; también debe auditar la carga en el centro de datos.</a:t>
            </a:r>
            <a:endParaRPr sz="1700"/>
          </a:p>
        </p:txBody>
      </p:sp>
      <p:sp>
        <p:nvSpPr>
          <p:cNvPr id="320" name="Google Shape;320;p25"/>
          <p:cNvSpPr txBox="1"/>
          <p:nvPr/>
        </p:nvSpPr>
        <p:spPr>
          <a:xfrm>
            <a:off x="581025" y="2964339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diferencia en el consumo de recursos al optimizar algoritmos desde una complejidad temporal cuadrática a una logarítmica reduce de forma notable el uso de CPU.</a:t>
            </a:r>
            <a:endParaRPr sz="1700"/>
          </a:p>
        </p:txBody>
      </p:sp>
      <p:sp>
        <p:nvSpPr>
          <p:cNvPr id="321" name="Google Shape;321;p25"/>
          <p:cNvSpPr txBox="1"/>
          <p:nvPr/>
        </p:nvSpPr>
        <p:spPr>
          <a:xfrm>
            <a:off x="581025" y="4149030"/>
            <a:ext cx="5277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se traduce en un menor consumo energético en los servidores de producción y una reducción directa de las necesidades de refrigeración térmica en los racks críticos del centro de datos.</a:t>
            </a:r>
            <a:endParaRPr sz="1700"/>
          </a:p>
        </p:txBody>
      </p:sp>
      <p:sp>
        <p:nvSpPr>
          <p:cNvPr id="322" name="Google Shape;322;p25"/>
          <p:cNvSpPr txBox="1"/>
          <p:nvPr/>
        </p:nvSpPr>
        <p:spPr>
          <a:xfrm>
            <a:off x="581025" y="6343650"/>
            <a:ext cx="2452985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Contenido Transversal • Sostenibilidad de Infraestructuras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1123950" y="571500"/>
            <a:ext cx="178444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Green Computing y Sostenibilidad</a:t>
            </a:r>
            <a:endParaRPr/>
          </a:p>
        </p:txBody>
      </p:sp>
      <p:pic>
        <p:nvPicPr>
          <p:cNvPr descr="informático trabajando en un cpd" id="324" name="Google Shape;324;p25"/>
          <p:cNvPicPr preferRelativeResize="0"/>
          <p:nvPr/>
        </p:nvPicPr>
        <p:blipFill rotWithShape="1">
          <a:blip r:embed="rId6">
            <a:alphaModFix/>
          </a:blip>
          <a:srcRect b="0" l="0" r="7621" t="0"/>
          <a:stretch/>
        </p:blipFill>
        <p:spPr>
          <a:xfrm>
            <a:off x="6334125" y="9525"/>
            <a:ext cx="584834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1526" y="6257925"/>
            <a:ext cx="3494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9547"/>
            <a:ext cx="5324474" cy="348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38" y="1969550"/>
            <a:ext cx="5324474" cy="34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581025" y="6296025"/>
            <a:ext cx="416197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Acuerdos unificados de coordinación técnica del profesorado de Informática 26/27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266825" y="600075"/>
            <a:ext cx="14759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Coordinación Docente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876300" y="2730612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establece **Python 3.x** como lenguaje estándar unificado para el desarrollo de módulos optativos en el ciclo de ASIR, usando **VS Code** como editor común.</a:t>
            </a:r>
            <a:endParaRPr sz="1700"/>
          </a:p>
        </p:txBody>
      </p:sp>
      <p:sp>
        <p:nvSpPr>
          <p:cNvPr id="336" name="Google Shape;336;p26"/>
          <p:cNvSpPr txBox="1"/>
          <p:nvPr/>
        </p:nvSpPr>
        <p:spPr>
          <a:xfrm>
            <a:off x="876300" y="4297687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obligatorio el uso sistemático de **Git** como sistema de versiones, excluyendo la carpeta `.venv/` en el `.gitignore` de todas las tareas.</a:t>
            </a:r>
            <a:endParaRPr sz="1700"/>
          </a:p>
        </p:txBody>
      </p:sp>
      <p:sp>
        <p:nvSpPr>
          <p:cNvPr id="337" name="Google Shape;337;p26"/>
          <p:cNvSpPr txBox="1"/>
          <p:nvPr/>
        </p:nvSpPr>
        <p:spPr>
          <a:xfrm>
            <a:off x="6581775" y="2755849"/>
            <a:ext cx="47340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asignación del alumnado a las plazas de empresas concertadas se basará estrictamente en el rendimiento académico de los dos primeros trimestres del módulo presencial.</a:t>
            </a:r>
            <a:endParaRPr sz="1700"/>
          </a:p>
        </p:txBody>
      </p:sp>
      <p:sp>
        <p:nvSpPr>
          <p:cNvPr id="338" name="Google Shape;338;p26"/>
          <p:cNvSpPr txBox="1"/>
          <p:nvPr/>
        </p:nvSpPr>
        <p:spPr>
          <a:xfrm>
            <a:off x="6581775" y="4348162"/>
            <a:ext cx="473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exige un mínimo controlado de asistencia a clase del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95%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actitud colaborativa en el portafolio de Moodle Centros.</a:t>
            </a:r>
            <a:endParaRPr sz="1700"/>
          </a:p>
        </p:txBody>
      </p:sp>
      <p:sp>
        <p:nvSpPr>
          <p:cNvPr id="339" name="Google Shape;339;p26"/>
          <p:cNvSpPr txBox="1"/>
          <p:nvPr/>
        </p:nvSpPr>
        <p:spPr>
          <a:xfrm>
            <a:off x="581025" y="1019175"/>
            <a:ext cx="11581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Acuerdos del Departamento de </a:t>
            </a:r>
            <a:r>
              <a:rPr b="0" i="0" lang="en-US" sz="285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Informática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876300" y="22831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Estándares de Codificación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581775" y="22831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Baremo de Estancia Dual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27"/>
          <p:cNvGrpSpPr/>
          <p:nvPr/>
        </p:nvGrpSpPr>
        <p:grpSpPr>
          <a:xfrm>
            <a:off x="581025" y="1714500"/>
            <a:ext cx="11030100" cy="3333900"/>
            <a:chOff x="581025" y="1714500"/>
            <a:chExt cx="11030100" cy="3333900"/>
          </a:xfrm>
        </p:grpSpPr>
        <p:sp>
          <p:nvSpPr>
            <p:cNvPr id="349" name="Google Shape;349;p27"/>
            <p:cNvSpPr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 txBox="1"/>
            <p:nvPr/>
          </p:nvSpPr>
          <p:spPr>
            <a:xfrm>
              <a:off x="581025" y="1714500"/>
              <a:ext cx="110301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Puestos fijos: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Mantener siempre el mismo lugar asignado.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responsable: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Cuidar el equipamiento y los recursos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Incidencias: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Avisar inmediatamente de cualquier fallo o anomalía.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Copias de seguridad: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Responsabilidad del alumno sobre sus máquinas virtuales.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portátiles: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Permitido únicamente para fines académicos bajo supervisión.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Uso de móviles: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1" lang="en-US" sz="1800">
                  <a:solidFill>
                    <a:srgbClr val="DC2626"/>
                  </a:solidFill>
                  <a:latin typeface="Poppins"/>
                  <a:ea typeface="Poppins"/>
                  <a:cs typeface="Poppins"/>
                  <a:sym typeface="Poppins"/>
                </a:rPr>
                <a:t>PROHIBIDO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durante toda la sesión lectiva.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429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800"/>
                <a:buFont typeface="Poppins"/>
                <a:buChar char="●"/>
              </a:pPr>
              <a:r>
                <a:rPr b="0" lang="en-US" sz="1800">
                  <a:solidFill>
                    <a:srgbClr val="05966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Entrada / Salida:</a:t>
              </a:r>
              <a:r>
                <a:rPr b="0" lang="en-US" sz="18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Respetar los turnos y el orden al entrar o salir del aula.</a:t>
              </a:r>
              <a:endParaRPr b="0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51" name="Google Shape;351;p27"/>
          <p:cNvSpPr txBox="1"/>
          <p:nvPr/>
        </p:nvSpPr>
        <p:spPr>
          <a:xfrm>
            <a:off x="1266825" y="600075"/>
            <a:ext cx="5715000" cy="4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36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Normas en el </a:t>
            </a:r>
            <a:r>
              <a:rPr b="0" i="0" lang="en-US" sz="2636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aula</a:t>
            </a:r>
            <a:endParaRPr b="0" i="0" sz="2636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581025" y="6296025"/>
            <a:ext cx="2953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de Programación con Python • 2º ASIR 2026/2027</a:t>
            </a:r>
            <a:endParaRPr/>
          </a:p>
        </p:txBody>
      </p:sp>
      <p:pic>
        <p:nvPicPr>
          <p:cNvPr descr="utiliza iconos en la lista" id="353" name="Google Shape;353;p27"/>
          <p:cNvPicPr preferRelativeResize="0"/>
          <p:nvPr/>
        </p:nvPicPr>
        <p:blipFill rotWithShape="1">
          <a:blip r:embed="rId5">
            <a:alphaModFix/>
          </a:blip>
          <a:srcRect b="21559" l="2065" r="92103" t="25196"/>
          <a:stretch/>
        </p:blipFill>
        <p:spPr>
          <a:xfrm>
            <a:off x="314625" y="1816050"/>
            <a:ext cx="592000" cy="301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5126" y="6257925"/>
            <a:ext cx="355848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61055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/>
        </p:nvSpPr>
        <p:spPr>
          <a:xfrm>
            <a:off x="305251" y="1815962"/>
            <a:ext cx="1158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5966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¿Preguntas o Comentarios?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489450" y="2837312"/>
            <a:ext cx="110301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 la documentación teórica, foros de soporte e hitos de entrega de tareas semanales están disponibles en el aula oficial.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581025" y="6296025"/>
            <a:ext cx="2953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Módulo de Programación con Python • 2º ASIR 2026/2027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1266825" y="600075"/>
            <a:ext cx="124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Dudas y Consultas</a:t>
            </a:r>
            <a:endParaRPr/>
          </a:p>
        </p:txBody>
      </p:sp>
      <p:pic>
        <p:nvPicPr>
          <p:cNvPr descr="image.png" id="364" name="Google Shape;36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2250" y="4011200"/>
            <a:ext cx="281745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5375" y="3996625"/>
            <a:ext cx="25218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0" y="3996625"/>
            <a:ext cx="29538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6650" y="42442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8"/>
          <p:cNvSpPr txBox="1"/>
          <p:nvPr/>
        </p:nvSpPr>
        <p:spPr>
          <a:xfrm>
            <a:off x="2220826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CORREO ELECTRÓNICO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1897800" y="4863175"/>
            <a:ext cx="2521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jsansan766@g.educaand.es</a:t>
            </a:r>
            <a:endParaRPr sz="1700"/>
          </a:p>
        </p:txBody>
      </p:sp>
      <p:pic>
        <p:nvPicPr>
          <p:cNvPr descr="image.png" id="370" name="Google Shape;37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53125" y="424428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5105876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AULA VIRTUAL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5086200" y="4863175"/>
            <a:ext cx="2219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Moodle Centros Almería</a:t>
            </a:r>
            <a:endParaRPr sz="1700"/>
          </a:p>
        </p:txBody>
      </p:sp>
      <p:pic>
        <p:nvPicPr>
          <p:cNvPr descr="image.png" id="373" name="Google Shape;373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29650" y="424428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8"/>
          <p:cNvSpPr txBox="1"/>
          <p:nvPr/>
        </p:nvSpPr>
        <p:spPr>
          <a:xfrm>
            <a:off x="7725251" y="4587180"/>
            <a:ext cx="19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UBICACIÓN FÍSICA</a:t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7772400" y="4834825"/>
            <a:ext cx="244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Aula XXX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IES Celia Viñas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